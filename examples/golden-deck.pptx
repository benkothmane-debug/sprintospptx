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Equipment</c:v>
                </c:pt>
              </c:strCache>
            </c:strRef>
          </c:tx>
          <c:spPr>
            <a:solidFill>
              <a:srgbClr val="ABAFB3"/>
            </a:solidFill>
            <a:effectLst/>
          </c:spPr>
          <c:invertIfNegative val="0"/>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22.4</c:v>
                </c:pt>
                <c:pt idx="1">
                  <c:v>21.8</c:v>
                </c:pt>
                <c:pt idx="2">
                  <c:v>21.1</c:v>
                </c:pt>
                <c:pt idx="3">
                  <c:v>20.6</c:v>
                </c:pt>
                <c:pt idx="4">
                  <c:v>20.1</c:v>
                </c:pt>
              </c:numCache>
            </c:numRef>
          </c:val>
        </c:ser>
        <c:ser>
          <c:idx val="1"/>
          <c:order val="1"/>
          <c:tx>
            <c:strRef>
              <c:f>Sheet1!$C$1</c:f>
              <c:strCache>
                <c:ptCount val="1"/>
                <c:pt idx="0">
                  <c:v>Services</c:v>
                </c:pt>
              </c:strCache>
            </c:strRef>
          </c:tx>
          <c:spPr>
            <a:solidFill>
              <a:srgbClr val="2E7CF6"/>
            </a:solidFill>
            <a:effectLst/>
          </c:spPr>
          <c:invertIfNegative val="0"/>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Sheet1!$C$2:$C$6</c:f>
              <c:numCache>
                <c:formatCode>General</c:formatCode>
                <c:ptCount val="5"/>
                <c:pt idx="0">
                  <c:v>41.2</c:v>
                </c:pt>
                <c:pt idx="1">
                  <c:v>42.5</c:v>
                </c:pt>
                <c:pt idx="2">
                  <c:v>43.6</c:v>
                </c:pt>
                <c:pt idx="3">
                  <c:v>44.8</c:v>
                </c:pt>
                <c:pt idx="4">
                  <c:v>46</c:v>
                </c:pt>
              </c:numCache>
            </c:numRef>
          </c:val>
        </c:ser>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in val="0"/>
        </c:scaling>
        <c:delete val="1"/>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777240" y="1143000"/>
            <a:ext cx="10058400" cy="320040"/>
          </a:xfrm>
          <a:prstGeom prst="rect">
            <a:avLst/>
          </a:prstGeom>
          <a:noFill/>
          <a:ln/>
        </p:spPr>
        <p:txBody>
          <a:bodyPr wrap="square" lIns="0" tIns="0" rIns="0" bIns="0" rtlCol="0" anchor="ctr"/>
          <a:lstStyle/>
          <a:p>
            <a:pPr indent="0" marL="0">
              <a:buNone/>
            </a:pPr>
            <a:r>
              <a:rPr lang="en-US" sz="1200" b="1" spc="300" kern="0" dirty="0">
                <a:solidFill>
                  <a:srgbClr val="5B9CFF"/>
                </a:solidFill>
                <a:latin typeface="Arial" pitchFamily="34" charset="0"/>
                <a:ea typeface="Arial" pitchFamily="34" charset="-122"/>
                <a:cs typeface="Arial" pitchFamily="34" charset="-120"/>
              </a:rPr>
              <a:t>GOLDEN DECK — TEMPLATE SHOWCASE</a:t>
            </a:r>
            <a:endParaRPr lang="en-US" sz="1200" dirty="0"/>
          </a:p>
        </p:txBody>
      </p:sp>
      <p:sp>
        <p:nvSpPr>
          <p:cNvPr id="3" name="Text 1"/>
          <p:cNvSpPr/>
          <p:nvPr/>
        </p:nvSpPr>
        <p:spPr>
          <a:xfrm>
            <a:off x="749808" y="1554480"/>
            <a:ext cx="10607040" cy="914400"/>
          </a:xfrm>
          <a:prstGeom prst="rect">
            <a:avLst/>
          </a:prstGeom>
          <a:noFill/>
          <a:ln/>
        </p:spPr>
        <p:txBody>
          <a:bodyPr wrap="square" lIns="0" tIns="0" rIns="0" bIns="0" rtlCol="0" anchor="ctr"/>
          <a:lstStyle/>
          <a:p>
            <a:pPr indent="0" marL="0">
              <a:buNone/>
            </a:pPr>
            <a:r>
              <a:rPr lang="en-US" sz="4200" b="1" dirty="0">
                <a:solidFill>
                  <a:srgbClr val="F2F4F2"/>
                </a:solidFill>
                <a:latin typeface="Arial" pitchFamily="34" charset="0"/>
                <a:ea typeface="Arial" pitchFamily="34" charset="-122"/>
                <a:cs typeface="Arial" pitchFamily="34" charset="-120"/>
              </a:rPr>
              <a:t>Meridio Group</a:t>
            </a:r>
            <a:endParaRPr lang="en-US" sz="4200" dirty="0"/>
          </a:p>
        </p:txBody>
      </p:sp>
      <p:sp>
        <p:nvSpPr>
          <p:cNvPr id="4" name="Shape 2"/>
          <p:cNvSpPr/>
          <p:nvPr/>
        </p:nvSpPr>
        <p:spPr>
          <a:xfrm>
            <a:off x="777240" y="2606040"/>
            <a:ext cx="1828800" cy="45720"/>
          </a:xfrm>
          <a:prstGeom prst="rect">
            <a:avLst/>
          </a:prstGeom>
          <a:solidFill>
            <a:srgbClr val="5B9CFF"/>
          </a:solidFill>
          <a:ln/>
        </p:spPr>
      </p:sp>
      <p:sp>
        <p:nvSpPr>
          <p:cNvPr id="5" name="Text 3"/>
          <p:cNvSpPr/>
          <p:nvPr/>
        </p:nvSpPr>
        <p:spPr>
          <a:xfrm>
            <a:off x="777240" y="2880360"/>
            <a:ext cx="9875520" cy="1371600"/>
          </a:xfrm>
          <a:prstGeom prst="rect">
            <a:avLst/>
          </a:prstGeom>
          <a:noFill/>
          <a:ln/>
        </p:spPr>
        <p:txBody>
          <a:bodyPr wrap="square" lIns="0" tIns="0" rIns="0" bIns="0" rtlCol="0" anchor="ctr"/>
          <a:lstStyle/>
          <a:p>
            <a:pPr indent="0" marL="0">
              <a:lnSpc>
                <a:spcPct val="112000"/>
              </a:lnSpc>
              <a:buNone/>
            </a:pPr>
            <a:r>
              <a:rPr lang="en-US" sz="1800" dirty="0">
                <a:solidFill>
                  <a:srgbClr val="F2F4F2"/>
                </a:solidFill>
                <a:latin typeface="Arial" pitchFamily="34" charset="0"/>
                <a:ea typeface="Arial" pitchFamily="34" charset="-122"/>
                <a:cs typeface="Arial" pitchFamily="34" charset="-120"/>
              </a:rPr>
              <a:t>Every slide in this deck is generated by a template from slide_templates.js: guaranteed geometry, injected content.</a:t>
            </a:r>
            <a:endParaRPr lang="en-US" sz="1800" dirty="0"/>
          </a:p>
        </p:txBody>
      </p:sp>
      <p:sp>
        <p:nvSpPr>
          <p:cNvPr id="6" name="Shape 4"/>
          <p:cNvSpPr/>
          <p:nvPr/>
        </p:nvSpPr>
        <p:spPr>
          <a:xfrm>
            <a:off x="777240" y="5074920"/>
            <a:ext cx="10607040" cy="0"/>
          </a:xfrm>
          <a:prstGeom prst="line">
            <a:avLst/>
          </a:prstGeom>
          <a:noFill/>
          <a:ln w="12700">
            <a:solidFill>
              <a:srgbClr val="2A323B"/>
            </a:solidFill>
            <a:prstDash val="solid"/>
          </a:ln>
        </p:spPr>
      </p:sp>
      <p:sp>
        <p:nvSpPr>
          <p:cNvPr id="7" name="Text 5"/>
          <p:cNvSpPr/>
          <p:nvPr/>
        </p:nvSpPr>
        <p:spPr>
          <a:xfrm>
            <a:off x="77724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Sprint OS Deck Builder</a:t>
            </a:r>
            <a:endParaRPr lang="en-US" sz="1300" dirty="0"/>
          </a:p>
        </p:txBody>
      </p:sp>
      <p:sp>
        <p:nvSpPr>
          <p:cNvPr id="8" name="Text 6"/>
          <p:cNvSpPr/>
          <p:nvPr/>
        </p:nvSpPr>
        <p:spPr>
          <a:xfrm>
            <a:off x="77724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Internal demo</a:t>
            </a:r>
            <a:endParaRPr lang="en-US" sz="1200" dirty="0"/>
          </a:p>
        </p:txBody>
      </p:sp>
      <p:sp>
        <p:nvSpPr>
          <p:cNvPr id="9" name="Text 7"/>
          <p:cNvSpPr/>
          <p:nvPr/>
        </p:nvSpPr>
        <p:spPr>
          <a:xfrm>
            <a:off x="594360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July 2026</a:t>
            </a:r>
            <a:endParaRPr lang="en-US" sz="1300" dirty="0"/>
          </a:p>
        </p:txBody>
      </p:sp>
      <p:sp>
        <p:nvSpPr>
          <p:cNvPr id="10" name="Text 8"/>
          <p:cNvSpPr/>
          <p:nvPr/>
        </p:nvSpPr>
        <p:spPr>
          <a:xfrm>
            <a:off x="594360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Confidential</a:t>
            </a:r>
            <a:endParaRPr lang="en-US" sz="1200" dirty="0"/>
          </a:p>
        </p:txBody>
      </p:sp>
      <p:sp>
        <p:nvSpPr>
          <p:cNvPr id="11" name="Text 9"/>
          <p:cNvSpPr/>
          <p:nvPr/>
        </p:nvSpPr>
        <p:spPr>
          <a:xfrm>
            <a:off x="777240" y="6355080"/>
            <a:ext cx="10607040" cy="274320"/>
          </a:xfrm>
          <a:prstGeom prst="rect">
            <a:avLst/>
          </a:prstGeom>
          <a:noFill/>
          <a:ln/>
        </p:spPr>
        <p:txBody>
          <a:bodyPr wrap="square" lIns="0" tIns="0" rIns="0" bIns="0" rtlCol="0" anchor="ctr"/>
          <a:lstStyle/>
          <a:p>
            <a:pPr indent="0" marL="0">
              <a:buNone/>
            </a:pPr>
            <a:r>
              <a:rPr lang="en-US" sz="900" dirty="0">
                <a:solidFill>
                  <a:srgbClr val="9AA6B2"/>
                </a:solidFill>
                <a:latin typeface="Arial" pitchFamily="34" charset="0"/>
                <a:ea typeface="Arial" pitchFamily="34" charset="-122"/>
                <a:cs typeface="Arial" pitchFamily="34" charset="-120"/>
              </a:rPr>
              <a:t>Source: Meridio annual reports 2022-2025; management interviews; Sprint OS analysis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EXECUTIVE SUMMARY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Meridio can double its EBITDA by 2029 by concentrating investment on the services segment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Bottom line: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Shifting 60% of 2027-2029 capex to services doubles EBITDA and protects the core market.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01</a:t>
            </a:r>
            <a:endParaRPr lang="en-US" sz="850" dirty="0"/>
          </a:p>
        </p:txBody>
      </p:sp>
      <p:sp>
        <p:nvSpPr>
          <p:cNvPr id="11" name="Shape 9"/>
          <p:cNvSpPr/>
          <p:nvPr/>
        </p:nvSpPr>
        <p:spPr>
          <a:xfrm>
            <a:off x="50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Shape 10"/>
          <p:cNvSpPr/>
          <p:nvPr/>
        </p:nvSpPr>
        <p:spPr>
          <a:xfrm>
            <a:off x="667512" y="1920240"/>
            <a:ext cx="310896" cy="310896"/>
          </a:xfrm>
          <a:prstGeom prst="roundRect">
            <a:avLst>
              <a:gd name="adj" fmla="val 14706"/>
            </a:avLst>
          </a:prstGeom>
          <a:solidFill>
            <a:srgbClr val="EFF4FE"/>
          </a:solidFill>
          <a:ln/>
        </p:spPr>
      </p:sp>
      <p:sp>
        <p:nvSpPr>
          <p:cNvPr id="13" name="Text 11"/>
          <p:cNvSpPr/>
          <p:nvPr/>
        </p:nvSpPr>
        <p:spPr>
          <a:xfrm>
            <a:off x="66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01</a:t>
            </a:r>
            <a:endParaRPr lang="en-US" sz="1200" dirty="0"/>
          </a:p>
        </p:txBody>
      </p:sp>
      <p:sp>
        <p:nvSpPr>
          <p:cNvPr id="14" name="Text 12"/>
          <p:cNvSpPr/>
          <p:nvPr/>
        </p:nvSpPr>
        <p:spPr>
          <a:xfrm>
            <a:off x="110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The core market is slowing down</a:t>
            </a:r>
            <a:endParaRPr lang="en-US" sz="1400" dirty="0"/>
          </a:p>
        </p:txBody>
      </p:sp>
      <p:sp>
        <p:nvSpPr>
          <p:cNvPr id="15" name="Text 13"/>
          <p:cNvSpPr/>
          <p:nvPr/>
        </p:nvSpPr>
        <p:spPr>
          <a:xfrm>
            <a:off x="66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Equipment market growth has fallen from 6.1% per year (2019-2022) to 1.8% (2023-2025), a structural ceiling driven by the equipment penetration rate.</a:t>
            </a:r>
            <a:endParaRPr lang="en-US" sz="1200" dirty="0"/>
          </a:p>
        </p:txBody>
      </p:sp>
      <p:sp>
        <p:nvSpPr>
          <p:cNvPr id="16" name="Shape 14"/>
          <p:cNvSpPr/>
          <p:nvPr/>
        </p:nvSpPr>
        <p:spPr>
          <a:xfrm>
            <a:off x="667512" y="3712464"/>
            <a:ext cx="3206496" cy="0"/>
          </a:xfrm>
          <a:prstGeom prst="line">
            <a:avLst/>
          </a:prstGeom>
          <a:noFill/>
          <a:ln w="6350">
            <a:solidFill>
              <a:srgbClr val="CFCFCF"/>
            </a:solidFill>
            <a:prstDash val="solid"/>
          </a:ln>
        </p:spPr>
      </p:sp>
      <p:sp>
        <p:nvSpPr>
          <p:cNvPr id="17" name="Text 15"/>
          <p:cNvSpPr/>
          <p:nvPr/>
        </p:nvSpPr>
        <p:spPr>
          <a:xfrm>
            <a:off x="66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18" name="Text 16"/>
          <p:cNvSpPr/>
          <p:nvPr/>
        </p:nvSpPr>
        <p:spPr>
          <a:xfrm>
            <a:off x="66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current plan, built on 5% growth, overstates 2029 revenue by EUR 210M</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Every year of waiting narrows the repositioning window</a:t>
            </a:r>
            <a:endParaRPr lang="en-US" sz="1200" dirty="0"/>
          </a:p>
        </p:txBody>
      </p:sp>
      <p:sp>
        <p:nvSpPr>
          <p:cNvPr id="19" name="Shape 17"/>
          <p:cNvSpPr/>
          <p:nvPr/>
        </p:nvSpPr>
        <p:spPr>
          <a:xfrm>
            <a:off x="431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0" name="Shape 18"/>
          <p:cNvSpPr/>
          <p:nvPr/>
        </p:nvSpPr>
        <p:spPr>
          <a:xfrm>
            <a:off x="4477512" y="1920240"/>
            <a:ext cx="310896" cy="310896"/>
          </a:xfrm>
          <a:prstGeom prst="roundRect">
            <a:avLst>
              <a:gd name="adj" fmla="val 14706"/>
            </a:avLst>
          </a:prstGeom>
          <a:solidFill>
            <a:srgbClr val="EFF4FE"/>
          </a:solidFill>
          <a:ln/>
        </p:spPr>
      </p:sp>
      <p:sp>
        <p:nvSpPr>
          <p:cNvPr id="21" name="Text 19"/>
          <p:cNvSpPr/>
          <p:nvPr/>
        </p:nvSpPr>
        <p:spPr>
          <a:xfrm>
            <a:off x="447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02</a:t>
            </a:r>
            <a:endParaRPr lang="en-US" sz="1200" dirty="0"/>
          </a:p>
        </p:txBody>
      </p:sp>
      <p:sp>
        <p:nvSpPr>
          <p:cNvPr id="22" name="Text 20"/>
          <p:cNvSpPr/>
          <p:nvPr/>
        </p:nvSpPr>
        <p:spPr>
          <a:xfrm>
            <a:off x="491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Services already drive the margin</a:t>
            </a:r>
            <a:endParaRPr lang="en-US" sz="1400" dirty="0"/>
          </a:p>
        </p:txBody>
      </p:sp>
      <p:sp>
        <p:nvSpPr>
          <p:cNvPr id="23" name="Text 21"/>
          <p:cNvSpPr/>
          <p:nvPr/>
        </p:nvSpPr>
        <p:spPr>
          <a:xfrm>
            <a:off x="447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Services account for 22% of revenue but 41% of 2025 gross margin; their organic growth reaches 14% per year without any dedicated investment.</a:t>
            </a:r>
            <a:endParaRPr lang="en-US" sz="1200" dirty="0"/>
          </a:p>
        </p:txBody>
      </p:sp>
      <p:sp>
        <p:nvSpPr>
          <p:cNvPr id="24" name="Shape 22"/>
          <p:cNvSpPr/>
          <p:nvPr/>
        </p:nvSpPr>
        <p:spPr>
          <a:xfrm>
            <a:off x="4477512" y="3712464"/>
            <a:ext cx="3206496" cy="0"/>
          </a:xfrm>
          <a:prstGeom prst="line">
            <a:avLst/>
          </a:prstGeom>
          <a:noFill/>
          <a:ln w="6350">
            <a:solidFill>
              <a:srgbClr val="CFCFCF"/>
            </a:solidFill>
            <a:prstDash val="solid"/>
          </a:ln>
        </p:spPr>
      </p:sp>
      <p:sp>
        <p:nvSpPr>
          <p:cNvPr id="25" name="Text 23"/>
          <p:cNvSpPr/>
          <p:nvPr/>
        </p:nvSpPr>
        <p:spPr>
          <a:xfrm>
            <a:off x="447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26" name="Text 24"/>
          <p:cNvSpPr/>
          <p:nvPr/>
        </p:nvSpPr>
        <p:spPr>
          <a:xfrm>
            <a:off x="447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A 35% services mix would lift group margin from 28% to 34%</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installed base (18,400 sites) is an under-monetized asset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An installed-base contract costs 5x less to acquire than a new sale</a:t>
            </a:r>
            <a:endParaRPr lang="en-US" sz="1200" dirty="0"/>
          </a:p>
        </p:txBody>
      </p:sp>
      <p:sp>
        <p:nvSpPr>
          <p:cNvPr id="27" name="Shape 25"/>
          <p:cNvSpPr/>
          <p:nvPr/>
        </p:nvSpPr>
        <p:spPr>
          <a:xfrm>
            <a:off x="812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8" name="Shape 26"/>
          <p:cNvSpPr/>
          <p:nvPr/>
        </p:nvSpPr>
        <p:spPr>
          <a:xfrm>
            <a:off x="8287512" y="1920240"/>
            <a:ext cx="310896" cy="310896"/>
          </a:xfrm>
          <a:prstGeom prst="roundRect">
            <a:avLst>
              <a:gd name="adj" fmla="val 14706"/>
            </a:avLst>
          </a:prstGeom>
          <a:solidFill>
            <a:srgbClr val="EFF4FE"/>
          </a:solidFill>
          <a:ln/>
        </p:spPr>
      </p:sp>
      <p:sp>
        <p:nvSpPr>
          <p:cNvPr id="29" name="Text 27"/>
          <p:cNvSpPr/>
          <p:nvPr/>
        </p:nvSpPr>
        <p:spPr>
          <a:xfrm>
            <a:off x="828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03</a:t>
            </a:r>
            <a:endParaRPr lang="en-US" sz="1200" dirty="0"/>
          </a:p>
        </p:txBody>
      </p:sp>
      <p:sp>
        <p:nvSpPr>
          <p:cNvPr id="30" name="Text 28"/>
          <p:cNvSpPr/>
          <p:nvPr/>
        </p:nvSpPr>
        <p:spPr>
          <a:xfrm>
            <a:off x="872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The competitive window is short</a:t>
            </a:r>
            <a:endParaRPr lang="en-US" sz="1400" dirty="0"/>
          </a:p>
        </p:txBody>
      </p:sp>
      <p:sp>
        <p:nvSpPr>
          <p:cNvPr id="31" name="Text 29"/>
          <p:cNvSpPr/>
          <p:nvPr/>
        </p:nvSpPr>
        <p:spPr>
          <a:xfrm>
            <a:off x="828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Two competitors have announced managed-services offers; neither yet matches Meridio's field coverage (94% of the territory).</a:t>
            </a:r>
            <a:endParaRPr lang="en-US" sz="1200" dirty="0"/>
          </a:p>
        </p:txBody>
      </p:sp>
      <p:sp>
        <p:nvSpPr>
          <p:cNvPr id="32" name="Shape 30"/>
          <p:cNvSpPr/>
          <p:nvPr/>
        </p:nvSpPr>
        <p:spPr>
          <a:xfrm>
            <a:off x="8287512" y="3712464"/>
            <a:ext cx="3206496" cy="0"/>
          </a:xfrm>
          <a:prstGeom prst="line">
            <a:avLst/>
          </a:prstGeom>
          <a:noFill/>
          <a:ln w="6350">
            <a:solidFill>
              <a:srgbClr val="CFCFCF"/>
            </a:solidFill>
            <a:prstDash val="solid"/>
          </a:ln>
        </p:spPr>
      </p:sp>
      <p:sp>
        <p:nvSpPr>
          <p:cNvPr id="33" name="Text 31"/>
          <p:cNvSpPr/>
          <p:nvPr/>
        </p:nvSpPr>
        <p:spPr>
          <a:xfrm>
            <a:off x="828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34" name="Text 32"/>
          <p:cNvSpPr/>
          <p:nvPr/>
        </p:nvSpPr>
        <p:spPr>
          <a:xfrm>
            <a:off x="828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coverage advantage erodes within 24-36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first mover historically captures 60% of the segment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Waiting until 2028 would halve the program's net present value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CONTEXT</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core market slowdown is structural, not cyclical</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b="1" spc="100" kern="0" dirty="0">
                <a:solidFill>
                  <a:srgbClr val="1D5FC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02</a:t>
            </a:r>
            <a:endParaRPr lang="en-US" sz="850" dirty="0"/>
          </a:p>
        </p:txBody>
      </p:sp>
      <p:sp>
        <p:nvSpPr>
          <p:cNvPr id="8" name="Shape 6"/>
          <p:cNvSpPr/>
          <p:nvPr/>
        </p:nvSpPr>
        <p:spPr>
          <a:xfrm>
            <a:off x="502920" y="1737360"/>
            <a:ext cx="3022600" cy="4617720"/>
          </a:xfrm>
          <a:prstGeom prst="roundRect">
            <a:avLst>
              <a:gd name="adj" fmla="val 1815"/>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85800" y="1920240"/>
            <a:ext cx="2656840"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The essentials</a:t>
            </a:r>
            <a:endParaRPr lang="en-US" sz="1400" dirty="0"/>
          </a:p>
        </p:txBody>
      </p:sp>
      <p:sp>
        <p:nvSpPr>
          <p:cNvPr id="10" name="Text 8"/>
          <p:cNvSpPr/>
          <p:nvPr/>
        </p:nvSpPr>
        <p:spPr>
          <a:xfrm>
            <a:off x="685800" y="2304288"/>
            <a:ext cx="2656840" cy="388620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Four readings converge: the equipment market has reached its maximum penetration rate, and residual growth is shifting toward usage and maintenance of the installed base.</a:t>
            </a:r>
            <a:endParaRPr lang="en-US" sz="1200" dirty="0"/>
          </a:p>
          <a:p>
            <a:pPr indent="0" marL="0">
              <a:lnSpc>
                <a:spcPct val="120000"/>
              </a:lnSpc>
              <a:buNone/>
            </a:pPr>
            <a:endParaRPr lang="en-US" sz="1200" dirty="0"/>
          </a:p>
          <a:p>
            <a:pPr indent="0" marL="0">
              <a:lnSpc>
                <a:spcPct val="120000"/>
              </a:lnSpc>
              <a:buNone/>
            </a:pPr>
            <a:r>
              <a:rPr lang="en-US" sz="1200" dirty="0">
                <a:solidFill>
                  <a:srgbClr val="1A1A1A"/>
                </a:solidFill>
                <a:latin typeface="Arial" pitchFamily="34" charset="0"/>
                <a:ea typeface="Arial" pitchFamily="34" charset="-122"/>
                <a:cs typeface="Arial" pitchFamily="34" charset="-120"/>
              </a:rPr>
              <a:t>This shift is not cyclical: it follows the equipment curve observed in Germany (2018) and Italy (2021), two markets where new-equipment sales never returned to their previous level.</a:t>
            </a:r>
            <a:endParaRPr lang="en-US" sz="1200" dirty="0"/>
          </a:p>
          <a:p>
            <a:pPr indent="0" marL="0">
              <a:lnSpc>
                <a:spcPct val="120000"/>
              </a:lnSpc>
              <a:buNone/>
            </a:pPr>
            <a:endParaRPr lang="en-US" sz="1200" dirty="0"/>
          </a:p>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question is therefore not how to protect new-equipment sales, but how to organize the capture of usage value before competitors do.</a:t>
            </a:r>
            <a:endParaRPr lang="en-US" sz="1200" dirty="0"/>
          </a:p>
        </p:txBody>
      </p:sp>
      <p:sp>
        <p:nvSpPr>
          <p:cNvPr id="11" name="Text 9"/>
          <p:cNvSpPr/>
          <p:nvPr/>
        </p:nvSpPr>
        <p:spPr>
          <a:xfrm>
            <a:off x="3799840" y="173736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Finding</a:t>
            </a:r>
            <a:endParaRPr lang="en-US" sz="1400" dirty="0"/>
          </a:p>
        </p:txBody>
      </p:sp>
      <p:sp>
        <p:nvSpPr>
          <p:cNvPr id="12" name="Shape 10"/>
          <p:cNvSpPr/>
          <p:nvPr/>
        </p:nvSpPr>
        <p:spPr>
          <a:xfrm>
            <a:off x="3799840" y="2029968"/>
            <a:ext cx="457200" cy="27432"/>
          </a:xfrm>
          <a:prstGeom prst="rect">
            <a:avLst/>
          </a:prstGeom>
          <a:solidFill>
            <a:srgbClr val="2E7CF6"/>
          </a:solidFill>
          <a:ln/>
        </p:spPr>
      </p:sp>
      <p:sp>
        <p:nvSpPr>
          <p:cNvPr id="13" name="Text 11"/>
          <p:cNvSpPr/>
          <p:nvPr/>
        </p:nvSpPr>
        <p:spPr>
          <a:xfrm>
            <a:off x="3799840" y="214884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volume of new units sold in France has been declining by 2.4% per year since 2023, while the installed base keeps growing (+3.1% per year). The market is shifting from new sales to servicing the existing base: maintenance spending on the installed base is growing 5.8% per year over the same period, and no national player is consolidating it.</a:t>
            </a:r>
            <a:endParaRPr lang="en-US" sz="1200" dirty="0"/>
          </a:p>
        </p:txBody>
      </p:sp>
      <p:sp>
        <p:nvSpPr>
          <p:cNvPr id="14" name="Text 12"/>
          <p:cNvSpPr/>
          <p:nvPr/>
        </p:nvSpPr>
        <p:spPr>
          <a:xfrm>
            <a:off x="7934960" y="173736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Cause</a:t>
            </a:r>
            <a:endParaRPr lang="en-US" sz="1400" dirty="0"/>
          </a:p>
        </p:txBody>
      </p:sp>
      <p:sp>
        <p:nvSpPr>
          <p:cNvPr id="15" name="Shape 13"/>
          <p:cNvSpPr/>
          <p:nvPr/>
        </p:nvSpPr>
        <p:spPr>
          <a:xfrm>
            <a:off x="7934960" y="2029968"/>
            <a:ext cx="457200" cy="27432"/>
          </a:xfrm>
          <a:prstGeom prst="rect">
            <a:avLst/>
          </a:prstGeom>
          <a:solidFill>
            <a:srgbClr val="2E7CF6"/>
          </a:solidFill>
          <a:ln/>
        </p:spPr>
      </p:sp>
      <p:sp>
        <p:nvSpPr>
          <p:cNvPr id="16" name="Text 14"/>
          <p:cNvSpPr/>
          <p:nvPr/>
        </p:nvSpPr>
        <p:spPr>
          <a:xfrm>
            <a:off x="7934960" y="214884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equipment penetration rate of target industrial sites has reached 87%, versus 64% in 2015. First-equipment demand, Meridio's historical growth engine, is mechanically drying up: roughly 2,600 equippable sites remain, versus 11,000 in 2015, and commissioning of new industrial sites does not compensate (about 400 per year).</a:t>
            </a:r>
            <a:endParaRPr lang="en-US" sz="1200" dirty="0"/>
          </a:p>
        </p:txBody>
      </p:sp>
      <p:sp>
        <p:nvSpPr>
          <p:cNvPr id="17" name="Text 15"/>
          <p:cNvSpPr/>
          <p:nvPr/>
        </p:nvSpPr>
        <p:spPr>
          <a:xfrm>
            <a:off x="3799840" y="420624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Consequence</a:t>
            </a:r>
            <a:endParaRPr lang="en-US" sz="1400" dirty="0"/>
          </a:p>
        </p:txBody>
      </p:sp>
      <p:sp>
        <p:nvSpPr>
          <p:cNvPr id="18" name="Shape 16"/>
          <p:cNvSpPr/>
          <p:nvPr/>
        </p:nvSpPr>
        <p:spPr>
          <a:xfrm>
            <a:off x="3799840" y="4498848"/>
            <a:ext cx="457200" cy="27432"/>
          </a:xfrm>
          <a:prstGeom prst="rect">
            <a:avLst/>
          </a:prstGeom>
          <a:solidFill>
            <a:srgbClr val="2E7CF6"/>
          </a:solidFill>
          <a:ln/>
        </p:spPr>
      </p:sp>
      <p:sp>
        <p:nvSpPr>
          <p:cNvPr id="19" name="Text 17"/>
          <p:cNvSpPr/>
          <p:nvPr/>
        </p:nvSpPr>
        <p:spPr>
          <a:xfrm>
            <a:off x="3799840" y="461772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At constant plan, equipment revenue plateaus at EUR 640M in 2029 (versus EUR 850M budgeted). The EUR 210M gap cannot be closed through pricing: measured elasticity is -1.8, and competitive pressure on tenders has already compressed the average price by 3.1% in 2025.</a:t>
            </a:r>
            <a:endParaRPr lang="en-US" sz="1200" dirty="0"/>
          </a:p>
        </p:txBody>
      </p:sp>
      <p:sp>
        <p:nvSpPr>
          <p:cNvPr id="20" name="Text 18"/>
          <p:cNvSpPr/>
          <p:nvPr/>
        </p:nvSpPr>
        <p:spPr>
          <a:xfrm>
            <a:off x="7934960" y="420624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Implication</a:t>
            </a:r>
            <a:endParaRPr lang="en-US" sz="1400" dirty="0"/>
          </a:p>
        </p:txBody>
      </p:sp>
      <p:sp>
        <p:nvSpPr>
          <p:cNvPr id="21" name="Shape 19"/>
          <p:cNvSpPr/>
          <p:nvPr/>
        </p:nvSpPr>
        <p:spPr>
          <a:xfrm>
            <a:off x="7934960" y="4498848"/>
            <a:ext cx="457200" cy="27432"/>
          </a:xfrm>
          <a:prstGeom prst="rect">
            <a:avLst/>
          </a:prstGeom>
          <a:solidFill>
            <a:srgbClr val="2E7CF6"/>
          </a:solidFill>
          <a:ln/>
        </p:spPr>
      </p:sp>
      <p:sp>
        <p:nvSpPr>
          <p:cNvPr id="22" name="Text 20"/>
          <p:cNvSpPr/>
          <p:nvPr/>
        </p:nvSpPr>
        <p:spPr>
          <a:xfrm>
            <a:off x="7934960" y="461772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Growth must come from monetizing the installed base: predictive maintenance, parts, training, remote monitoring. It is the only growth lever built on assets already paid for (field coverage, usage data, brand) rather than on costly conquest, and the only one compatible with the timeline: every quarter of waiting lets 2,300 maintenance contracts be signed elsewhere.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APPROACH</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diagnosis rests on eight analyses, all documented in the appendix</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b="1" spc="100" kern="0" dirty="0">
                <a:solidFill>
                  <a:srgbClr val="1D5FC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03</a:t>
            </a:r>
            <a:endParaRPr lang="en-US" sz="850" dirty="0"/>
          </a:p>
        </p:txBody>
      </p:sp>
      <p:sp>
        <p:nvSpPr>
          <p:cNvPr id="8" name="Shape 6"/>
          <p:cNvSpPr/>
          <p:nvPr/>
        </p:nvSpPr>
        <p:spPr>
          <a:xfrm>
            <a:off x="502920" y="1737360"/>
            <a:ext cx="2940908" cy="4617720"/>
          </a:xfrm>
          <a:prstGeom prst="roundRect">
            <a:avLst>
              <a:gd name="adj" fmla="val 1866"/>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01  </a:t>
            </a:r>
            <a:pPr indent="0" marL="0">
              <a:buNone/>
            </a:pPr>
            <a:r>
              <a:rPr lang="en-US" sz="1050" dirty="0">
                <a:solidFill>
                  <a:srgbClr val="595959"/>
                </a:solidFill>
                <a:latin typeface="Arial" pitchFamily="34" charset="0"/>
                <a:ea typeface="Arial" pitchFamily="34" charset="-122"/>
                <a:cs typeface="Arial" pitchFamily="34" charset="-120"/>
              </a:rPr>
              <a:t>Market sizing</a:t>
            </a:r>
            <a:endParaRPr lang="en-US" sz="1050" dirty="0"/>
          </a:p>
        </p:txBody>
      </p:sp>
      <p:sp>
        <p:nvSpPr>
          <p:cNvPr id="10" name="Text 8"/>
          <p:cNvSpPr/>
          <p:nvPr/>
        </p:nvSpPr>
        <p:spPr>
          <a:xfrm>
            <a:off x="667512" y="2438019"/>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02  </a:t>
            </a:r>
            <a:pPr indent="0" marL="0">
              <a:buNone/>
            </a:pPr>
            <a:r>
              <a:rPr lang="en-US" sz="1050" dirty="0">
                <a:solidFill>
                  <a:srgbClr val="1A1A1A"/>
                </a:solidFill>
                <a:latin typeface="Arial" pitchFamily="34" charset="0"/>
                <a:ea typeface="Arial" pitchFamily="34" charset="-122"/>
                <a:cs typeface="Arial" pitchFamily="34" charset="-120"/>
              </a:rPr>
              <a:t>Installed-base analysis</a:t>
            </a:r>
            <a:endParaRPr lang="en-US" sz="1050" dirty="0"/>
          </a:p>
        </p:txBody>
      </p:sp>
      <p:sp>
        <p:nvSpPr>
          <p:cNvPr id="11" name="Text 9"/>
          <p:cNvSpPr/>
          <p:nvPr/>
        </p:nvSpPr>
        <p:spPr>
          <a:xfrm>
            <a:off x="667512" y="2974086"/>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03  </a:t>
            </a:r>
            <a:pPr indent="0" marL="0">
              <a:buNone/>
            </a:pPr>
            <a:r>
              <a:rPr lang="en-US" sz="1050" dirty="0">
                <a:solidFill>
                  <a:srgbClr val="595959"/>
                </a:solidFill>
                <a:latin typeface="Arial" pitchFamily="34" charset="0"/>
                <a:ea typeface="Arial" pitchFamily="34" charset="-122"/>
                <a:cs typeface="Arial" pitchFamily="34" charset="-120"/>
              </a:rPr>
              <a:t>Customer interviews (n=42)</a:t>
            </a:r>
            <a:endParaRPr lang="en-US" sz="1050" dirty="0"/>
          </a:p>
        </p:txBody>
      </p:sp>
      <p:sp>
        <p:nvSpPr>
          <p:cNvPr id="12" name="Text 10"/>
          <p:cNvSpPr/>
          <p:nvPr/>
        </p:nvSpPr>
        <p:spPr>
          <a:xfrm>
            <a:off x="667512" y="3510153"/>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04  </a:t>
            </a:r>
            <a:pPr indent="0" marL="0">
              <a:buNone/>
            </a:pPr>
            <a:r>
              <a:rPr lang="en-US" sz="1050" dirty="0">
                <a:solidFill>
                  <a:srgbClr val="595959"/>
                </a:solidFill>
                <a:latin typeface="Arial" pitchFamily="34" charset="0"/>
                <a:ea typeface="Arial" pitchFamily="34" charset="-122"/>
                <a:cs typeface="Arial" pitchFamily="34" charset="-120"/>
              </a:rPr>
              <a:t>Competitor benchmark</a:t>
            </a:r>
            <a:endParaRPr lang="en-US" sz="1050" dirty="0"/>
          </a:p>
        </p:txBody>
      </p:sp>
      <p:sp>
        <p:nvSpPr>
          <p:cNvPr id="13" name="Text 11"/>
          <p:cNvSpPr/>
          <p:nvPr/>
        </p:nvSpPr>
        <p:spPr>
          <a:xfrm>
            <a:off x="667512" y="4046220"/>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05  </a:t>
            </a:r>
            <a:pPr indent="0" marL="0">
              <a:buNone/>
            </a:pPr>
            <a:r>
              <a:rPr lang="en-US" sz="1050" dirty="0">
                <a:solidFill>
                  <a:srgbClr val="595959"/>
                </a:solidFill>
                <a:latin typeface="Arial" pitchFamily="34" charset="0"/>
                <a:ea typeface="Arial" pitchFamily="34" charset="-122"/>
                <a:cs typeface="Arial" pitchFamily="34" charset="-120"/>
              </a:rPr>
              <a:t>Services economics</a:t>
            </a:r>
            <a:endParaRPr lang="en-US" sz="1050" dirty="0"/>
          </a:p>
        </p:txBody>
      </p:sp>
      <p:sp>
        <p:nvSpPr>
          <p:cNvPr id="14" name="Text 12"/>
          <p:cNvSpPr/>
          <p:nvPr/>
        </p:nvSpPr>
        <p:spPr>
          <a:xfrm>
            <a:off x="667512" y="4582287"/>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06  </a:t>
            </a:r>
            <a:pPr indent="0" marL="0">
              <a:buNone/>
            </a:pPr>
            <a:r>
              <a:rPr lang="en-US" sz="1050" dirty="0">
                <a:solidFill>
                  <a:srgbClr val="595959"/>
                </a:solidFill>
                <a:latin typeface="Arial" pitchFamily="34" charset="0"/>
                <a:ea typeface="Arial" pitchFamily="34" charset="-122"/>
                <a:cs typeface="Arial" pitchFamily="34" charset="-120"/>
              </a:rPr>
              <a:t>Internal capabilities</a:t>
            </a:r>
            <a:endParaRPr lang="en-US" sz="1050" dirty="0"/>
          </a:p>
        </p:txBody>
      </p:sp>
      <p:sp>
        <p:nvSpPr>
          <p:cNvPr id="15" name="Text 13"/>
          <p:cNvSpPr/>
          <p:nvPr/>
        </p:nvSpPr>
        <p:spPr>
          <a:xfrm>
            <a:off x="667512" y="5118354"/>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07  </a:t>
            </a:r>
            <a:pPr indent="0" marL="0">
              <a:buNone/>
            </a:pPr>
            <a:r>
              <a:rPr lang="en-US" sz="1050" dirty="0">
                <a:solidFill>
                  <a:srgbClr val="595959"/>
                </a:solidFill>
                <a:latin typeface="Arial" pitchFamily="34" charset="0"/>
                <a:ea typeface="Arial" pitchFamily="34" charset="-122"/>
                <a:cs typeface="Arial" pitchFamily="34" charset="-120"/>
              </a:rPr>
              <a:t>Financial scenarios</a:t>
            </a:r>
            <a:endParaRPr lang="en-US" sz="1050" dirty="0"/>
          </a:p>
        </p:txBody>
      </p:sp>
      <p:sp>
        <p:nvSpPr>
          <p:cNvPr id="16" name="Text 14"/>
          <p:cNvSpPr/>
          <p:nvPr/>
        </p:nvSpPr>
        <p:spPr>
          <a:xfrm>
            <a:off x="667512" y="5654421"/>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08  </a:t>
            </a:r>
            <a:pPr indent="0" marL="0">
              <a:buNone/>
            </a:pPr>
            <a:r>
              <a:rPr lang="en-US" sz="1050" dirty="0">
                <a:solidFill>
                  <a:srgbClr val="595959"/>
                </a:solidFill>
                <a:latin typeface="Arial" pitchFamily="34" charset="0"/>
                <a:ea typeface="Arial" pitchFamily="34" charset="-122"/>
                <a:cs typeface="Arial" pitchFamily="34" charset="-120"/>
              </a:rPr>
              <a:t>Implementation plan</a:t>
            </a:r>
            <a:endParaRPr lang="en-US" sz="1050" dirty="0"/>
          </a:p>
        </p:txBody>
      </p:sp>
      <p:sp>
        <p:nvSpPr>
          <p:cNvPr id="17" name="Text 15"/>
          <p:cNvSpPr/>
          <p:nvPr/>
        </p:nvSpPr>
        <p:spPr>
          <a:xfrm>
            <a:off x="3718148" y="1737360"/>
            <a:ext cx="7940452"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Analysis 2: the installed base, the central asset of the case</a:t>
            </a:r>
            <a:endParaRPr lang="en-US" sz="1400" dirty="0"/>
          </a:p>
        </p:txBody>
      </p:sp>
      <p:sp>
        <p:nvSpPr>
          <p:cNvPr id="18" name="Text 16"/>
          <p:cNvSpPr/>
          <p:nvPr/>
        </p:nvSpPr>
        <p:spPr>
          <a:xfrm>
            <a:off x="3718148" y="2148840"/>
            <a:ext cx="7940452" cy="4206240"/>
          </a:xfrm>
          <a:prstGeom prst="rect">
            <a:avLst/>
          </a:prstGeom>
          <a:noFill/>
          <a:ln/>
        </p:spPr>
        <p:txBody>
          <a:bodyPr wrap="square" lIns="0" tIns="0" rIns="0" bIns="0" rtlCol="0" anchor="t"/>
          <a:lstStyle/>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The 18,400-site installed base is Meridio's foremost strategic asset.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Each site generates on average EUR 4,200 per year in maintenance and parts spending, of which Meridio captures only 31% today. The rest goes to independent maintainers, less well equipped but more present commercially.</a:t>
            </a:r>
            <a:endParaRPr lang="en-US" sz="1250" dirty="0"/>
          </a:p>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Usage data changes the economic equation.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Across the 6,800 connected sites, the avoidable-failure rate reaches 38%: predictive maintenance would support selling a premium contract while cutting intervention costs by 22%.</a:t>
            </a:r>
            <a:endParaRPr lang="en-US" sz="1250" dirty="0"/>
          </a:p>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Field coverage is a defensible advantage.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94% of sites are within two hours of a Meridio technician, versus 61% for the best-placed competitor. This gap, costly to replicate, justifies a price premium measured at 8-12% in the customer interviews.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DIAGNOSIS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Four findings command the shift to services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04</a:t>
            </a:r>
            <a:endParaRPr lang="en-US" sz="850" dirty="0"/>
          </a:p>
        </p:txBody>
      </p:sp>
      <p:sp>
        <p:nvSpPr>
          <p:cNvPr id="8" name="Shape 6"/>
          <p:cNvSpPr/>
          <p:nvPr/>
        </p:nvSpPr>
        <p:spPr>
          <a:xfrm>
            <a:off x="502920" y="1737360"/>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30936" y="2097405"/>
            <a:ext cx="310896" cy="310896"/>
          </a:xfrm>
          <a:prstGeom prst="roundRect">
            <a:avLst>
              <a:gd name="adj" fmla="val 14706"/>
            </a:avLst>
          </a:prstGeom>
          <a:solidFill>
            <a:srgbClr val="1D5FCC"/>
          </a:solidFill>
          <a:ln/>
        </p:spPr>
      </p:sp>
      <p:sp>
        <p:nvSpPr>
          <p:cNvPr id="10" name="Text 8"/>
          <p:cNvSpPr/>
          <p:nvPr/>
        </p:nvSpPr>
        <p:spPr>
          <a:xfrm>
            <a:off x="630936" y="2097405"/>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1" name="Text 9"/>
          <p:cNvSpPr/>
          <p:nvPr/>
        </p:nvSpPr>
        <p:spPr>
          <a:xfrm>
            <a:off x="1069848" y="1810512"/>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New-equipment sales are plateauing: -2.4% per year since 2023</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Target penetration rate reached (87%)</a:t>
            </a:r>
            <a:endParaRPr lang="en-US" sz="1250" dirty="0"/>
          </a:p>
        </p:txBody>
      </p:sp>
      <p:sp>
        <p:nvSpPr>
          <p:cNvPr id="12" name="Shape 10"/>
          <p:cNvSpPr/>
          <p:nvPr/>
        </p:nvSpPr>
        <p:spPr>
          <a:xfrm>
            <a:off x="502920" y="2932938"/>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Shape 11"/>
          <p:cNvSpPr/>
          <p:nvPr/>
        </p:nvSpPr>
        <p:spPr>
          <a:xfrm>
            <a:off x="630936" y="3292983"/>
            <a:ext cx="310896" cy="310896"/>
          </a:xfrm>
          <a:prstGeom prst="roundRect">
            <a:avLst>
              <a:gd name="adj" fmla="val 14706"/>
            </a:avLst>
          </a:prstGeom>
          <a:solidFill>
            <a:srgbClr val="1D5FCC"/>
          </a:solidFill>
          <a:ln/>
        </p:spPr>
      </p:sp>
      <p:sp>
        <p:nvSpPr>
          <p:cNvPr id="14" name="Text 12"/>
          <p:cNvSpPr/>
          <p:nvPr/>
        </p:nvSpPr>
        <p:spPr>
          <a:xfrm>
            <a:off x="630936" y="3292983"/>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5" name="Text 13"/>
          <p:cNvSpPr/>
          <p:nvPr/>
        </p:nvSpPr>
        <p:spPr>
          <a:xfrm>
            <a:off x="1069848" y="3006090"/>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Services deliver 41% of the margin with 22% of revenue</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14% organic growth per year, without investment</a:t>
            </a:r>
            <a:endParaRPr lang="en-US" sz="1250" dirty="0"/>
          </a:p>
        </p:txBody>
      </p:sp>
      <p:sp>
        <p:nvSpPr>
          <p:cNvPr id="16" name="Shape 14"/>
          <p:cNvSpPr/>
          <p:nvPr/>
        </p:nvSpPr>
        <p:spPr>
          <a:xfrm>
            <a:off x="502920" y="4128516"/>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Shape 15"/>
          <p:cNvSpPr/>
          <p:nvPr/>
        </p:nvSpPr>
        <p:spPr>
          <a:xfrm>
            <a:off x="630936" y="4488561"/>
            <a:ext cx="310896" cy="310896"/>
          </a:xfrm>
          <a:prstGeom prst="roundRect">
            <a:avLst>
              <a:gd name="adj" fmla="val 14706"/>
            </a:avLst>
          </a:prstGeom>
          <a:solidFill>
            <a:srgbClr val="1D5FCC"/>
          </a:solidFill>
          <a:ln/>
        </p:spPr>
      </p:sp>
      <p:sp>
        <p:nvSpPr>
          <p:cNvPr id="18" name="Text 16"/>
          <p:cNvSpPr/>
          <p:nvPr/>
        </p:nvSpPr>
        <p:spPr>
          <a:xfrm>
            <a:off x="630936" y="4488561"/>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19" name="Text 17"/>
          <p:cNvSpPr/>
          <p:nvPr/>
        </p:nvSpPr>
        <p:spPr>
          <a:xfrm>
            <a:off x="1069848" y="4201668"/>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69% of installed-base maintenance escapes Meridio</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Captured by less well-equipped independents</a:t>
            </a:r>
            <a:endParaRPr lang="en-US" sz="1250" dirty="0"/>
          </a:p>
        </p:txBody>
      </p:sp>
      <p:sp>
        <p:nvSpPr>
          <p:cNvPr id="20" name="Shape 18"/>
          <p:cNvSpPr/>
          <p:nvPr/>
        </p:nvSpPr>
        <p:spPr>
          <a:xfrm>
            <a:off x="502920" y="5324094"/>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Shape 19"/>
          <p:cNvSpPr/>
          <p:nvPr/>
        </p:nvSpPr>
        <p:spPr>
          <a:xfrm>
            <a:off x="630936" y="5684139"/>
            <a:ext cx="310896" cy="310896"/>
          </a:xfrm>
          <a:prstGeom prst="roundRect">
            <a:avLst>
              <a:gd name="adj" fmla="val 14706"/>
            </a:avLst>
          </a:prstGeom>
          <a:solidFill>
            <a:srgbClr val="1D5FCC"/>
          </a:solidFill>
          <a:ln/>
        </p:spPr>
      </p:sp>
      <p:sp>
        <p:nvSpPr>
          <p:cNvPr id="22" name="Text 20"/>
          <p:cNvSpPr/>
          <p:nvPr/>
        </p:nvSpPr>
        <p:spPr>
          <a:xfrm>
            <a:off x="630936" y="5684139"/>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3" name="Text 21"/>
          <p:cNvSpPr/>
          <p:nvPr/>
        </p:nvSpPr>
        <p:spPr>
          <a:xfrm>
            <a:off x="1069848" y="5397246"/>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Two competitors are preparing managed offers</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Q1 2026 announcements; field coverage still inferior</a:t>
            </a:r>
            <a:endParaRPr lang="en-US" sz="1250" dirty="0"/>
          </a:p>
        </p:txBody>
      </p:sp>
      <p:sp>
        <p:nvSpPr>
          <p:cNvPr id="24" name="Shape 22"/>
          <p:cNvSpPr/>
          <p:nvPr/>
        </p:nvSpPr>
        <p:spPr>
          <a:xfrm>
            <a:off x="7628467" y="1737360"/>
            <a:ext cx="4030133" cy="4617720"/>
          </a:xfrm>
          <a:prstGeom prst="roundRect">
            <a:avLst>
              <a:gd name="adj" fmla="val 1361"/>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7628467" y="1792224"/>
            <a:ext cx="73152" cy="4507992"/>
          </a:xfrm>
          <a:prstGeom prst="roundRect">
            <a:avLst>
              <a:gd name="adj" fmla="val 50000"/>
            </a:avLst>
          </a:prstGeom>
          <a:solidFill>
            <a:srgbClr val="2E7CF6"/>
          </a:solidFill>
          <a:ln/>
        </p:spPr>
      </p:sp>
      <p:sp>
        <p:nvSpPr>
          <p:cNvPr id="26" name="Text 24"/>
          <p:cNvSpPr/>
          <p:nvPr/>
        </p:nvSpPr>
        <p:spPr>
          <a:xfrm>
            <a:off x="7884499" y="1938528"/>
            <a:ext cx="3572933" cy="292608"/>
          </a:xfrm>
          <a:prstGeom prst="rect">
            <a:avLst/>
          </a:prstGeom>
          <a:noFill/>
          <a:ln/>
        </p:spPr>
        <p:txBody>
          <a:bodyPr wrap="square" lIns="0" tIns="0" rIns="0" bIns="0" rtlCol="0" anchor="ctr"/>
          <a:lstStyle/>
          <a:p>
            <a:pPr indent="0" marL="0">
              <a:buNone/>
            </a:pPr>
            <a:r>
              <a:rPr lang="en-US" sz="1500" b="1" dirty="0">
                <a:solidFill>
                  <a:srgbClr val="1D5FCC"/>
                </a:solidFill>
                <a:latin typeface="Arial" pitchFamily="34" charset="0"/>
                <a:ea typeface="Arial" pitchFamily="34" charset="-122"/>
                <a:cs typeface="Arial" pitchFamily="34" charset="-120"/>
              </a:rPr>
              <a:t>So what?</a:t>
            </a:r>
            <a:endParaRPr lang="en-US" sz="1500" dirty="0"/>
          </a:p>
        </p:txBody>
      </p:sp>
      <p:sp>
        <p:nvSpPr>
          <p:cNvPr id="27" name="Text 25"/>
          <p:cNvSpPr/>
          <p:nvPr/>
        </p:nvSpPr>
        <p:spPr>
          <a:xfrm>
            <a:off x="7884499" y="2350008"/>
            <a:ext cx="3572933" cy="3758184"/>
          </a:xfrm>
          <a:prstGeom prst="rect">
            <a:avLst/>
          </a:prstGeom>
          <a:noFill/>
          <a:ln/>
        </p:spPr>
        <p:txBody>
          <a:bodyPr wrap="square" lIns="0" tIns="0" rIns="0" bIns="0" rtlCol="0" anchor="t"/>
          <a:lstStyle/>
          <a:p>
            <a:pPr indent="0" marL="0">
              <a:lnSpc>
                <a:spcPct val="125000"/>
              </a:lnSpc>
              <a:buNone/>
            </a:pPr>
            <a:r>
              <a:rPr lang="en-US" sz="1200" dirty="0">
                <a:solidFill>
                  <a:srgbClr val="1A1A1A"/>
                </a:solidFill>
                <a:latin typeface="Arial" pitchFamily="34" charset="0"/>
                <a:ea typeface="Arial" pitchFamily="34" charset="-122"/>
                <a:cs typeface="Arial" pitchFamily="34" charset="-120"/>
              </a:rPr>
              <a:t>The status quo protects neither revenue (new-sales ceiling) nor margin (maintenance leakage).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The services shift is not one growth option among others: it is the only one built on an advantage already paid for — the installed base and field coverage.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Timing is the real decision at stake: all four findings are deteriorating in the same direction, and two of them (competition, maintenance attrition) are irreversible once contracts are signed elsewhere.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Hence the recommendation to decide at the September committee, before the 2027 budget.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DECISION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Three entry routes into managed services, only one maximizes the value of the installed base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05</a:t>
            </a:r>
            <a:endParaRPr lang="en-US" sz="850" dirty="0"/>
          </a:p>
        </p:txBody>
      </p:sp>
      <p:sp>
        <p:nvSpPr>
          <p:cNvPr id="8" name="Shape 6"/>
          <p:cNvSpPr/>
          <p:nvPr/>
        </p:nvSpPr>
        <p:spPr>
          <a:xfrm>
            <a:off x="502920" y="1737360"/>
            <a:ext cx="2583180" cy="3065929"/>
          </a:xfrm>
          <a:prstGeom prst="roundRect">
            <a:avLst>
              <a:gd name="adj" fmla="val 2124"/>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22539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Decision required</a:t>
            </a:r>
            <a:endParaRPr lang="en-US" sz="1400" dirty="0"/>
          </a:p>
        </p:txBody>
      </p:sp>
      <p:sp>
        <p:nvSpPr>
          <p:cNvPr id="10" name="Text 8"/>
          <p:cNvSpPr/>
          <p:nvPr/>
        </p:nvSpPr>
        <p:spPr>
          <a:xfrm>
            <a:off x="667512" y="2286000"/>
            <a:ext cx="2253996" cy="2425849"/>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committee must decide on the entry route into managed services before the 2027 budget. The choice commits EUR 45-120M of capex, the structure of the sales organization and the competitive timeline: the three routes were assessed against the same grid (time-to-market, customer control, capex, execution risk).</a:t>
            </a:r>
            <a:endParaRPr lang="en-US" sz="1200" dirty="0"/>
          </a:p>
        </p:txBody>
      </p:sp>
      <p:sp>
        <p:nvSpPr>
          <p:cNvPr id="11" name="Shape 9"/>
          <p:cNvSpPr/>
          <p:nvPr/>
        </p:nvSpPr>
        <p:spPr>
          <a:xfrm>
            <a:off x="33604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Shape 10"/>
          <p:cNvSpPr/>
          <p:nvPr/>
        </p:nvSpPr>
        <p:spPr>
          <a:xfrm>
            <a:off x="3525012" y="1920240"/>
            <a:ext cx="310896" cy="310896"/>
          </a:xfrm>
          <a:prstGeom prst="roundRect">
            <a:avLst>
              <a:gd name="adj" fmla="val 14706"/>
            </a:avLst>
          </a:prstGeom>
          <a:solidFill>
            <a:srgbClr val="1D5FCC"/>
          </a:solidFill>
          <a:ln/>
        </p:spPr>
      </p:sp>
      <p:sp>
        <p:nvSpPr>
          <p:cNvPr id="13" name="Text 11"/>
          <p:cNvSpPr/>
          <p:nvPr/>
        </p:nvSpPr>
        <p:spPr>
          <a:xfrm>
            <a:off x="35250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14" name="Text 12"/>
          <p:cNvSpPr/>
          <p:nvPr/>
        </p:nvSpPr>
        <p:spPr>
          <a:xfrm>
            <a:off x="39639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Build</a:t>
            </a:r>
            <a:endParaRPr lang="en-US" sz="1400" dirty="0"/>
          </a:p>
        </p:txBody>
      </p:sp>
      <p:sp>
        <p:nvSpPr>
          <p:cNvPr id="15" name="Text 13"/>
          <p:cNvSpPr/>
          <p:nvPr/>
        </p:nvSpPr>
        <p:spPr>
          <a:xfrm>
            <a:off x="35250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Proprietary platform in 24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120M capex, full control of the roadmap</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High execution risk: 40 tech hires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Time-to-market incompatible with the competitive window</a:t>
            </a:r>
            <a:endParaRPr lang="en-US" sz="1200" dirty="0"/>
          </a:p>
        </p:txBody>
      </p:sp>
      <p:sp>
        <p:nvSpPr>
          <p:cNvPr id="16" name="Shape 14"/>
          <p:cNvSpPr/>
          <p:nvPr/>
        </p:nvSpPr>
        <p:spPr>
          <a:xfrm>
            <a:off x="62179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Shape 15"/>
          <p:cNvSpPr/>
          <p:nvPr/>
        </p:nvSpPr>
        <p:spPr>
          <a:xfrm>
            <a:off x="6382512" y="1920240"/>
            <a:ext cx="310896" cy="310896"/>
          </a:xfrm>
          <a:prstGeom prst="roundRect">
            <a:avLst>
              <a:gd name="adj" fmla="val 14706"/>
            </a:avLst>
          </a:prstGeom>
          <a:solidFill>
            <a:srgbClr val="1D5FCC"/>
          </a:solidFill>
          <a:ln/>
        </p:spPr>
      </p:sp>
      <p:sp>
        <p:nvSpPr>
          <p:cNvPr id="18" name="Text 16"/>
          <p:cNvSpPr/>
          <p:nvPr/>
        </p:nvSpPr>
        <p:spPr>
          <a:xfrm>
            <a:off x="63825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19" name="Text 17"/>
          <p:cNvSpPr/>
          <p:nvPr/>
        </p:nvSpPr>
        <p:spPr>
          <a:xfrm>
            <a:off x="68214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Acquire</a:t>
            </a:r>
            <a:endParaRPr lang="en-US" sz="1400" dirty="0"/>
          </a:p>
        </p:txBody>
      </p:sp>
      <p:sp>
        <p:nvSpPr>
          <p:cNvPr id="20" name="Text 18"/>
          <p:cNvSpPr/>
          <p:nvPr/>
        </p:nvSpPr>
        <p:spPr>
          <a:xfrm>
            <a:off x="63825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Target identified: Novaserv (EUR 34M revenue, profitable)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Immediate access to 2,100 contracts and 60 technicians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Estimated premium 9-11x EBITDA (market at 8x)</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Main risk: contract retention at announcement</a:t>
            </a:r>
            <a:endParaRPr lang="en-US" sz="1200" dirty="0"/>
          </a:p>
        </p:txBody>
      </p:sp>
      <p:sp>
        <p:nvSpPr>
          <p:cNvPr id="21" name="Shape 19"/>
          <p:cNvSpPr/>
          <p:nvPr/>
        </p:nvSpPr>
        <p:spPr>
          <a:xfrm>
            <a:off x="90754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2" name="Shape 20"/>
          <p:cNvSpPr/>
          <p:nvPr/>
        </p:nvSpPr>
        <p:spPr>
          <a:xfrm>
            <a:off x="9240012" y="1920240"/>
            <a:ext cx="310896" cy="310896"/>
          </a:xfrm>
          <a:prstGeom prst="roundRect">
            <a:avLst>
              <a:gd name="adj" fmla="val 14706"/>
            </a:avLst>
          </a:prstGeom>
          <a:solidFill>
            <a:srgbClr val="1D5FCC"/>
          </a:solidFill>
          <a:ln/>
        </p:spPr>
      </p:sp>
      <p:sp>
        <p:nvSpPr>
          <p:cNvPr id="23" name="Text 21"/>
          <p:cNvSpPr/>
          <p:nvPr/>
        </p:nvSpPr>
        <p:spPr>
          <a:xfrm>
            <a:off x="92400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24" name="Text 22"/>
          <p:cNvSpPr/>
          <p:nvPr/>
        </p:nvSpPr>
        <p:spPr>
          <a:xfrm>
            <a:off x="96789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Partner</a:t>
            </a:r>
            <a:endParaRPr lang="en-US" sz="1400" dirty="0"/>
          </a:p>
        </p:txBody>
      </p:sp>
      <p:sp>
        <p:nvSpPr>
          <p:cNvPr id="25" name="Text 23"/>
          <p:cNvSpPr/>
          <p:nvPr/>
        </p:nvSpPr>
        <p:spPr>
          <a:xfrm>
            <a:off x="92400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JV with an established IoT vendor (2 candidates)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45M capex, 12-month time-to-market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60/40 margin split on the premium tier</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Technology dependence to be framed contractually</a:t>
            </a:r>
            <a:endParaRPr lang="en-US" sz="1200" dirty="0"/>
          </a:p>
        </p:txBody>
      </p:sp>
      <p:sp>
        <p:nvSpPr>
          <p:cNvPr id="26" name="SOGRAD~346FD1~154493~90"/>
          <p:cNvSpPr/>
          <p:nvPr/>
        </p:nvSpPr>
        <p:spPr>
          <a:xfrm>
            <a:off x="502920" y="5077609"/>
            <a:ext cx="11155680" cy="1277471"/>
          </a:xfrm>
          <a:prstGeom prst="roundRect">
            <a:avLst>
              <a:gd name="adj" fmla="val 4295"/>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7" name="Text 25"/>
          <p:cNvSpPr/>
          <p:nvPr/>
        </p:nvSpPr>
        <p:spPr>
          <a:xfrm>
            <a:off x="731520" y="5077609"/>
            <a:ext cx="10698480" cy="1277471"/>
          </a:xfrm>
          <a:prstGeom prst="rect">
            <a:avLst/>
          </a:prstGeom>
          <a:noFill/>
          <a:ln/>
        </p:spPr>
        <p:txBody>
          <a:bodyPr wrap="square" lIns="0" tIns="0" rIns="0" bIns="0" rtlCol="0" anchor="ctr"/>
          <a:lstStyle/>
          <a:p>
            <a:pPr indent="0" marL="0">
              <a:lnSpc>
                <a:spcPct val="115000"/>
              </a:lnSpc>
              <a:buNone/>
            </a:pPr>
            <a:r>
              <a:rPr lang="en-US" sz="1250" b="1" dirty="0">
                <a:solidFill>
                  <a:srgbClr val="5B9CFF"/>
                </a:solidFill>
                <a:latin typeface="Arial" pitchFamily="34" charset="0"/>
                <a:ea typeface="Arial" pitchFamily="34" charset="-122"/>
                <a:cs typeface="Arial" pitchFamily="34" charset="-120"/>
              </a:rPr>
              <a:t>Recommendation: </a:t>
            </a:r>
            <a:pPr indent="0" marL="0">
              <a:lnSpc>
                <a:spcPct val="115000"/>
              </a:lnSpc>
              <a:buNone/>
            </a:pPr>
            <a:r>
              <a:rPr lang="en-US" sz="1250" dirty="0">
                <a:solidFill>
                  <a:srgbClr val="FFFFFF"/>
                </a:solidFill>
                <a:latin typeface="Arial" pitchFamily="34" charset="0"/>
                <a:ea typeface="Arial" pitchFamily="34" charset="-122"/>
                <a:cs typeface="Arial" pitchFamily="34" charset="-120"/>
              </a:rPr>
              <a:t>Acquire Novaserv then migrate its contracts to a partner platform: the speed of the acquisition, the economics of the partnership.</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RISKS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Five major risks are identified, three require action before launch</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Reading: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Risks 1 and 3 drive the timeline: address them before the program's public announcement.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06</a:t>
            </a:r>
            <a:endParaRPr lang="en-US" sz="850" dirty="0"/>
          </a:p>
        </p:txBody>
      </p:sp>
      <p:sp>
        <p:nvSpPr>
          <p:cNvPr id="11" name="Text 9"/>
          <p:cNvSpPr/>
          <p:nvPr/>
        </p:nvSpPr>
        <p:spPr>
          <a:xfrm>
            <a:off x="502920" y="1719072"/>
            <a:ext cx="1115568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Program risk register, July 2026 assessment</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2011680"/>
          <a:ext cx="11155680" cy="914400"/>
        </p:xfrm>
        <a:graphic>
          <a:graphicData uri="http://schemas.openxmlformats.org/drawingml/2006/table">
            <a:tbl>
              <a:tblPr/>
              <a:tblGrid>
                <a:gridCol w="3486150"/>
                <a:gridCol w="1162050"/>
                <a:gridCol w="1162050"/>
                <a:gridCol w="3950970"/>
                <a:gridCol w="1394460"/>
              </a:tblGrid>
              <a:tr h="605028">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Risk</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Impact</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Probability</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Mitigation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Owner</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Senior technician attrition</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Targeted retention plan (installed-base bonus + expert track) before the announcement</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HR</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Contracts cannibalizing new sales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Linked pricing: equipment discount conditional on a 5-year contract</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Sales Dir.</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Novaserv integration slower than planned</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Dedicated integration team, synergy milestones at 6/12/18 months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PMO</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Price reaction from independents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Segment: predictive premium where data creates the gap</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Strategy</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Platform capex overrun</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Capped partner architecture, quarterly review</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CIO</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TRAJECTORY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shift executes in four phases over 30 months, with no shock to the core market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07</a:t>
            </a:r>
            <a:endParaRPr lang="en-US" sz="850" dirty="0"/>
          </a:p>
        </p:txBody>
      </p:sp>
      <p:sp>
        <p:nvSpPr>
          <p:cNvPr id="8" name="Shape 6"/>
          <p:cNvSpPr/>
          <p:nvPr/>
        </p:nvSpPr>
        <p:spPr>
          <a:xfrm>
            <a:off x="685800" y="2240280"/>
            <a:ext cx="10789920" cy="0"/>
          </a:xfrm>
          <a:prstGeom prst="line">
            <a:avLst/>
          </a:prstGeom>
          <a:noFill/>
          <a:ln w="25400">
            <a:solidFill>
              <a:srgbClr val="2E7CF6"/>
            </a:solidFill>
            <a:prstDash val="solid"/>
          </a:ln>
        </p:spPr>
      </p:sp>
      <p:sp>
        <p:nvSpPr>
          <p:cNvPr id="9" name="Text 7"/>
          <p:cNvSpPr/>
          <p:nvPr/>
        </p:nvSpPr>
        <p:spPr>
          <a:xfrm>
            <a:off x="50292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Secure</a:t>
            </a:r>
            <a:endParaRPr lang="en-US" sz="1250" dirty="0"/>
          </a:p>
        </p:txBody>
      </p:sp>
      <p:sp>
        <p:nvSpPr>
          <p:cNvPr id="10" name="Shape 8"/>
          <p:cNvSpPr/>
          <p:nvPr/>
        </p:nvSpPr>
        <p:spPr>
          <a:xfrm>
            <a:off x="1729359" y="2157984"/>
            <a:ext cx="164592" cy="164592"/>
          </a:xfrm>
          <a:prstGeom prst="ellipse">
            <a:avLst/>
          </a:prstGeom>
          <a:solidFill>
            <a:srgbClr val="2E7CF6"/>
          </a:solidFill>
          <a:ln w="19050">
            <a:solidFill>
              <a:srgbClr val="FFFFFF"/>
            </a:solidFill>
            <a:prstDash val="solid"/>
          </a:ln>
        </p:spPr>
      </p:sp>
      <p:sp>
        <p:nvSpPr>
          <p:cNvPr id="11" name="Shape 9"/>
          <p:cNvSpPr/>
          <p:nvPr/>
        </p:nvSpPr>
        <p:spPr>
          <a:xfrm>
            <a:off x="50292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64008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Novaserv closing and retention plan for the 60 technicians; design of the managed offer and of the linked equipment + contract pricing; contracting of the partner platform; recruitment of the installed-base sales core team (8 people).</a:t>
            </a:r>
            <a:endParaRPr lang="en-US" sz="1200" dirty="0"/>
          </a:p>
        </p:txBody>
      </p:sp>
      <p:sp>
        <p:nvSpPr>
          <p:cNvPr id="13" name="Text 11"/>
          <p:cNvSpPr/>
          <p:nvPr/>
        </p:nvSpPr>
        <p:spPr>
          <a:xfrm>
            <a:off x="50292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M0-M6</a:t>
            </a:r>
            <a:endParaRPr lang="en-US" sz="950" dirty="0"/>
          </a:p>
        </p:txBody>
      </p:sp>
      <p:sp>
        <p:nvSpPr>
          <p:cNvPr id="14" name="Text 12"/>
          <p:cNvSpPr/>
          <p:nvPr/>
        </p:nvSpPr>
        <p:spPr>
          <a:xfrm>
            <a:off x="334899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Prove</a:t>
            </a:r>
            <a:endParaRPr lang="en-US" sz="1250" dirty="0"/>
          </a:p>
        </p:txBody>
      </p:sp>
      <p:sp>
        <p:nvSpPr>
          <p:cNvPr id="15" name="Shape 13"/>
          <p:cNvSpPr/>
          <p:nvPr/>
        </p:nvSpPr>
        <p:spPr>
          <a:xfrm>
            <a:off x="4575429" y="2157984"/>
            <a:ext cx="164592" cy="164592"/>
          </a:xfrm>
          <a:prstGeom prst="ellipse">
            <a:avLst/>
          </a:prstGeom>
          <a:solidFill>
            <a:srgbClr val="2E7CF6"/>
          </a:solidFill>
          <a:ln w="19050">
            <a:solidFill>
              <a:srgbClr val="FFFFFF"/>
            </a:solidFill>
            <a:prstDash val="solid"/>
          </a:ln>
        </p:spPr>
      </p:sp>
      <p:sp>
        <p:nvSpPr>
          <p:cNvPr id="16" name="Shape 14"/>
          <p:cNvSpPr/>
          <p:nvPr/>
        </p:nvSpPr>
        <p:spPr>
          <a:xfrm>
            <a:off x="334899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348615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Pilot on 400 connected sites in the North region: measurement of the attach rate (go/no-go threshold: 20%), of actual margin per contract and of satisfaction; premium pricing adjustment; first cohort of 40 technicians trained in predictive maintenance.</a:t>
            </a:r>
            <a:endParaRPr lang="en-US" sz="1200" dirty="0"/>
          </a:p>
        </p:txBody>
      </p:sp>
      <p:sp>
        <p:nvSpPr>
          <p:cNvPr id="18" name="Text 16"/>
          <p:cNvSpPr/>
          <p:nvPr/>
        </p:nvSpPr>
        <p:spPr>
          <a:xfrm>
            <a:off x="334899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M6-M12</a:t>
            </a:r>
            <a:endParaRPr lang="en-US" sz="950" dirty="0"/>
          </a:p>
        </p:txBody>
      </p:sp>
      <p:sp>
        <p:nvSpPr>
          <p:cNvPr id="19" name="Text 17"/>
          <p:cNvSpPr/>
          <p:nvPr/>
        </p:nvSpPr>
        <p:spPr>
          <a:xfrm>
            <a:off x="619506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Deploy</a:t>
            </a:r>
            <a:endParaRPr lang="en-US" sz="1250" dirty="0"/>
          </a:p>
        </p:txBody>
      </p:sp>
      <p:sp>
        <p:nvSpPr>
          <p:cNvPr id="20" name="Shape 18"/>
          <p:cNvSpPr/>
          <p:nvPr/>
        </p:nvSpPr>
        <p:spPr>
          <a:xfrm>
            <a:off x="7421499" y="2157984"/>
            <a:ext cx="164592" cy="164592"/>
          </a:xfrm>
          <a:prstGeom prst="ellipse">
            <a:avLst/>
          </a:prstGeom>
          <a:solidFill>
            <a:srgbClr val="2E7CF6"/>
          </a:solidFill>
          <a:ln w="19050">
            <a:solidFill>
              <a:srgbClr val="FFFFFF"/>
            </a:solidFill>
            <a:prstDash val="solid"/>
          </a:ln>
        </p:spPr>
      </p:sp>
      <p:sp>
        <p:nvSpPr>
          <p:cNvPr id="21" name="Shape 19"/>
          <p:cNvSpPr/>
          <p:nvPr/>
        </p:nvSpPr>
        <p:spPr>
          <a:xfrm>
            <a:off x="619506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2" name="Text 20"/>
          <p:cNvSpPr/>
          <p:nvPr/>
        </p:nvSpPr>
        <p:spPr>
          <a:xfrm>
            <a:off x="633222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Roll-out in regional waves (North, East, Rhone, West, South), migration of the 2,100 Novaserv contracts to the target platform, training of 300 technicians, build-up of forward stock in the 12 regional hubs.</a:t>
            </a:r>
            <a:endParaRPr lang="en-US" sz="1200" dirty="0"/>
          </a:p>
        </p:txBody>
      </p:sp>
      <p:sp>
        <p:nvSpPr>
          <p:cNvPr id="23" name="Text 21"/>
          <p:cNvSpPr/>
          <p:nvPr/>
        </p:nvSpPr>
        <p:spPr>
          <a:xfrm>
            <a:off x="619506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M12-M24</a:t>
            </a:r>
            <a:endParaRPr lang="en-US" sz="950" dirty="0"/>
          </a:p>
        </p:txBody>
      </p:sp>
      <p:sp>
        <p:nvSpPr>
          <p:cNvPr id="24" name="Text 22"/>
          <p:cNvSpPr/>
          <p:nvPr/>
        </p:nvSpPr>
        <p:spPr>
          <a:xfrm>
            <a:off x="904113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Optimize</a:t>
            </a:r>
            <a:endParaRPr lang="en-US" sz="1250" dirty="0"/>
          </a:p>
        </p:txBody>
      </p:sp>
      <p:sp>
        <p:nvSpPr>
          <p:cNvPr id="25" name="Shape 23"/>
          <p:cNvSpPr/>
          <p:nvPr/>
        </p:nvSpPr>
        <p:spPr>
          <a:xfrm>
            <a:off x="10267569" y="2157984"/>
            <a:ext cx="164592" cy="164592"/>
          </a:xfrm>
          <a:prstGeom prst="ellipse">
            <a:avLst/>
          </a:prstGeom>
          <a:solidFill>
            <a:srgbClr val="2E7CF6"/>
          </a:solidFill>
          <a:ln w="19050">
            <a:solidFill>
              <a:srgbClr val="FFFFFF"/>
            </a:solidFill>
            <a:prstDash val="solid"/>
          </a:ln>
        </p:spPr>
      </p:sp>
      <p:sp>
        <p:nvSpPr>
          <p:cNvPr id="26" name="Shape 24"/>
          <p:cNvSpPr/>
          <p:nvPr/>
        </p:nvSpPr>
        <p:spPr>
          <a:xfrm>
            <a:off x="904113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7" name="Text 25"/>
          <p:cNvSpPr/>
          <p:nvPr/>
        </p:nvSpPr>
        <p:spPr>
          <a:xfrm>
            <a:off x="917829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Predictive maintenance generalized across the connected base (target: 11,000 sites), upgrade of standard contracts to premium, supplier renegotiation on consolidated parts volumes, preparation of the Benelux extension.</a:t>
            </a:r>
            <a:endParaRPr lang="en-US" sz="1200" dirty="0"/>
          </a:p>
        </p:txBody>
      </p:sp>
      <p:sp>
        <p:nvSpPr>
          <p:cNvPr id="28" name="Text 26"/>
          <p:cNvSpPr/>
          <p:nvPr/>
        </p:nvSpPr>
        <p:spPr>
          <a:xfrm>
            <a:off x="904113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M24-M30</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CONVICTION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installed base's usage data is the asset competitors cannot replicate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08</a:t>
            </a:r>
            <a:endParaRPr lang="en-US" sz="850" dirty="0"/>
          </a:p>
        </p:txBody>
      </p:sp>
      <p:sp>
        <p:nvSpPr>
          <p:cNvPr id="8" name="Shape 6"/>
          <p:cNvSpPr/>
          <p:nvPr/>
        </p:nvSpPr>
        <p:spPr>
          <a:xfrm>
            <a:off x="502920" y="1737360"/>
            <a:ext cx="4185138" cy="4617720"/>
          </a:xfrm>
          <a:prstGeom prst="roundRect">
            <a:avLst>
              <a:gd name="adj" fmla="val 1311"/>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502920" y="1792224"/>
            <a:ext cx="73152" cy="4507992"/>
          </a:xfrm>
          <a:prstGeom prst="roundRect">
            <a:avLst>
              <a:gd name="adj" fmla="val 50000"/>
            </a:avLst>
          </a:prstGeom>
          <a:solidFill>
            <a:srgbClr val="2E7CF6"/>
          </a:solidFill>
          <a:ln/>
        </p:spPr>
      </p:sp>
      <p:sp>
        <p:nvSpPr>
          <p:cNvPr id="10" name="Text 8"/>
          <p:cNvSpPr/>
          <p:nvPr/>
        </p:nvSpPr>
        <p:spPr>
          <a:xfrm>
            <a:off x="813816" y="1993392"/>
            <a:ext cx="3618210" cy="4105656"/>
          </a:xfrm>
          <a:prstGeom prst="rect">
            <a:avLst/>
          </a:prstGeom>
          <a:noFill/>
          <a:ln/>
        </p:spPr>
        <p:txBody>
          <a:bodyPr wrap="square" lIns="0" tIns="0" rIns="0" bIns="0" rtlCol="0" anchor="ctr"/>
          <a:lstStyle/>
          <a:p>
            <a:pPr indent="0" marL="0">
              <a:lnSpc>
                <a:spcPct val="120000"/>
              </a:lnSpc>
              <a:buNone/>
            </a:pPr>
            <a:r>
              <a:rPr lang="en-US" sz="1900" b="1" dirty="0">
                <a:solidFill>
                  <a:srgbClr val="1D5FCC"/>
                </a:solidFill>
                <a:latin typeface="Arial" pitchFamily="34" charset="0"/>
                <a:ea typeface="Arial" pitchFamily="34" charset="-122"/>
                <a:cs typeface="Arial" pitchFamily="34" charset="-120"/>
              </a:rPr>
              <a:t>18,400 sites, 11 years of failure history: no one else can train a predictive model on this depth.</a:t>
            </a:r>
            <a:endParaRPr lang="en-US" sz="1900" dirty="0"/>
          </a:p>
        </p:txBody>
      </p:sp>
      <p:sp>
        <p:nvSpPr>
          <p:cNvPr id="11" name="Shape 9"/>
          <p:cNvSpPr/>
          <p:nvPr/>
        </p:nvSpPr>
        <p:spPr>
          <a:xfrm>
            <a:off x="4962378" y="17373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5126970" y="18105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1: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38% of failures are predictable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Measured on the 6,800 connected sites, from signals 90 days before incident.</a:t>
            </a:r>
            <a:endParaRPr lang="en-US" sz="1200" dirty="0"/>
          </a:p>
        </p:txBody>
      </p:sp>
      <p:sp>
        <p:nvSpPr>
          <p:cNvPr id="13" name="Shape 11"/>
          <p:cNvSpPr/>
          <p:nvPr/>
        </p:nvSpPr>
        <p:spPr>
          <a:xfrm>
            <a:off x="4962378" y="33375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4" name="Text 12"/>
          <p:cNvSpPr/>
          <p:nvPr/>
        </p:nvSpPr>
        <p:spPr>
          <a:xfrm>
            <a:off x="5126970" y="34107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2: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-22% intervention cost with predictive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A planned intervention avoids the emergency call-out and the express part.</a:t>
            </a:r>
            <a:endParaRPr lang="en-US" sz="1200" dirty="0"/>
          </a:p>
        </p:txBody>
      </p:sp>
      <p:sp>
        <p:nvSpPr>
          <p:cNvPr id="15" name="Shape 13"/>
          <p:cNvSpPr/>
          <p:nvPr/>
        </p:nvSpPr>
        <p:spPr>
          <a:xfrm>
            <a:off x="4962378" y="49377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6" name="Text 14"/>
          <p:cNvSpPr/>
          <p:nvPr/>
        </p:nvSpPr>
        <p:spPr>
          <a:xfrm>
            <a:off x="5126970" y="50109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3: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Customers pay for uptime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In 34 of the 42 interviews, production downtime weighs more than the contract price.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MINUTES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June 12 committee approved the principle and framed three open questions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strategy committee decision log, June 12, 2026</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09</a:t>
            </a:r>
            <a:endParaRPr lang="en-US" sz="850" dirty="0"/>
          </a:p>
        </p:txBody>
      </p:sp>
      <p:sp>
        <p:nvSpPr>
          <p:cNvPr id="8" name="Shape 6"/>
          <p:cNvSpPr/>
          <p:nvPr/>
        </p:nvSpPr>
        <p:spPr>
          <a:xfrm>
            <a:off x="50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Discussed</a:t>
            </a:r>
            <a:endParaRPr lang="en-US" sz="1400" dirty="0"/>
          </a:p>
        </p:txBody>
      </p:sp>
      <p:sp>
        <p:nvSpPr>
          <p:cNvPr id="10" name="Text 8"/>
          <p:cNvSpPr/>
          <p:nvPr/>
        </p:nvSpPr>
        <p:spPr>
          <a:xfrm>
            <a:off x="66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Market diagnosis shared without reservation</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Debate on the pace: 24 vs 30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HR concern about the training load</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CFO question on sensitivity to the attach rate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Premium price positioning deemed defensible</a:t>
            </a:r>
            <a:endParaRPr lang="en-US" sz="1200" dirty="0"/>
          </a:p>
        </p:txBody>
      </p:sp>
      <p:sp>
        <p:nvSpPr>
          <p:cNvPr id="11" name="Shape 9"/>
          <p:cNvSpPr/>
          <p:nvPr/>
        </p:nvSpPr>
        <p:spPr>
          <a:xfrm>
            <a:off x="431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447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Decided</a:t>
            </a:r>
            <a:endParaRPr lang="en-US" sz="1400" dirty="0"/>
          </a:p>
        </p:txBody>
      </p:sp>
      <p:sp>
        <p:nvSpPr>
          <p:cNvPr id="13" name="Text 11"/>
          <p:cNvSpPr/>
          <p:nvPr/>
        </p:nvSpPr>
        <p:spPr>
          <a:xfrm>
            <a:off x="447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Principle of the services shift approved unanimously</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1.2M M&amp;A study budget released</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North pilot confirmed for Q1 2027</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Go/no-go threshold set: attach rate of 20% or more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Monthly reporting to the strategy committee</a:t>
            </a:r>
            <a:endParaRPr lang="en-US" sz="1200" dirty="0"/>
          </a:p>
        </p:txBody>
      </p:sp>
      <p:sp>
        <p:nvSpPr>
          <p:cNvPr id="14" name="Shape 12"/>
          <p:cNvSpPr/>
          <p:nvPr/>
        </p:nvSpPr>
        <p:spPr>
          <a:xfrm>
            <a:off x="812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5" name="Text 13"/>
          <p:cNvSpPr/>
          <p:nvPr/>
        </p:nvSpPr>
        <p:spPr>
          <a:xfrm>
            <a:off x="828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Open questions</a:t>
            </a:r>
            <a:endParaRPr lang="en-US" sz="1400" dirty="0"/>
          </a:p>
        </p:txBody>
      </p:sp>
      <p:sp>
        <p:nvSpPr>
          <p:cNvPr id="16" name="Text 14"/>
          <p:cNvSpPr/>
          <p:nvPr/>
        </p:nvSpPr>
        <p:spPr>
          <a:xfrm>
            <a:off x="828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Exact scope of the premium offer (SLAs, exclusions)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Handling of ongoing independent contracts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Timeline for communicating to field teams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Future of the Novaserv brand after closing</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Fit with the 2027 plant capex plan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EVIDENCE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Services margin is 2.3 times higher than equipment margin, and the gap is widening</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10</a:t>
            </a:r>
            <a:endParaRPr lang="en-US" sz="850" dirty="0"/>
          </a:p>
        </p:txBody>
      </p:sp>
      <p:sp>
        <p:nvSpPr>
          <p:cNvPr id="8" name="Text 6"/>
          <p:cNvSpPr/>
          <p:nvPr/>
        </p:nvSpPr>
        <p:spPr>
          <a:xfrm>
            <a:off x="502920" y="1719072"/>
            <a:ext cx="725424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Gross margin by activity, %, 2021-2025</a:t>
            </a:r>
            <a:endParaRPr lang="en-US" sz="1000" dirty="0"/>
          </a:p>
        </p:txBody>
      </p:sp>
      <p:graphicFrame>
        <p:nvGraphicFramePr>
          <p:cNvPr id="9" name="Chart 0" descr=""/>
          <p:cNvGraphicFramePr/>
          <p:nvPr/>
        </p:nvGraphicFramePr>
        <p:xfrm>
          <a:off x="502920" y="2029968"/>
          <a:ext cx="7254240" cy="42519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8031480" y="1737360"/>
            <a:ext cx="3627120" cy="274320"/>
          </a:xfrm>
          <a:prstGeom prst="rect">
            <a:avLst/>
          </a:prstGeom>
          <a:noFill/>
          <a:ln/>
        </p:spPr>
        <p:txBody>
          <a:bodyPr wrap="square" lIns="0" tIns="0" rIns="0" bIns="0" rtlCol="0" anchor="ctr"/>
          <a:lstStyle/>
          <a:p>
            <a:pPr indent="0" marL="0">
              <a:buNone/>
            </a:pPr>
            <a:r>
              <a:rPr lang="en-US" sz="1050" b="1" spc="100" kern="0" dirty="0">
                <a:solidFill>
                  <a:srgbClr val="1D5FCC"/>
                </a:solidFill>
                <a:latin typeface="Arial" pitchFamily="34" charset="0"/>
                <a:ea typeface="Arial" pitchFamily="34" charset="-122"/>
                <a:cs typeface="Arial" pitchFamily="34" charset="-120"/>
              </a:rPr>
              <a:t>Proof points</a:t>
            </a:r>
            <a:endParaRPr lang="en-US" sz="1050" dirty="0"/>
          </a:p>
        </p:txBody>
      </p:sp>
      <p:sp>
        <p:nvSpPr>
          <p:cNvPr id="11" name="Text 8"/>
          <p:cNvSpPr/>
          <p:nvPr/>
        </p:nvSpPr>
        <p:spPr>
          <a:xfrm>
            <a:off x="8031480" y="2057400"/>
            <a:ext cx="3627120" cy="429768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Services margin reaches 46% in 2025 versus 20% for equipment, and has been growing 1.2 points per year since 2021. [F]</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gap comes from the mix: multi-year contracts smooth travel costs and raise technician utilization from 61% to 78%. [I]</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Each point of services mix adds roughly 0.55 point of group margin: the 35% mix target lifts group margin from 28% to 34%. [E]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RECOMMENDATION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We recommend acquiring Novaserv and shifting 60% of capex to services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11</a:t>
            </a:r>
            <a:endParaRPr lang="en-US" sz="850" dirty="0"/>
          </a:p>
        </p:txBody>
      </p:sp>
      <p:sp>
        <p:nvSpPr>
          <p:cNvPr id="8" name="SOGRAD~346FD1~154493~90"/>
          <p:cNvSpPr/>
          <p:nvPr/>
        </p:nvSpPr>
        <p:spPr>
          <a:xfrm>
            <a:off x="502920" y="1737360"/>
            <a:ext cx="3752193" cy="4617720"/>
          </a:xfrm>
          <a:prstGeom prst="roundRect">
            <a:avLst>
              <a:gd name="adj" fmla="val 1462"/>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731520" y="1965960"/>
            <a:ext cx="3294993" cy="256032"/>
          </a:xfrm>
          <a:prstGeom prst="rect">
            <a:avLst/>
          </a:prstGeom>
          <a:noFill/>
          <a:ln/>
        </p:spPr>
        <p:txBody>
          <a:bodyPr wrap="square" lIns="0" tIns="0" rIns="0" bIns="0" rtlCol="0" anchor="ctr"/>
          <a:lstStyle/>
          <a:p>
            <a:pPr indent="0" marL="0">
              <a:buNone/>
            </a:pPr>
            <a:r>
              <a:rPr lang="en-US" sz="1000" b="1" spc="200" kern="0" dirty="0">
                <a:solidFill>
                  <a:srgbClr val="5B9CFF"/>
                </a:solidFill>
                <a:latin typeface="Arial" pitchFamily="34" charset="0"/>
                <a:ea typeface="Arial" pitchFamily="34" charset="-122"/>
                <a:cs typeface="Arial" pitchFamily="34" charset="-120"/>
              </a:rPr>
              <a:t>RECOMMENDATION</a:t>
            </a:r>
            <a:endParaRPr lang="en-US" sz="1000" dirty="0"/>
          </a:p>
        </p:txBody>
      </p:sp>
      <p:sp>
        <p:nvSpPr>
          <p:cNvPr id="10" name="Text 8"/>
          <p:cNvSpPr/>
          <p:nvPr/>
        </p:nvSpPr>
        <p:spPr>
          <a:xfrm>
            <a:off x="731520" y="2331720"/>
            <a:ext cx="3294993" cy="2971800"/>
          </a:xfrm>
          <a:prstGeom prst="rect">
            <a:avLst/>
          </a:prstGeom>
          <a:noFill/>
          <a:ln/>
        </p:spPr>
        <p:txBody>
          <a:bodyPr wrap="square" lIns="0" tIns="0" rIns="0" bIns="0" rtlCol="0" anchor="t"/>
          <a:lstStyle/>
          <a:p>
            <a:pPr indent="0" marL="0">
              <a:lnSpc>
                <a:spcPct val="125000"/>
              </a:lnSpc>
              <a:buNone/>
            </a:pPr>
            <a:r>
              <a:rPr lang="en-US" sz="1600" b="1" dirty="0">
                <a:solidFill>
                  <a:srgbClr val="FFFFFF"/>
                </a:solidFill>
                <a:latin typeface="Arial" pitchFamily="34" charset="0"/>
                <a:ea typeface="Arial" pitchFamily="34" charset="-122"/>
                <a:cs typeface="Arial" pitchFamily="34" charset="-120"/>
              </a:rPr>
              <a:t>Acquire Novaserv (offer at 9.5x EBITDA maximum), migrate its contracts to the partner platform, and reallocate 60% of 2027-2029 capex to managed services.</a:t>
            </a:r>
            <a:endParaRPr lang="en-US" sz="1600" dirty="0"/>
          </a:p>
        </p:txBody>
      </p:sp>
      <p:sp>
        <p:nvSpPr>
          <p:cNvPr id="11" name="Text 9"/>
          <p:cNvSpPr/>
          <p:nvPr/>
        </p:nvSpPr>
        <p:spPr>
          <a:xfrm>
            <a:off x="731520" y="5468112"/>
            <a:ext cx="3294993" cy="219456"/>
          </a:xfrm>
          <a:prstGeom prst="rect">
            <a:avLst/>
          </a:prstGeom>
          <a:noFill/>
          <a:ln/>
        </p:spPr>
        <p:txBody>
          <a:bodyPr wrap="square" lIns="0" tIns="0" rIns="0" bIns="0" rtlCol="0" anchor="ctr"/>
          <a:lstStyle/>
          <a:p>
            <a:pPr indent="0" marL="0">
              <a:buNone/>
            </a:pPr>
            <a:r>
              <a:rPr lang="en-US" sz="950" dirty="0">
                <a:solidFill>
                  <a:srgbClr val="C9D2DA"/>
                </a:solidFill>
                <a:latin typeface="Arial" pitchFamily="34" charset="0"/>
                <a:ea typeface="Arial" pitchFamily="34" charset="-122"/>
                <a:cs typeface="Arial" pitchFamily="34" charset="-120"/>
              </a:rPr>
              <a:t>Decision expected by</a:t>
            </a:r>
            <a:endParaRPr lang="en-US" sz="950" dirty="0"/>
          </a:p>
        </p:txBody>
      </p:sp>
      <p:sp>
        <p:nvSpPr>
          <p:cNvPr id="12" name="Text 10"/>
          <p:cNvSpPr/>
          <p:nvPr/>
        </p:nvSpPr>
        <p:spPr>
          <a:xfrm>
            <a:off x="731520" y="5705856"/>
            <a:ext cx="3294993" cy="36576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Committee of September 18, 2026</a:t>
            </a:r>
            <a:endParaRPr lang="en-US" sz="1700" dirty="0"/>
          </a:p>
        </p:txBody>
      </p:sp>
      <p:sp>
        <p:nvSpPr>
          <p:cNvPr id="13" name="Shape 11"/>
          <p:cNvSpPr/>
          <p:nvPr/>
        </p:nvSpPr>
        <p:spPr>
          <a:xfrm>
            <a:off x="4529433" y="1737360"/>
            <a:ext cx="7129167" cy="2413000"/>
          </a:xfrm>
          <a:prstGeom prst="roundRect">
            <a:avLst>
              <a:gd name="adj" fmla="val 227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4" name="Text 12"/>
          <p:cNvSpPr/>
          <p:nvPr/>
        </p:nvSpPr>
        <p:spPr>
          <a:xfrm>
            <a:off x="4694025" y="1901952"/>
            <a:ext cx="6799983"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Why this is the right option</a:t>
            </a:r>
            <a:endParaRPr lang="en-US" sz="1400" dirty="0"/>
          </a:p>
        </p:txBody>
      </p:sp>
      <p:sp>
        <p:nvSpPr>
          <p:cNvPr id="15" name="Text 13"/>
          <p:cNvSpPr/>
          <p:nvPr/>
        </p:nvSpPr>
        <p:spPr>
          <a:xfrm>
            <a:off x="4694025" y="2286000"/>
            <a:ext cx="6799983" cy="1571752"/>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It is the only option combining speed (12-month time-to-market) with control of the end-customer relationship.</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return is measurable: EUR 38M of additional EBITDA in year 3, full payback in 4.2 years in the base case.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Execution risk is bounded: the 400-site pilot validates every assumption before the roll-out.</a:t>
            </a:r>
            <a:endParaRPr lang="en-US" sz="1200" dirty="0"/>
          </a:p>
        </p:txBody>
      </p:sp>
      <p:sp>
        <p:nvSpPr>
          <p:cNvPr id="16" name="Shape 14"/>
          <p:cNvSpPr/>
          <p:nvPr/>
        </p:nvSpPr>
        <p:spPr>
          <a:xfrm>
            <a:off x="4529433" y="4424680"/>
            <a:ext cx="7129167" cy="1930400"/>
          </a:xfrm>
          <a:prstGeom prst="roundRect">
            <a:avLst>
              <a:gd name="adj" fmla="val 2842"/>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4675737" y="4570984"/>
            <a:ext cx="6836559"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Actions required from leadership</a:t>
            </a:r>
            <a:endParaRPr lang="en-US" sz="1400" dirty="0"/>
          </a:p>
        </p:txBody>
      </p:sp>
      <p:sp>
        <p:nvSpPr>
          <p:cNvPr id="18" name="Shape 16"/>
          <p:cNvSpPr/>
          <p:nvPr/>
        </p:nvSpPr>
        <p:spPr>
          <a:xfrm>
            <a:off x="4675737" y="4981109"/>
            <a:ext cx="457200" cy="256032"/>
          </a:xfrm>
          <a:prstGeom prst="roundRect">
            <a:avLst>
              <a:gd name="adj" fmla="val 50000"/>
            </a:avLst>
          </a:prstGeom>
          <a:solidFill>
            <a:srgbClr val="1D5FCC"/>
          </a:solidFill>
          <a:ln/>
        </p:spPr>
      </p:sp>
      <p:sp>
        <p:nvSpPr>
          <p:cNvPr id="19" name="Text 17"/>
          <p:cNvSpPr/>
          <p:nvPr/>
        </p:nvSpPr>
        <p:spPr>
          <a:xfrm>
            <a:off x="4675737" y="4981109"/>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D1</a:t>
            </a:r>
            <a:endParaRPr lang="en-US" sz="1000" dirty="0"/>
          </a:p>
        </p:txBody>
      </p:sp>
      <p:sp>
        <p:nvSpPr>
          <p:cNvPr id="20" name="Text 18"/>
          <p:cNvSpPr/>
          <p:nvPr/>
        </p:nvSpPr>
        <p:spPr>
          <a:xfrm>
            <a:off x="5242665" y="4918456"/>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Mandate the investment bank</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Novaserv letter of intent before end of October</a:t>
            </a:r>
            <a:endParaRPr lang="en-US" sz="1150" dirty="0"/>
          </a:p>
        </p:txBody>
      </p:sp>
      <p:sp>
        <p:nvSpPr>
          <p:cNvPr id="21" name="Shape 19"/>
          <p:cNvSpPr/>
          <p:nvPr/>
        </p:nvSpPr>
        <p:spPr>
          <a:xfrm>
            <a:off x="4675737" y="5435600"/>
            <a:ext cx="457200" cy="256032"/>
          </a:xfrm>
          <a:prstGeom prst="roundRect">
            <a:avLst>
              <a:gd name="adj" fmla="val 50000"/>
            </a:avLst>
          </a:prstGeom>
          <a:solidFill>
            <a:srgbClr val="1D5FCC"/>
          </a:solidFill>
          <a:ln/>
        </p:spPr>
      </p:sp>
      <p:sp>
        <p:nvSpPr>
          <p:cNvPr id="22" name="Text 20"/>
          <p:cNvSpPr/>
          <p:nvPr/>
        </p:nvSpPr>
        <p:spPr>
          <a:xfrm>
            <a:off x="4675737" y="5435600"/>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D2</a:t>
            </a:r>
            <a:endParaRPr lang="en-US" sz="1000" dirty="0"/>
          </a:p>
        </p:txBody>
      </p:sp>
      <p:sp>
        <p:nvSpPr>
          <p:cNvPr id="23" name="Text 21"/>
          <p:cNvSpPr/>
          <p:nvPr/>
        </p:nvSpPr>
        <p:spPr>
          <a:xfrm>
            <a:off x="5242665" y="5372947"/>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Release the pilot budget (EUR 8.5M)</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team, connectivity, premium offer in the North</a:t>
            </a:r>
            <a:endParaRPr lang="en-US" sz="1150" dirty="0"/>
          </a:p>
        </p:txBody>
      </p:sp>
      <p:sp>
        <p:nvSpPr>
          <p:cNvPr id="24" name="Shape 22"/>
          <p:cNvSpPr/>
          <p:nvPr/>
        </p:nvSpPr>
        <p:spPr>
          <a:xfrm>
            <a:off x="4675737" y="5890091"/>
            <a:ext cx="457200" cy="256032"/>
          </a:xfrm>
          <a:prstGeom prst="roundRect">
            <a:avLst>
              <a:gd name="adj" fmla="val 50000"/>
            </a:avLst>
          </a:prstGeom>
          <a:solidFill>
            <a:srgbClr val="1D5FCC"/>
          </a:solidFill>
          <a:ln/>
        </p:spPr>
      </p:sp>
      <p:sp>
        <p:nvSpPr>
          <p:cNvPr id="25" name="Text 23"/>
          <p:cNvSpPr/>
          <p:nvPr/>
        </p:nvSpPr>
        <p:spPr>
          <a:xfrm>
            <a:off x="4675737" y="5890091"/>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D3</a:t>
            </a:r>
            <a:endParaRPr lang="en-US" sz="1000" dirty="0"/>
          </a:p>
        </p:txBody>
      </p:sp>
      <p:sp>
        <p:nvSpPr>
          <p:cNvPr id="26" name="Text 24"/>
          <p:cNvSpPr/>
          <p:nvPr/>
        </p:nvSpPr>
        <p:spPr>
          <a:xfrm>
            <a:off x="5242665" y="5827437"/>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Appoint the executive sponsor</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ExCo member dedicated at 50% minimum</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STRUCTURE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maintenance value leakage plays out across four distinct, cumulative pockets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Sum: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EUR 100M of annual revenue capturable on the existing base, without selling a single new unit.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12</a:t>
            </a:r>
            <a:endParaRPr lang="en-US" sz="850" dirty="0"/>
          </a:p>
        </p:txBody>
      </p:sp>
      <p:sp>
        <p:nvSpPr>
          <p:cNvPr id="11" name="Shape 9"/>
          <p:cNvSpPr/>
          <p:nvPr/>
        </p:nvSpPr>
        <p:spPr>
          <a:xfrm>
            <a:off x="502920" y="1737360"/>
            <a:ext cx="2638044" cy="566928"/>
          </a:xfrm>
          <a:prstGeom prst="rect">
            <a:avLst/>
          </a:prstGeom>
          <a:solidFill>
            <a:srgbClr val="1D5FCC"/>
          </a:solidFill>
          <a:ln/>
        </p:spPr>
      </p:sp>
      <p:sp>
        <p:nvSpPr>
          <p:cNvPr id="12" name="Text 10"/>
          <p:cNvSpPr/>
          <p:nvPr/>
        </p:nvSpPr>
        <p:spPr>
          <a:xfrm>
            <a:off x="612648"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Standard contracts</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42M capturable</a:t>
            </a:r>
            <a:endParaRPr lang="en-US" sz="1250" dirty="0"/>
          </a:p>
        </p:txBody>
      </p:sp>
      <p:sp>
        <p:nvSpPr>
          <p:cNvPr id="13" name="Shape 11"/>
          <p:cNvSpPr/>
          <p:nvPr/>
        </p:nvSpPr>
        <p:spPr>
          <a:xfrm>
            <a:off x="502920" y="2304288"/>
            <a:ext cx="2638044" cy="3337560"/>
          </a:xfrm>
          <a:prstGeom prst="rect">
            <a:avLst/>
          </a:prstGeom>
          <a:solidFill>
            <a:srgbClr val="FFFFFF"/>
          </a:solidFill>
          <a:ln w="9525">
            <a:solidFill>
              <a:srgbClr val="CFCFCF"/>
            </a:solidFill>
            <a:prstDash val="solid"/>
          </a:ln>
        </p:spPr>
      </p:sp>
      <p:sp>
        <p:nvSpPr>
          <p:cNvPr id="14" name="Text 12"/>
          <p:cNvSpPr/>
          <p:nvPr/>
        </p:nvSpPr>
        <p:spPr>
          <a:xfrm>
            <a:off x="640080"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8,900 sites without any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Entry-level offer at EUR 2,400/year</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Channel: dedicated installed-base campaign</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Target conversion rate: 20% in 3 years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Acquisition cost: 5x lower than new sales</a:t>
            </a:r>
            <a:endParaRPr lang="en-US" sz="1100" dirty="0"/>
          </a:p>
        </p:txBody>
      </p:sp>
      <p:sp>
        <p:nvSpPr>
          <p:cNvPr id="15" name="Shape 13"/>
          <p:cNvSpPr/>
          <p:nvPr/>
        </p:nvSpPr>
        <p:spPr>
          <a:xfrm>
            <a:off x="3342132" y="1737360"/>
            <a:ext cx="2638044" cy="566928"/>
          </a:xfrm>
          <a:prstGeom prst="rect">
            <a:avLst/>
          </a:prstGeom>
          <a:solidFill>
            <a:srgbClr val="1D5FCC"/>
          </a:solidFill>
          <a:ln/>
        </p:spPr>
      </p:sp>
      <p:sp>
        <p:nvSpPr>
          <p:cNvPr id="16" name="Text 14"/>
          <p:cNvSpPr/>
          <p:nvPr/>
        </p:nvSpPr>
        <p:spPr>
          <a:xfrm>
            <a:off x="3451860"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Predictive premium</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31M capturable</a:t>
            </a:r>
            <a:endParaRPr lang="en-US" sz="1250" dirty="0"/>
          </a:p>
        </p:txBody>
      </p:sp>
      <p:sp>
        <p:nvSpPr>
          <p:cNvPr id="17" name="Shape 15"/>
          <p:cNvSpPr/>
          <p:nvPr/>
        </p:nvSpPr>
        <p:spPr>
          <a:xfrm>
            <a:off x="3342132" y="2304288"/>
            <a:ext cx="2638044" cy="3337560"/>
          </a:xfrm>
          <a:prstGeom prst="rect">
            <a:avLst/>
          </a:prstGeom>
          <a:solidFill>
            <a:srgbClr val="FFFFFF"/>
          </a:solidFill>
          <a:ln w="9525">
            <a:solidFill>
              <a:srgbClr val="CFCFCF"/>
            </a:solidFill>
            <a:prstDash val="solid"/>
          </a:ln>
        </p:spPr>
      </p:sp>
      <p:sp>
        <p:nvSpPr>
          <p:cNvPr id="18" name="Text 16"/>
          <p:cNvSpPr/>
          <p:nvPr/>
        </p:nvSpPr>
        <p:spPr>
          <a:xfrm>
            <a:off x="3479292"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6,800 sites already connected</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35% premium vs the standard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Differentiated by 11 years of data</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38% of failures predictable at 90 days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Intervention cost reduced by 22%</a:t>
            </a:r>
            <a:endParaRPr lang="en-US" sz="1100" dirty="0"/>
          </a:p>
        </p:txBody>
      </p:sp>
      <p:sp>
        <p:nvSpPr>
          <p:cNvPr id="19" name="Shape 17"/>
          <p:cNvSpPr/>
          <p:nvPr/>
        </p:nvSpPr>
        <p:spPr>
          <a:xfrm>
            <a:off x="6181344" y="1737360"/>
            <a:ext cx="2638044" cy="566928"/>
          </a:xfrm>
          <a:prstGeom prst="rect">
            <a:avLst/>
          </a:prstGeom>
          <a:solidFill>
            <a:srgbClr val="1D5FCC"/>
          </a:solidFill>
          <a:ln/>
        </p:spPr>
      </p:sp>
      <p:sp>
        <p:nvSpPr>
          <p:cNvPr id="20" name="Text 18"/>
          <p:cNvSpPr/>
          <p:nvPr/>
        </p:nvSpPr>
        <p:spPr>
          <a:xfrm>
            <a:off x="6291072"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Spare parts</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19M capturable</a:t>
            </a:r>
            <a:endParaRPr lang="en-US" sz="1250" dirty="0"/>
          </a:p>
        </p:txBody>
      </p:sp>
      <p:sp>
        <p:nvSpPr>
          <p:cNvPr id="21" name="Shape 19"/>
          <p:cNvSpPr/>
          <p:nvPr/>
        </p:nvSpPr>
        <p:spPr>
          <a:xfrm>
            <a:off x="6181344" y="2304288"/>
            <a:ext cx="2638044" cy="3337560"/>
          </a:xfrm>
          <a:prstGeom prst="rect">
            <a:avLst/>
          </a:prstGeom>
          <a:solidFill>
            <a:srgbClr val="FFFFFF"/>
          </a:solidFill>
          <a:ln w="9525">
            <a:solidFill>
              <a:srgbClr val="CFCFCF"/>
            </a:solidFill>
            <a:prstDash val="solid"/>
          </a:ln>
        </p:spPr>
      </p:sp>
      <p:sp>
        <p:nvSpPr>
          <p:cNvPr id="22" name="Text 20"/>
          <p:cNvSpPr/>
          <p:nvPr/>
        </p:nvSpPr>
        <p:spPr>
          <a:xfrm>
            <a:off x="6318504"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Current capture rate: only 31%</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Lever: forward stock in 12 hubs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Parts gross margin: 52%</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Sold by default with the premium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Next-day delivery = the argument against independents</a:t>
            </a:r>
            <a:endParaRPr lang="en-US" sz="1100" dirty="0"/>
          </a:p>
        </p:txBody>
      </p:sp>
      <p:sp>
        <p:nvSpPr>
          <p:cNvPr id="23" name="Shape 21"/>
          <p:cNvSpPr/>
          <p:nvPr/>
        </p:nvSpPr>
        <p:spPr>
          <a:xfrm>
            <a:off x="9020556" y="1737360"/>
            <a:ext cx="2638044" cy="566928"/>
          </a:xfrm>
          <a:prstGeom prst="rect">
            <a:avLst/>
          </a:prstGeom>
          <a:solidFill>
            <a:srgbClr val="1D5FCC"/>
          </a:solidFill>
          <a:ln/>
        </p:spPr>
      </p:sp>
      <p:sp>
        <p:nvSpPr>
          <p:cNvPr id="24" name="Text 22"/>
          <p:cNvSpPr/>
          <p:nvPr/>
        </p:nvSpPr>
        <p:spPr>
          <a:xfrm>
            <a:off x="9130284"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Training &amp; audit</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8M capturable</a:t>
            </a:r>
            <a:endParaRPr lang="en-US" sz="1250" dirty="0"/>
          </a:p>
        </p:txBody>
      </p:sp>
      <p:sp>
        <p:nvSpPr>
          <p:cNvPr id="25" name="Shape 23"/>
          <p:cNvSpPr/>
          <p:nvPr/>
        </p:nvSpPr>
        <p:spPr>
          <a:xfrm>
            <a:off x="9020556" y="2304288"/>
            <a:ext cx="2638044" cy="3337560"/>
          </a:xfrm>
          <a:prstGeom prst="rect">
            <a:avLst/>
          </a:prstGeom>
          <a:solidFill>
            <a:srgbClr val="FFFFFF"/>
          </a:solidFill>
          <a:ln w="9525">
            <a:solidFill>
              <a:srgbClr val="CFCFCF"/>
            </a:solidFill>
            <a:prstDash val="solid"/>
          </a:ln>
        </p:spPr>
      </p:sp>
      <p:sp>
        <p:nvSpPr>
          <p:cNvPr id="26" name="Text 24"/>
          <p:cNvSpPr/>
          <p:nvPr/>
        </p:nvSpPr>
        <p:spPr>
          <a:xfrm>
            <a:off x="9157716"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Regulatory requirement as of January 1, 2027</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Packaged with the maintenance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High margin (61%), low volume</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Entry point into customers without a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Capacity: 15 auditors to certify by end 2026</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SCENARIOS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Even in the low scenario, the shift creates more value than the current plan</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Sensitivity: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The decision's break-even is a 14% attach rate: the pilot measured 26%.</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13</a:t>
            </a:r>
            <a:endParaRPr lang="en-US" sz="850" dirty="0"/>
          </a:p>
        </p:txBody>
      </p:sp>
      <p:sp>
        <p:nvSpPr>
          <p:cNvPr id="11" name="Shape 9"/>
          <p:cNvSpPr/>
          <p:nvPr/>
        </p:nvSpPr>
        <p:spPr>
          <a:xfrm>
            <a:off x="50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685800" y="1920240"/>
            <a:ext cx="316992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Low scenario</a:t>
            </a:r>
            <a:endParaRPr lang="en-US" sz="1500" dirty="0"/>
          </a:p>
        </p:txBody>
      </p:sp>
      <p:sp>
        <p:nvSpPr>
          <p:cNvPr id="13" name="Text 11"/>
          <p:cNvSpPr/>
          <p:nvPr/>
        </p:nvSpPr>
        <p:spPr>
          <a:xfrm>
            <a:off x="685800" y="2249424"/>
            <a:ext cx="3169920"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Slow adoption</a:t>
            </a:r>
            <a:endParaRPr lang="en-US" sz="1100" dirty="0"/>
          </a:p>
        </p:txBody>
      </p:sp>
      <p:sp>
        <p:nvSpPr>
          <p:cNvPr id="14" name="Text 12"/>
          <p:cNvSpPr/>
          <p:nvPr/>
        </p:nvSpPr>
        <p:spPr>
          <a:xfrm>
            <a:off x="685800" y="260604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Services mix 2029</a:t>
            </a:r>
            <a:endParaRPr lang="en-US" sz="1050" dirty="0"/>
          </a:p>
        </p:txBody>
      </p:sp>
      <p:sp>
        <p:nvSpPr>
          <p:cNvPr id="15" name="Text 13"/>
          <p:cNvSpPr/>
          <p:nvPr/>
        </p:nvSpPr>
        <p:spPr>
          <a:xfrm>
            <a:off x="2429256" y="260604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28%</a:t>
            </a:r>
            <a:endParaRPr lang="en-US" sz="1100" dirty="0"/>
          </a:p>
        </p:txBody>
      </p:sp>
      <p:sp>
        <p:nvSpPr>
          <p:cNvPr id="16" name="Text 14"/>
          <p:cNvSpPr/>
          <p:nvPr/>
        </p:nvSpPr>
        <p:spPr>
          <a:xfrm>
            <a:off x="685800" y="288036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EBITDA 2029</a:t>
            </a:r>
            <a:endParaRPr lang="en-US" sz="1050" dirty="0"/>
          </a:p>
        </p:txBody>
      </p:sp>
      <p:sp>
        <p:nvSpPr>
          <p:cNvPr id="17" name="Text 15"/>
          <p:cNvSpPr/>
          <p:nvPr/>
        </p:nvSpPr>
        <p:spPr>
          <a:xfrm>
            <a:off x="2429256" y="288036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118M</a:t>
            </a:r>
            <a:endParaRPr lang="en-US" sz="1100" dirty="0"/>
          </a:p>
        </p:txBody>
      </p:sp>
      <p:sp>
        <p:nvSpPr>
          <p:cNvPr id="18" name="Text 16"/>
          <p:cNvSpPr/>
          <p:nvPr/>
        </p:nvSpPr>
        <p:spPr>
          <a:xfrm>
            <a:off x="685800" y="315468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Payback</a:t>
            </a:r>
            <a:endParaRPr lang="en-US" sz="1050" dirty="0"/>
          </a:p>
        </p:txBody>
      </p:sp>
      <p:sp>
        <p:nvSpPr>
          <p:cNvPr id="19" name="Text 17"/>
          <p:cNvSpPr/>
          <p:nvPr/>
        </p:nvSpPr>
        <p:spPr>
          <a:xfrm>
            <a:off x="2429256" y="315468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5.8 yrs</a:t>
            </a:r>
            <a:endParaRPr lang="en-US" sz="1100" dirty="0"/>
          </a:p>
        </p:txBody>
      </p:sp>
      <p:sp>
        <p:nvSpPr>
          <p:cNvPr id="20" name="Text 18"/>
          <p:cNvSpPr/>
          <p:nvPr/>
        </p:nvSpPr>
        <p:spPr>
          <a:xfrm>
            <a:off x="685800" y="342900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NPV at 9%</a:t>
            </a:r>
            <a:endParaRPr lang="en-US" sz="1050" dirty="0"/>
          </a:p>
        </p:txBody>
      </p:sp>
      <p:sp>
        <p:nvSpPr>
          <p:cNvPr id="21" name="Text 19"/>
          <p:cNvSpPr/>
          <p:nvPr/>
        </p:nvSpPr>
        <p:spPr>
          <a:xfrm>
            <a:off x="2429256" y="342900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64M</a:t>
            </a:r>
            <a:endParaRPr lang="en-US" sz="1100" dirty="0"/>
          </a:p>
        </p:txBody>
      </p:sp>
      <p:sp>
        <p:nvSpPr>
          <p:cNvPr id="22" name="Shape 20"/>
          <p:cNvSpPr/>
          <p:nvPr/>
        </p:nvSpPr>
        <p:spPr>
          <a:xfrm>
            <a:off x="685800" y="3758184"/>
            <a:ext cx="3169920" cy="0"/>
          </a:xfrm>
          <a:prstGeom prst="line">
            <a:avLst/>
          </a:prstGeom>
          <a:noFill/>
          <a:ln w="6350">
            <a:solidFill>
              <a:srgbClr val="CFCFCF"/>
            </a:solidFill>
            <a:prstDash val="solid"/>
          </a:ln>
        </p:spPr>
      </p:sp>
      <p:sp>
        <p:nvSpPr>
          <p:cNvPr id="23" name="Text 21"/>
          <p:cNvSpPr/>
          <p:nvPr/>
        </p:nvSpPr>
        <p:spPr>
          <a:xfrm>
            <a:off x="68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595959"/>
                </a:solidFill>
                <a:latin typeface="Arial" pitchFamily="34" charset="0"/>
                <a:ea typeface="Arial" pitchFamily="34" charset="-122"/>
                <a:cs typeface="Arial" pitchFamily="34" charset="-120"/>
              </a:rPr>
              <a:t>Pilot attach rate at 18%, Novaserv migration in 24 months, no price premium.</a:t>
            </a:r>
            <a:endParaRPr lang="en-US" sz="1000" dirty="0"/>
          </a:p>
        </p:txBody>
      </p:sp>
      <p:sp>
        <p:nvSpPr>
          <p:cNvPr id="24" name="SOGRAD~346FD1~154493~90"/>
          <p:cNvSpPr/>
          <p:nvPr/>
        </p:nvSpPr>
        <p:spPr>
          <a:xfrm>
            <a:off x="4312920" y="1737360"/>
            <a:ext cx="3535680" cy="3904488"/>
          </a:xfrm>
          <a:prstGeom prst="roundRect">
            <a:avLst>
              <a:gd name="adj" fmla="val 1552"/>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6658051" y="1883664"/>
            <a:ext cx="1044245" cy="219456"/>
          </a:xfrm>
          <a:prstGeom prst="roundRect">
            <a:avLst>
              <a:gd name="adj" fmla="val 50000"/>
            </a:avLst>
          </a:prstGeom>
          <a:solidFill>
            <a:srgbClr val="FFFFFF"/>
          </a:solidFill>
          <a:ln/>
          <a:effectLst>
            <a:outerShdw sx="100000" sy="100000" kx="0" ky="0" algn="bl" rotWithShape="0" blurRad="88900" dist="25400" dir="2700000">
              <a:srgbClr val="1A1A1A">
                <a:alpha val="12000"/>
              </a:srgbClr>
            </a:outerShdw>
          </a:effectLst>
        </p:spPr>
      </p:sp>
      <p:sp>
        <p:nvSpPr>
          <p:cNvPr id="26" name="Text 24"/>
          <p:cNvSpPr/>
          <p:nvPr/>
        </p:nvSpPr>
        <p:spPr>
          <a:xfrm>
            <a:off x="6658051" y="1883664"/>
            <a:ext cx="1044245" cy="219456"/>
          </a:xfrm>
          <a:prstGeom prst="rect">
            <a:avLst/>
          </a:prstGeom>
          <a:noFill/>
          <a:ln/>
        </p:spPr>
        <p:txBody>
          <a:bodyPr wrap="square" lIns="0" tIns="0" rIns="0" bIns="0" rtlCol="0" anchor="ctr"/>
          <a:lstStyle/>
          <a:p>
            <a:pPr algn="ctr" indent="0" marL="0">
              <a:buNone/>
            </a:pPr>
            <a:r>
              <a:rPr lang="en-US" sz="800" b="1" spc="150" kern="0" dirty="0">
                <a:solidFill>
                  <a:srgbClr val="1D5FCC"/>
                </a:solidFill>
                <a:latin typeface="Arial" pitchFamily="34" charset="0"/>
                <a:ea typeface="Arial" pitchFamily="34" charset="-122"/>
                <a:cs typeface="Arial" pitchFamily="34" charset="-120"/>
              </a:rPr>
              <a:t>RECOMMENDED</a:t>
            </a:r>
            <a:endParaRPr lang="en-US" sz="800" dirty="0"/>
          </a:p>
        </p:txBody>
      </p:sp>
      <p:sp>
        <p:nvSpPr>
          <p:cNvPr id="27" name="Text 25"/>
          <p:cNvSpPr/>
          <p:nvPr/>
        </p:nvSpPr>
        <p:spPr>
          <a:xfrm>
            <a:off x="4495800" y="1920240"/>
            <a:ext cx="3169920" cy="310896"/>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Base case</a:t>
            </a:r>
            <a:endParaRPr lang="en-US" sz="1500" dirty="0"/>
          </a:p>
        </p:txBody>
      </p:sp>
      <p:sp>
        <p:nvSpPr>
          <p:cNvPr id="28" name="Text 26"/>
          <p:cNvSpPr/>
          <p:nvPr/>
        </p:nvSpPr>
        <p:spPr>
          <a:xfrm>
            <a:off x="4495800" y="2249424"/>
            <a:ext cx="3169920" cy="237744"/>
          </a:xfrm>
          <a:prstGeom prst="rect">
            <a:avLst/>
          </a:prstGeom>
          <a:noFill/>
          <a:ln/>
        </p:spPr>
        <p:txBody>
          <a:bodyPr wrap="square" lIns="0" tIns="0" rIns="0" bIns="0" rtlCol="0" anchor="ctr"/>
          <a:lstStyle/>
          <a:p>
            <a:pPr indent="0" marL="0">
              <a:buNone/>
            </a:pPr>
            <a:r>
              <a:rPr lang="en-US" sz="1100" b="1" dirty="0">
                <a:solidFill>
                  <a:srgbClr val="5B9CFF"/>
                </a:solidFill>
                <a:latin typeface="Arial" pitchFamily="34" charset="0"/>
                <a:ea typeface="Arial" pitchFamily="34" charset="-122"/>
                <a:cs typeface="Arial" pitchFamily="34" charset="-120"/>
              </a:rPr>
              <a:t>Pilot trajectory</a:t>
            </a:r>
            <a:endParaRPr lang="en-US" sz="1100" dirty="0"/>
          </a:p>
        </p:txBody>
      </p:sp>
      <p:sp>
        <p:nvSpPr>
          <p:cNvPr id="29" name="Text 27"/>
          <p:cNvSpPr/>
          <p:nvPr/>
        </p:nvSpPr>
        <p:spPr>
          <a:xfrm>
            <a:off x="4495800" y="260604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Services mix 2029</a:t>
            </a:r>
            <a:endParaRPr lang="en-US" sz="1050" dirty="0"/>
          </a:p>
        </p:txBody>
      </p:sp>
      <p:sp>
        <p:nvSpPr>
          <p:cNvPr id="30" name="Text 28"/>
          <p:cNvSpPr/>
          <p:nvPr/>
        </p:nvSpPr>
        <p:spPr>
          <a:xfrm>
            <a:off x="6239256" y="260604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35%</a:t>
            </a:r>
            <a:endParaRPr lang="en-US" sz="1100" dirty="0"/>
          </a:p>
        </p:txBody>
      </p:sp>
      <p:sp>
        <p:nvSpPr>
          <p:cNvPr id="31" name="Text 29"/>
          <p:cNvSpPr/>
          <p:nvPr/>
        </p:nvSpPr>
        <p:spPr>
          <a:xfrm>
            <a:off x="4495800" y="288036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EBITDA 2029</a:t>
            </a:r>
            <a:endParaRPr lang="en-US" sz="1050" dirty="0"/>
          </a:p>
        </p:txBody>
      </p:sp>
      <p:sp>
        <p:nvSpPr>
          <p:cNvPr id="32" name="Text 30"/>
          <p:cNvSpPr/>
          <p:nvPr/>
        </p:nvSpPr>
        <p:spPr>
          <a:xfrm>
            <a:off x="6239256" y="288036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EUR 152M</a:t>
            </a:r>
            <a:endParaRPr lang="en-US" sz="1100" dirty="0"/>
          </a:p>
        </p:txBody>
      </p:sp>
      <p:sp>
        <p:nvSpPr>
          <p:cNvPr id="33" name="Text 31"/>
          <p:cNvSpPr/>
          <p:nvPr/>
        </p:nvSpPr>
        <p:spPr>
          <a:xfrm>
            <a:off x="4495800" y="315468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Payback</a:t>
            </a:r>
            <a:endParaRPr lang="en-US" sz="1050" dirty="0"/>
          </a:p>
        </p:txBody>
      </p:sp>
      <p:sp>
        <p:nvSpPr>
          <p:cNvPr id="34" name="Text 32"/>
          <p:cNvSpPr/>
          <p:nvPr/>
        </p:nvSpPr>
        <p:spPr>
          <a:xfrm>
            <a:off x="6239256" y="315468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4.2 yrs</a:t>
            </a:r>
            <a:endParaRPr lang="en-US" sz="1100" dirty="0"/>
          </a:p>
        </p:txBody>
      </p:sp>
      <p:sp>
        <p:nvSpPr>
          <p:cNvPr id="35" name="Text 33"/>
          <p:cNvSpPr/>
          <p:nvPr/>
        </p:nvSpPr>
        <p:spPr>
          <a:xfrm>
            <a:off x="4495800" y="342900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NPV at 9%</a:t>
            </a:r>
            <a:endParaRPr lang="en-US" sz="1050" dirty="0"/>
          </a:p>
        </p:txBody>
      </p:sp>
      <p:sp>
        <p:nvSpPr>
          <p:cNvPr id="36" name="Text 34"/>
          <p:cNvSpPr/>
          <p:nvPr/>
        </p:nvSpPr>
        <p:spPr>
          <a:xfrm>
            <a:off x="6239256" y="342900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+EUR 147M</a:t>
            </a:r>
            <a:endParaRPr lang="en-US" sz="1100" dirty="0"/>
          </a:p>
        </p:txBody>
      </p:sp>
      <p:sp>
        <p:nvSpPr>
          <p:cNvPr id="37" name="Shape 35"/>
          <p:cNvSpPr/>
          <p:nvPr/>
        </p:nvSpPr>
        <p:spPr>
          <a:xfrm>
            <a:off x="4495800" y="3758184"/>
            <a:ext cx="3169920" cy="0"/>
          </a:xfrm>
          <a:prstGeom prst="line">
            <a:avLst/>
          </a:prstGeom>
          <a:noFill/>
          <a:ln w="6350">
            <a:solidFill>
              <a:srgbClr val="4A555F"/>
            </a:solidFill>
            <a:prstDash val="solid"/>
          </a:ln>
        </p:spPr>
      </p:sp>
      <p:sp>
        <p:nvSpPr>
          <p:cNvPr id="38" name="Text 36"/>
          <p:cNvSpPr/>
          <p:nvPr/>
        </p:nvSpPr>
        <p:spPr>
          <a:xfrm>
            <a:off x="449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DEE4E9"/>
                </a:solidFill>
                <a:latin typeface="Arial" pitchFamily="34" charset="0"/>
                <a:ea typeface="Arial" pitchFamily="34" charset="-122"/>
                <a:cs typeface="Arial" pitchFamily="34" charset="-120"/>
              </a:rPr>
              <a:t>26% attach rate (measured on the North pilot), 8% predictive premium, Novaserv synergies at 12 months.</a:t>
            </a:r>
            <a:endParaRPr lang="en-US" sz="1000" dirty="0"/>
          </a:p>
        </p:txBody>
      </p:sp>
      <p:sp>
        <p:nvSpPr>
          <p:cNvPr id="39" name="Shape 37"/>
          <p:cNvSpPr/>
          <p:nvPr/>
        </p:nvSpPr>
        <p:spPr>
          <a:xfrm>
            <a:off x="812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40" name="Text 38"/>
          <p:cNvSpPr/>
          <p:nvPr/>
        </p:nvSpPr>
        <p:spPr>
          <a:xfrm>
            <a:off x="8305800" y="1920240"/>
            <a:ext cx="316992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High scenario</a:t>
            </a:r>
            <a:endParaRPr lang="en-US" sz="1500" dirty="0"/>
          </a:p>
        </p:txBody>
      </p:sp>
      <p:sp>
        <p:nvSpPr>
          <p:cNvPr id="41" name="Text 39"/>
          <p:cNvSpPr/>
          <p:nvPr/>
        </p:nvSpPr>
        <p:spPr>
          <a:xfrm>
            <a:off x="8305800" y="2249424"/>
            <a:ext cx="3169920"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Fast shift</a:t>
            </a:r>
            <a:endParaRPr lang="en-US" sz="1100" dirty="0"/>
          </a:p>
        </p:txBody>
      </p:sp>
      <p:sp>
        <p:nvSpPr>
          <p:cNvPr id="42" name="Text 40"/>
          <p:cNvSpPr/>
          <p:nvPr/>
        </p:nvSpPr>
        <p:spPr>
          <a:xfrm>
            <a:off x="8305800" y="260604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Services mix 2029</a:t>
            </a:r>
            <a:endParaRPr lang="en-US" sz="1050" dirty="0"/>
          </a:p>
        </p:txBody>
      </p:sp>
      <p:sp>
        <p:nvSpPr>
          <p:cNvPr id="43" name="Text 41"/>
          <p:cNvSpPr/>
          <p:nvPr/>
        </p:nvSpPr>
        <p:spPr>
          <a:xfrm>
            <a:off x="10049256" y="260604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41%</a:t>
            </a:r>
            <a:endParaRPr lang="en-US" sz="1100" dirty="0"/>
          </a:p>
        </p:txBody>
      </p:sp>
      <p:sp>
        <p:nvSpPr>
          <p:cNvPr id="44" name="Text 42"/>
          <p:cNvSpPr/>
          <p:nvPr/>
        </p:nvSpPr>
        <p:spPr>
          <a:xfrm>
            <a:off x="8305800" y="288036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EBITDA 2029</a:t>
            </a:r>
            <a:endParaRPr lang="en-US" sz="1050" dirty="0"/>
          </a:p>
        </p:txBody>
      </p:sp>
      <p:sp>
        <p:nvSpPr>
          <p:cNvPr id="45" name="Text 43"/>
          <p:cNvSpPr/>
          <p:nvPr/>
        </p:nvSpPr>
        <p:spPr>
          <a:xfrm>
            <a:off x="10049256" y="288036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176M</a:t>
            </a:r>
            <a:endParaRPr lang="en-US" sz="1100" dirty="0"/>
          </a:p>
        </p:txBody>
      </p:sp>
      <p:sp>
        <p:nvSpPr>
          <p:cNvPr id="46" name="Text 44"/>
          <p:cNvSpPr/>
          <p:nvPr/>
        </p:nvSpPr>
        <p:spPr>
          <a:xfrm>
            <a:off x="8305800" y="315468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Payback</a:t>
            </a:r>
            <a:endParaRPr lang="en-US" sz="1050" dirty="0"/>
          </a:p>
        </p:txBody>
      </p:sp>
      <p:sp>
        <p:nvSpPr>
          <p:cNvPr id="47" name="Text 45"/>
          <p:cNvSpPr/>
          <p:nvPr/>
        </p:nvSpPr>
        <p:spPr>
          <a:xfrm>
            <a:off x="10049256" y="315468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3.4 yrs</a:t>
            </a:r>
            <a:endParaRPr lang="en-US" sz="1100" dirty="0"/>
          </a:p>
        </p:txBody>
      </p:sp>
      <p:sp>
        <p:nvSpPr>
          <p:cNvPr id="48" name="Text 46"/>
          <p:cNvSpPr/>
          <p:nvPr/>
        </p:nvSpPr>
        <p:spPr>
          <a:xfrm>
            <a:off x="8305800" y="342900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NPV at 9%</a:t>
            </a:r>
            <a:endParaRPr lang="en-US" sz="1050" dirty="0"/>
          </a:p>
        </p:txBody>
      </p:sp>
      <p:sp>
        <p:nvSpPr>
          <p:cNvPr id="49" name="Text 47"/>
          <p:cNvSpPr/>
          <p:nvPr/>
        </p:nvSpPr>
        <p:spPr>
          <a:xfrm>
            <a:off x="10049256" y="342900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215M</a:t>
            </a:r>
            <a:endParaRPr lang="en-US" sz="1100" dirty="0"/>
          </a:p>
        </p:txBody>
      </p:sp>
      <p:sp>
        <p:nvSpPr>
          <p:cNvPr id="50" name="Shape 48"/>
          <p:cNvSpPr/>
          <p:nvPr/>
        </p:nvSpPr>
        <p:spPr>
          <a:xfrm>
            <a:off x="8305800" y="3758184"/>
            <a:ext cx="3169920" cy="0"/>
          </a:xfrm>
          <a:prstGeom prst="line">
            <a:avLst/>
          </a:prstGeom>
          <a:noFill/>
          <a:ln w="6350">
            <a:solidFill>
              <a:srgbClr val="CFCFCF"/>
            </a:solidFill>
            <a:prstDash val="solid"/>
          </a:ln>
        </p:spPr>
      </p:sp>
      <p:sp>
        <p:nvSpPr>
          <p:cNvPr id="51" name="Text 49"/>
          <p:cNvSpPr/>
          <p:nvPr/>
        </p:nvSpPr>
        <p:spPr>
          <a:xfrm>
            <a:off x="830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595959"/>
                </a:solidFill>
                <a:latin typeface="Arial" pitchFamily="34" charset="0"/>
                <a:ea typeface="Arial" pitchFamily="34" charset="-122"/>
                <a:cs typeface="Arial" pitchFamily="34" charset="-120"/>
              </a:rPr>
              <a:t>The 2027 regulation accelerates the mandatory audit, 31% attach rate, extension to the Benelux base.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STEERCO — JULY 2026</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program is green on the pilot, two decisions gate wave 2</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program reporting W28; Meridio PMO</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14</a:t>
            </a:r>
            <a:endParaRPr lang="en-US" sz="850" dirty="0"/>
          </a:p>
        </p:txBody>
      </p:sp>
      <p:sp>
        <p:nvSpPr>
          <p:cNvPr id="8" name="Shape 6"/>
          <p:cNvSpPr/>
          <p:nvPr/>
        </p:nvSpPr>
        <p:spPr>
          <a:xfrm>
            <a:off x="502920"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30936"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Overall progress</a:t>
            </a:r>
            <a:endParaRPr lang="en-US" sz="950" dirty="0"/>
          </a:p>
        </p:txBody>
      </p:sp>
      <p:sp>
        <p:nvSpPr>
          <p:cNvPr id="10" name="Shape 8"/>
          <p:cNvSpPr/>
          <p:nvPr/>
        </p:nvSpPr>
        <p:spPr>
          <a:xfrm>
            <a:off x="630936" y="2121408"/>
            <a:ext cx="164592" cy="164592"/>
          </a:xfrm>
          <a:prstGeom prst="ellipse">
            <a:avLst/>
          </a:prstGeom>
          <a:solidFill>
            <a:srgbClr val="2E7D32"/>
          </a:solidFill>
          <a:ln/>
        </p:spPr>
      </p:sp>
      <p:sp>
        <p:nvSpPr>
          <p:cNvPr id="11" name="Text 9"/>
          <p:cNvSpPr/>
          <p:nvPr/>
        </p:nvSpPr>
        <p:spPr>
          <a:xfrm>
            <a:off x="868680"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On plan</a:t>
            </a:r>
            <a:endParaRPr lang="en-US" sz="1150" dirty="0"/>
          </a:p>
        </p:txBody>
      </p:sp>
      <p:sp>
        <p:nvSpPr>
          <p:cNvPr id="12" name="Shape 10"/>
          <p:cNvSpPr/>
          <p:nvPr/>
        </p:nvSpPr>
        <p:spPr>
          <a:xfrm>
            <a:off x="3342132"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Text 11"/>
          <p:cNvSpPr/>
          <p:nvPr/>
        </p:nvSpPr>
        <p:spPr>
          <a:xfrm>
            <a:off x="3470148"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Budget</a:t>
            </a:r>
            <a:endParaRPr lang="en-US" sz="950" dirty="0"/>
          </a:p>
        </p:txBody>
      </p:sp>
      <p:sp>
        <p:nvSpPr>
          <p:cNvPr id="14" name="Shape 12"/>
          <p:cNvSpPr/>
          <p:nvPr/>
        </p:nvSpPr>
        <p:spPr>
          <a:xfrm>
            <a:off x="3470148" y="2121408"/>
            <a:ext cx="164592" cy="164592"/>
          </a:xfrm>
          <a:prstGeom prst="ellipse">
            <a:avLst/>
          </a:prstGeom>
          <a:solidFill>
            <a:srgbClr val="2E7D32"/>
          </a:solidFill>
          <a:ln/>
        </p:spPr>
      </p:sp>
      <p:sp>
        <p:nvSpPr>
          <p:cNvPr id="15" name="Text 13"/>
          <p:cNvSpPr/>
          <p:nvPr/>
        </p:nvSpPr>
        <p:spPr>
          <a:xfrm>
            <a:off x="3707892"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94% on track</a:t>
            </a:r>
            <a:endParaRPr lang="en-US" sz="1150" dirty="0"/>
          </a:p>
        </p:txBody>
      </p:sp>
      <p:sp>
        <p:nvSpPr>
          <p:cNvPr id="16" name="Shape 14"/>
          <p:cNvSpPr/>
          <p:nvPr/>
        </p:nvSpPr>
        <p:spPr>
          <a:xfrm>
            <a:off x="6181344"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6309360"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Tech recruitment</a:t>
            </a:r>
            <a:endParaRPr lang="en-US" sz="950" dirty="0"/>
          </a:p>
        </p:txBody>
      </p:sp>
      <p:sp>
        <p:nvSpPr>
          <p:cNvPr id="18" name="Shape 16"/>
          <p:cNvSpPr/>
          <p:nvPr/>
        </p:nvSpPr>
        <p:spPr>
          <a:xfrm>
            <a:off x="6309360" y="2121408"/>
            <a:ext cx="164592" cy="164592"/>
          </a:xfrm>
          <a:prstGeom prst="ellipse">
            <a:avLst/>
          </a:prstGeom>
          <a:solidFill>
            <a:srgbClr val="E68A00"/>
          </a:solidFill>
          <a:ln/>
        </p:spPr>
      </p:sp>
      <p:sp>
        <p:nvSpPr>
          <p:cNvPr id="19" name="Text 17"/>
          <p:cNvSpPr/>
          <p:nvPr/>
        </p:nvSpPr>
        <p:spPr>
          <a:xfrm>
            <a:off x="6547104"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12/18 filled</a:t>
            </a:r>
            <a:endParaRPr lang="en-US" sz="1150" dirty="0"/>
          </a:p>
        </p:txBody>
      </p:sp>
      <p:sp>
        <p:nvSpPr>
          <p:cNvPr id="20" name="Shape 18"/>
          <p:cNvSpPr/>
          <p:nvPr/>
        </p:nvSpPr>
        <p:spPr>
          <a:xfrm>
            <a:off x="9020556"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Text 19"/>
          <p:cNvSpPr/>
          <p:nvPr/>
        </p:nvSpPr>
        <p:spPr>
          <a:xfrm>
            <a:off x="9148572"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Novaserv integration</a:t>
            </a:r>
            <a:endParaRPr lang="en-US" sz="950" dirty="0"/>
          </a:p>
        </p:txBody>
      </p:sp>
      <p:sp>
        <p:nvSpPr>
          <p:cNvPr id="22" name="Shape 20"/>
          <p:cNvSpPr/>
          <p:nvPr/>
        </p:nvSpPr>
        <p:spPr>
          <a:xfrm>
            <a:off x="9148572" y="2121408"/>
            <a:ext cx="164592" cy="164592"/>
          </a:xfrm>
          <a:prstGeom prst="ellipse">
            <a:avLst/>
          </a:prstGeom>
          <a:solidFill>
            <a:srgbClr val="E68A00"/>
          </a:solidFill>
          <a:ln/>
        </p:spPr>
      </p:sp>
      <p:sp>
        <p:nvSpPr>
          <p:cNvPr id="23" name="Text 21"/>
          <p:cNvSpPr/>
          <p:nvPr/>
        </p:nvSpPr>
        <p:spPr>
          <a:xfrm>
            <a:off x="9386316"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M6 milestone at risk</a:t>
            </a:r>
            <a:endParaRPr lang="en-US" sz="1150" dirty="0"/>
          </a:p>
        </p:txBody>
      </p:sp>
      <p:sp>
        <p:nvSpPr>
          <p:cNvPr id="24" name="Shape 22"/>
          <p:cNvSpPr/>
          <p:nvPr/>
        </p:nvSpPr>
        <p:spPr>
          <a:xfrm>
            <a:off x="50292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649224" y="3314700"/>
            <a:ext cx="502920" cy="64008"/>
          </a:xfrm>
          <a:prstGeom prst="roundRect">
            <a:avLst>
              <a:gd name="adj" fmla="val 50000"/>
            </a:avLst>
          </a:prstGeom>
          <a:solidFill>
            <a:srgbClr val="2E7D32"/>
          </a:solidFill>
          <a:ln/>
        </p:spPr>
      </p:sp>
      <p:sp>
        <p:nvSpPr>
          <p:cNvPr id="26" name="Text 24"/>
          <p:cNvSpPr/>
          <p:nvPr/>
        </p:nvSpPr>
        <p:spPr>
          <a:xfrm>
            <a:off x="649224" y="3387852"/>
            <a:ext cx="3273552" cy="256032"/>
          </a:xfrm>
          <a:prstGeom prst="rect">
            <a:avLst/>
          </a:prstGeom>
          <a:noFill/>
          <a:ln/>
        </p:spPr>
        <p:txBody>
          <a:bodyPr wrap="square" lIns="0" tIns="0" rIns="0" bIns="0" rtlCol="0" anchor="ctr"/>
          <a:lstStyle/>
          <a:p>
            <a:pPr indent="0" marL="0">
              <a:buNone/>
            </a:pPr>
            <a:r>
              <a:rPr lang="en-US" sz="1300" b="1" dirty="0">
                <a:solidFill>
                  <a:srgbClr val="2E7D32"/>
                </a:solidFill>
                <a:latin typeface="Arial" pitchFamily="34" charset="0"/>
                <a:ea typeface="Arial" pitchFamily="34" charset="-122"/>
                <a:cs typeface="Arial" pitchFamily="34" charset="-120"/>
              </a:rPr>
              <a:t>Progress this period</a:t>
            </a:r>
            <a:endParaRPr lang="en-US" sz="1300" dirty="0"/>
          </a:p>
        </p:txBody>
      </p:sp>
      <p:sp>
        <p:nvSpPr>
          <p:cNvPr id="27" name="Text 25"/>
          <p:cNvSpPr/>
          <p:nvPr/>
        </p:nvSpPr>
        <p:spPr>
          <a:xfrm>
            <a:off x="64922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North pilot: 412 sites equipped, 26% attach rate</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Premium offer legally validated in 3 regions</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Migration of the first 700 Novaserv contracts completed</a:t>
            </a:r>
            <a:endParaRPr lang="en-US" sz="1100" dirty="0"/>
          </a:p>
        </p:txBody>
      </p:sp>
      <p:sp>
        <p:nvSpPr>
          <p:cNvPr id="28" name="Shape 26"/>
          <p:cNvSpPr/>
          <p:nvPr/>
        </p:nvSpPr>
        <p:spPr>
          <a:xfrm>
            <a:off x="429768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Shape 27"/>
          <p:cNvSpPr/>
          <p:nvPr/>
        </p:nvSpPr>
        <p:spPr>
          <a:xfrm>
            <a:off x="4443984" y="3314700"/>
            <a:ext cx="502920" cy="64008"/>
          </a:xfrm>
          <a:prstGeom prst="roundRect">
            <a:avLst>
              <a:gd name="adj" fmla="val 50000"/>
            </a:avLst>
          </a:prstGeom>
          <a:solidFill>
            <a:srgbClr val="1D5FCC"/>
          </a:solidFill>
          <a:ln/>
        </p:spPr>
      </p:sp>
      <p:sp>
        <p:nvSpPr>
          <p:cNvPr id="30" name="Text 28"/>
          <p:cNvSpPr/>
          <p:nvPr/>
        </p:nvSpPr>
        <p:spPr>
          <a:xfrm>
            <a:off x="4443984" y="3387852"/>
            <a:ext cx="3273552" cy="256032"/>
          </a:xfrm>
          <a:prstGeom prst="rect">
            <a:avLst/>
          </a:prstGeom>
          <a:noFill/>
          <a:ln/>
        </p:spPr>
        <p:txBody>
          <a:bodyPr wrap="square" lIns="0" tIns="0" rIns="0" bIns="0" rtlCol="0" anchor="ctr"/>
          <a:lstStyle/>
          <a:p>
            <a:pPr indent="0" marL="0">
              <a:buNone/>
            </a:pPr>
            <a:r>
              <a:rPr lang="en-US" sz="1300" b="1" dirty="0">
                <a:solidFill>
                  <a:srgbClr val="1D5FCC"/>
                </a:solidFill>
                <a:latin typeface="Arial" pitchFamily="34" charset="0"/>
                <a:ea typeface="Arial" pitchFamily="34" charset="-122"/>
                <a:cs typeface="Arial" pitchFamily="34" charset="-120"/>
              </a:rPr>
              <a:t>Decisions required</a:t>
            </a:r>
            <a:endParaRPr lang="en-US" sz="1300" dirty="0"/>
          </a:p>
        </p:txBody>
      </p:sp>
      <p:sp>
        <p:nvSpPr>
          <p:cNvPr id="31" name="Text 29"/>
          <p:cNvSpPr/>
          <p:nvPr/>
        </p:nvSpPr>
        <p:spPr>
          <a:xfrm>
            <a:off x="444398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Approve the pilot extension to the East region (EUR 2.1M)</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Decide parts pricing for standard contracts</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Confirm the internal announcement date for the program (W38)</a:t>
            </a:r>
            <a:endParaRPr lang="en-US" sz="1100" dirty="0"/>
          </a:p>
        </p:txBody>
      </p:sp>
      <p:sp>
        <p:nvSpPr>
          <p:cNvPr id="32" name="Shape 30"/>
          <p:cNvSpPr/>
          <p:nvPr/>
        </p:nvSpPr>
        <p:spPr>
          <a:xfrm>
            <a:off x="809244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3" name="Shape 31"/>
          <p:cNvSpPr/>
          <p:nvPr/>
        </p:nvSpPr>
        <p:spPr>
          <a:xfrm>
            <a:off x="8238744" y="3314700"/>
            <a:ext cx="502920" cy="64008"/>
          </a:xfrm>
          <a:prstGeom prst="roundRect">
            <a:avLst>
              <a:gd name="adj" fmla="val 50000"/>
            </a:avLst>
          </a:prstGeom>
          <a:solidFill>
            <a:srgbClr val="C62828"/>
          </a:solidFill>
          <a:ln/>
        </p:spPr>
      </p:sp>
      <p:sp>
        <p:nvSpPr>
          <p:cNvPr id="34" name="Text 32"/>
          <p:cNvSpPr/>
          <p:nvPr/>
        </p:nvSpPr>
        <p:spPr>
          <a:xfrm>
            <a:off x="8238744" y="3387852"/>
            <a:ext cx="3273552" cy="256032"/>
          </a:xfrm>
          <a:prstGeom prst="rect">
            <a:avLst/>
          </a:prstGeom>
          <a:noFill/>
          <a:ln/>
        </p:spPr>
        <p:txBody>
          <a:bodyPr wrap="square" lIns="0" tIns="0" rIns="0" bIns="0" rtlCol="0" anchor="ctr"/>
          <a:lstStyle/>
          <a:p>
            <a:pPr indent="0" marL="0">
              <a:buNone/>
            </a:pPr>
            <a:r>
              <a:rPr lang="en-US" sz="1300" b="1" dirty="0">
                <a:solidFill>
                  <a:srgbClr val="C62828"/>
                </a:solidFill>
                <a:latin typeface="Arial" pitchFamily="34" charset="0"/>
                <a:ea typeface="Arial" pitchFamily="34" charset="-122"/>
                <a:cs typeface="Arial" pitchFamily="34" charset="-120"/>
              </a:rPr>
              <a:t>Key risks</a:t>
            </a:r>
            <a:endParaRPr lang="en-US" sz="1300" dirty="0"/>
          </a:p>
        </p:txBody>
      </p:sp>
      <p:sp>
        <p:nvSpPr>
          <p:cNvPr id="35" name="Text 33"/>
          <p:cNvSpPr/>
          <p:nvPr/>
        </p:nvSpPr>
        <p:spPr>
          <a:xfrm>
            <a:off x="823874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Senior attrition: 4 departures in Q2, retention plan to be reinforced</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Platform dependence: partner SLA under review</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Training delay: 12 trained out of 18 planned at W28</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CUSTOMER FINDINGS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42 customer interviews converge: uptime outweighs price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42 customer interviews, April-June 2026;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15</a:t>
            </a:r>
            <a:endParaRPr lang="en-US" sz="850" dirty="0"/>
          </a:p>
        </p:txBody>
      </p:sp>
      <p:sp>
        <p:nvSpPr>
          <p:cNvPr id="8" name="Shape 6"/>
          <p:cNvSpPr/>
          <p:nvPr/>
        </p:nvSpPr>
        <p:spPr>
          <a:xfrm>
            <a:off x="502920" y="1737360"/>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49224" y="2266188"/>
            <a:ext cx="347472" cy="347472"/>
          </a:xfrm>
          <a:prstGeom prst="ellipse">
            <a:avLst/>
          </a:prstGeom>
          <a:solidFill>
            <a:srgbClr val="1D5FCC"/>
          </a:solidFill>
          <a:ln/>
        </p:spPr>
      </p:sp>
      <p:sp>
        <p:nvSpPr>
          <p:cNvPr id="10" name="Text 8"/>
          <p:cNvSpPr/>
          <p:nvPr/>
        </p:nvSpPr>
        <p:spPr>
          <a:xfrm>
            <a:off x="649224" y="2266188"/>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01</a:t>
            </a:r>
            <a:endParaRPr lang="en-US" sz="1100" dirty="0"/>
          </a:p>
        </p:txBody>
      </p:sp>
      <p:sp>
        <p:nvSpPr>
          <p:cNvPr id="11" name="Text 9"/>
          <p:cNvSpPr/>
          <p:nvPr/>
        </p:nvSpPr>
        <p:spPr>
          <a:xfrm>
            <a:off x="1161288" y="1828800"/>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Production downtime costs more than the contract</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An unplanned stoppage costs a median EUR 34k per day; the premium contract costs EUR 3.3k per year.</a:t>
            </a:r>
            <a:endParaRPr lang="en-US" sz="1250" dirty="0"/>
          </a:p>
        </p:txBody>
      </p:sp>
      <p:sp>
        <p:nvSpPr>
          <p:cNvPr id="12" name="Shape 10"/>
          <p:cNvSpPr/>
          <p:nvPr/>
        </p:nvSpPr>
        <p:spPr>
          <a:xfrm>
            <a:off x="9098280" y="2055876"/>
            <a:ext cx="1115568" cy="768096"/>
          </a:xfrm>
          <a:prstGeom prst="rect">
            <a:avLst/>
          </a:prstGeom>
          <a:solidFill>
            <a:srgbClr val="FFFFFF"/>
          </a:solidFill>
          <a:ln w="9525">
            <a:solidFill>
              <a:srgbClr val="CFCFCF"/>
            </a:solidFill>
            <a:prstDash val="solid"/>
          </a:ln>
        </p:spPr>
      </p:sp>
      <p:sp>
        <p:nvSpPr>
          <p:cNvPr id="13" name="Text 11"/>
          <p:cNvSpPr/>
          <p:nvPr/>
        </p:nvSpPr>
        <p:spPr>
          <a:xfrm>
            <a:off x="9098280" y="2092452"/>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EUR 34k</a:t>
            </a:r>
            <a:endParaRPr lang="en-US" sz="1600" dirty="0"/>
          </a:p>
        </p:txBody>
      </p:sp>
      <p:sp>
        <p:nvSpPr>
          <p:cNvPr id="14" name="Text 12"/>
          <p:cNvSpPr/>
          <p:nvPr/>
        </p:nvSpPr>
        <p:spPr>
          <a:xfrm>
            <a:off x="9098280" y="2476500"/>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cost per day of downtime</a:t>
            </a:r>
            <a:endParaRPr lang="en-US" sz="850" dirty="0"/>
          </a:p>
        </p:txBody>
      </p:sp>
      <p:sp>
        <p:nvSpPr>
          <p:cNvPr id="15" name="Shape 13"/>
          <p:cNvSpPr/>
          <p:nvPr/>
        </p:nvSpPr>
        <p:spPr>
          <a:xfrm>
            <a:off x="10332720" y="2055876"/>
            <a:ext cx="1115568" cy="768096"/>
          </a:xfrm>
          <a:prstGeom prst="rect">
            <a:avLst/>
          </a:prstGeom>
          <a:solidFill>
            <a:srgbClr val="FFFFFF"/>
          </a:solidFill>
          <a:ln w="9525">
            <a:solidFill>
              <a:srgbClr val="CFCFCF"/>
            </a:solidFill>
            <a:prstDash val="solid"/>
          </a:ln>
        </p:spPr>
      </p:sp>
      <p:sp>
        <p:nvSpPr>
          <p:cNvPr id="16" name="Text 14"/>
          <p:cNvSpPr/>
          <p:nvPr/>
        </p:nvSpPr>
        <p:spPr>
          <a:xfrm>
            <a:off x="10332720" y="2092452"/>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81%</a:t>
            </a:r>
            <a:endParaRPr lang="en-US" sz="1600" dirty="0"/>
          </a:p>
        </p:txBody>
      </p:sp>
      <p:sp>
        <p:nvSpPr>
          <p:cNvPr id="17" name="Text 15"/>
          <p:cNvSpPr/>
          <p:nvPr/>
        </p:nvSpPr>
        <p:spPr>
          <a:xfrm>
            <a:off x="10332720" y="2476500"/>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cite uptime first</a:t>
            </a:r>
            <a:endParaRPr lang="en-US" sz="850" dirty="0"/>
          </a:p>
        </p:txBody>
      </p:sp>
      <p:sp>
        <p:nvSpPr>
          <p:cNvPr id="18" name="Shape 16"/>
          <p:cNvSpPr/>
          <p:nvPr/>
        </p:nvSpPr>
        <p:spPr>
          <a:xfrm>
            <a:off x="502920" y="3343656"/>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9" name="Shape 17"/>
          <p:cNvSpPr/>
          <p:nvPr/>
        </p:nvSpPr>
        <p:spPr>
          <a:xfrm>
            <a:off x="649224" y="3872484"/>
            <a:ext cx="347472" cy="347472"/>
          </a:xfrm>
          <a:prstGeom prst="ellipse">
            <a:avLst/>
          </a:prstGeom>
          <a:solidFill>
            <a:srgbClr val="1D5FCC"/>
          </a:solidFill>
          <a:ln/>
        </p:spPr>
      </p:sp>
      <p:sp>
        <p:nvSpPr>
          <p:cNvPr id="20" name="Text 18"/>
          <p:cNvSpPr/>
          <p:nvPr/>
        </p:nvSpPr>
        <p:spPr>
          <a:xfrm>
            <a:off x="649224" y="38724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02</a:t>
            </a:r>
            <a:endParaRPr lang="en-US" sz="1100" dirty="0"/>
          </a:p>
        </p:txBody>
      </p:sp>
      <p:sp>
        <p:nvSpPr>
          <p:cNvPr id="21" name="Text 19"/>
          <p:cNvSpPr/>
          <p:nvPr/>
        </p:nvSpPr>
        <p:spPr>
          <a:xfrm>
            <a:off x="1161288" y="3435096"/>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Trust in predictive maintenance already exists</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Connected customers accept sharing usage data as long as the benefit is contractualized.</a:t>
            </a:r>
            <a:endParaRPr lang="en-US" sz="1250" dirty="0"/>
          </a:p>
        </p:txBody>
      </p:sp>
      <p:sp>
        <p:nvSpPr>
          <p:cNvPr id="22" name="Shape 20"/>
          <p:cNvSpPr/>
          <p:nvPr/>
        </p:nvSpPr>
        <p:spPr>
          <a:xfrm>
            <a:off x="9098280" y="3662172"/>
            <a:ext cx="1115568" cy="768096"/>
          </a:xfrm>
          <a:prstGeom prst="rect">
            <a:avLst/>
          </a:prstGeom>
          <a:solidFill>
            <a:srgbClr val="FFFFFF"/>
          </a:solidFill>
          <a:ln w="9525">
            <a:solidFill>
              <a:srgbClr val="CFCFCF"/>
            </a:solidFill>
            <a:prstDash val="solid"/>
          </a:ln>
        </p:spPr>
      </p:sp>
      <p:sp>
        <p:nvSpPr>
          <p:cNvPr id="23" name="Text 21"/>
          <p:cNvSpPr/>
          <p:nvPr/>
        </p:nvSpPr>
        <p:spPr>
          <a:xfrm>
            <a:off x="9098280" y="3698748"/>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74%</a:t>
            </a:r>
            <a:endParaRPr lang="en-US" sz="1600" dirty="0"/>
          </a:p>
        </p:txBody>
      </p:sp>
      <p:sp>
        <p:nvSpPr>
          <p:cNvPr id="24" name="Text 22"/>
          <p:cNvSpPr/>
          <p:nvPr/>
        </p:nvSpPr>
        <p:spPr>
          <a:xfrm>
            <a:off x="9098280" y="4082796"/>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willing to share</a:t>
            </a:r>
            <a:endParaRPr lang="en-US" sz="850" dirty="0"/>
          </a:p>
        </p:txBody>
      </p:sp>
      <p:sp>
        <p:nvSpPr>
          <p:cNvPr id="25" name="Shape 23"/>
          <p:cNvSpPr/>
          <p:nvPr/>
        </p:nvSpPr>
        <p:spPr>
          <a:xfrm>
            <a:off x="10332720" y="3662172"/>
            <a:ext cx="1115568" cy="768096"/>
          </a:xfrm>
          <a:prstGeom prst="rect">
            <a:avLst/>
          </a:prstGeom>
          <a:solidFill>
            <a:srgbClr val="FFFFFF"/>
          </a:solidFill>
          <a:ln w="9525">
            <a:solidFill>
              <a:srgbClr val="CFCFCF"/>
            </a:solidFill>
            <a:prstDash val="solid"/>
          </a:ln>
        </p:spPr>
      </p:sp>
      <p:sp>
        <p:nvSpPr>
          <p:cNvPr id="26" name="Text 24"/>
          <p:cNvSpPr/>
          <p:nvPr/>
        </p:nvSpPr>
        <p:spPr>
          <a:xfrm>
            <a:off x="10332720" y="3698748"/>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+8-12%</a:t>
            </a:r>
            <a:endParaRPr lang="en-US" sz="1600" dirty="0"/>
          </a:p>
        </p:txBody>
      </p:sp>
      <p:sp>
        <p:nvSpPr>
          <p:cNvPr id="27" name="Text 25"/>
          <p:cNvSpPr/>
          <p:nvPr/>
        </p:nvSpPr>
        <p:spPr>
          <a:xfrm>
            <a:off x="10332720" y="4082796"/>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accepted premium</a:t>
            </a:r>
            <a:endParaRPr lang="en-US" sz="850" dirty="0"/>
          </a:p>
        </p:txBody>
      </p:sp>
      <p:sp>
        <p:nvSpPr>
          <p:cNvPr id="28" name="Shape 26"/>
          <p:cNvSpPr/>
          <p:nvPr/>
        </p:nvSpPr>
        <p:spPr>
          <a:xfrm>
            <a:off x="502920" y="4949952"/>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Shape 27"/>
          <p:cNvSpPr/>
          <p:nvPr/>
        </p:nvSpPr>
        <p:spPr>
          <a:xfrm>
            <a:off x="649224" y="5478780"/>
            <a:ext cx="347472" cy="347472"/>
          </a:xfrm>
          <a:prstGeom prst="ellipse">
            <a:avLst/>
          </a:prstGeom>
          <a:solidFill>
            <a:srgbClr val="1D5FCC"/>
          </a:solidFill>
          <a:ln/>
        </p:spPr>
      </p:sp>
      <p:sp>
        <p:nvSpPr>
          <p:cNvPr id="30" name="Text 28"/>
          <p:cNvSpPr/>
          <p:nvPr/>
        </p:nvSpPr>
        <p:spPr>
          <a:xfrm>
            <a:off x="649224" y="54787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03</a:t>
            </a:r>
            <a:endParaRPr lang="en-US" sz="1100" dirty="0"/>
          </a:p>
        </p:txBody>
      </p:sp>
      <p:sp>
        <p:nvSpPr>
          <p:cNvPr id="31" name="Text 29"/>
          <p:cNvSpPr/>
          <p:nvPr/>
        </p:nvSpPr>
        <p:spPr>
          <a:xfrm>
            <a:off x="1161288" y="5041392"/>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Independents win on proximity, not quality</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Choosing an independent maintainer is a choice of perceived responsiveness: exactly Meridio's field advantage.</a:t>
            </a:r>
            <a:endParaRPr lang="en-US" sz="1250" dirty="0"/>
          </a:p>
        </p:txBody>
      </p:sp>
      <p:sp>
        <p:nvSpPr>
          <p:cNvPr id="32" name="Shape 30"/>
          <p:cNvSpPr/>
          <p:nvPr/>
        </p:nvSpPr>
        <p:spPr>
          <a:xfrm>
            <a:off x="9098280" y="5268468"/>
            <a:ext cx="1115568" cy="768096"/>
          </a:xfrm>
          <a:prstGeom prst="rect">
            <a:avLst/>
          </a:prstGeom>
          <a:solidFill>
            <a:srgbClr val="FFFFFF"/>
          </a:solidFill>
          <a:ln w="9525">
            <a:solidFill>
              <a:srgbClr val="CFCFCF"/>
            </a:solidFill>
            <a:prstDash val="solid"/>
          </a:ln>
        </p:spPr>
      </p:sp>
      <p:sp>
        <p:nvSpPr>
          <p:cNvPr id="33" name="Text 31"/>
          <p:cNvSpPr/>
          <p:nvPr/>
        </p:nvSpPr>
        <p:spPr>
          <a:xfrm>
            <a:off x="9098280" y="5305044"/>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61%</a:t>
            </a:r>
            <a:endParaRPr lang="en-US" sz="1600" dirty="0"/>
          </a:p>
        </p:txBody>
      </p:sp>
      <p:sp>
        <p:nvSpPr>
          <p:cNvPr id="34" name="Text 32"/>
          <p:cNvSpPr/>
          <p:nvPr/>
        </p:nvSpPr>
        <p:spPr>
          <a:xfrm>
            <a:off x="9098280" y="5689092"/>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cite responsiveness</a:t>
            </a:r>
            <a:endParaRPr lang="en-US" sz="850" dirty="0"/>
          </a:p>
        </p:txBody>
      </p:sp>
      <p:sp>
        <p:nvSpPr>
          <p:cNvPr id="35" name="Shape 33"/>
          <p:cNvSpPr/>
          <p:nvPr/>
        </p:nvSpPr>
        <p:spPr>
          <a:xfrm>
            <a:off x="10332720" y="5268468"/>
            <a:ext cx="1115568" cy="768096"/>
          </a:xfrm>
          <a:prstGeom prst="rect">
            <a:avLst/>
          </a:prstGeom>
          <a:solidFill>
            <a:srgbClr val="FFFFFF"/>
          </a:solidFill>
          <a:ln w="9525">
            <a:solidFill>
              <a:srgbClr val="CFCFCF"/>
            </a:solidFill>
            <a:prstDash val="solid"/>
          </a:ln>
        </p:spPr>
      </p:sp>
      <p:sp>
        <p:nvSpPr>
          <p:cNvPr id="36" name="Text 34"/>
          <p:cNvSpPr/>
          <p:nvPr/>
        </p:nvSpPr>
        <p:spPr>
          <a:xfrm>
            <a:off x="10332720" y="5305044"/>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2 hrs</a:t>
            </a:r>
            <a:endParaRPr lang="en-US" sz="1600" dirty="0"/>
          </a:p>
        </p:txBody>
      </p:sp>
      <p:sp>
        <p:nvSpPr>
          <p:cNvPr id="37" name="Text 35"/>
          <p:cNvSpPr/>
          <p:nvPr/>
        </p:nvSpPr>
        <p:spPr>
          <a:xfrm>
            <a:off x="10332720" y="5689092"/>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median Meridio lead time</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TRADE-OFFS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Four trade-offs structure the September committee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16</a:t>
            </a:r>
            <a:endParaRPr lang="en-US" sz="850" dirty="0"/>
          </a:p>
        </p:txBody>
      </p:sp>
      <p:sp>
        <p:nvSpPr>
          <p:cNvPr id="8" name="Shape 6"/>
          <p:cNvSpPr/>
          <p:nvPr/>
        </p:nvSpPr>
        <p:spPr>
          <a:xfrm>
            <a:off x="502920"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49224" y="1883664"/>
            <a:ext cx="457200" cy="237744"/>
          </a:xfrm>
          <a:prstGeom prst="roundRect">
            <a:avLst>
              <a:gd name="adj" fmla="val 50000"/>
            </a:avLst>
          </a:prstGeom>
          <a:solidFill>
            <a:srgbClr val="1D5FCC"/>
          </a:solidFill>
          <a:ln/>
        </p:spPr>
      </p:sp>
      <p:sp>
        <p:nvSpPr>
          <p:cNvPr id="10" name="Text 8"/>
          <p:cNvSpPr/>
          <p:nvPr/>
        </p:nvSpPr>
        <p:spPr>
          <a:xfrm>
            <a:off x="649224"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D1</a:t>
            </a:r>
            <a:endParaRPr lang="en-US" sz="950" dirty="0"/>
          </a:p>
        </p:txBody>
      </p:sp>
      <p:sp>
        <p:nvSpPr>
          <p:cNvPr id="11" name="Text 9"/>
          <p:cNvSpPr/>
          <p:nvPr/>
        </p:nvSpPr>
        <p:spPr>
          <a:xfrm>
            <a:off x="1216152"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M&amp;A scope</a:t>
            </a:r>
            <a:endParaRPr lang="en-US" sz="1250" dirty="0"/>
          </a:p>
        </p:txBody>
      </p:sp>
      <p:sp>
        <p:nvSpPr>
          <p:cNvPr id="12" name="Text 10"/>
          <p:cNvSpPr/>
          <p:nvPr/>
        </p:nvSpPr>
        <p:spPr>
          <a:xfrm>
            <a:off x="649224"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Novaserv offer expires September 30; a second player (Techniparc) is being approached by a fund.</a:t>
            </a:r>
            <a:endParaRPr lang="en-US" sz="1050" dirty="0"/>
          </a:p>
        </p:txBody>
      </p:sp>
      <p:sp>
        <p:nvSpPr>
          <p:cNvPr id="13" name="Text 11"/>
          <p:cNvSpPr/>
          <p:nvPr/>
        </p:nvSpPr>
        <p:spPr>
          <a:xfrm>
            <a:off x="649224"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Firm offer at 9.5x EBITDA maximum, 60-day exclusivity.</a:t>
            </a:r>
            <a:endParaRPr lang="en-US" sz="1050" dirty="0"/>
          </a:p>
        </p:txBody>
      </p:sp>
      <p:sp>
        <p:nvSpPr>
          <p:cNvPr id="14" name="Text 12"/>
          <p:cNvSpPr/>
          <p:nvPr/>
        </p:nvSpPr>
        <p:spPr>
          <a:xfrm>
            <a:off x="649224"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Likely loss of the target to the fund; the alternative is 18 months slower.</a:t>
            </a:r>
            <a:endParaRPr lang="en-US" sz="1050" dirty="0"/>
          </a:p>
        </p:txBody>
      </p:sp>
      <p:sp>
        <p:nvSpPr>
          <p:cNvPr id="15" name="Shape 13"/>
          <p:cNvSpPr/>
          <p:nvPr/>
        </p:nvSpPr>
        <p:spPr>
          <a:xfrm>
            <a:off x="3342132"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6" name="Shape 14"/>
          <p:cNvSpPr/>
          <p:nvPr/>
        </p:nvSpPr>
        <p:spPr>
          <a:xfrm>
            <a:off x="3488436" y="1883664"/>
            <a:ext cx="457200" cy="237744"/>
          </a:xfrm>
          <a:prstGeom prst="roundRect">
            <a:avLst>
              <a:gd name="adj" fmla="val 50000"/>
            </a:avLst>
          </a:prstGeom>
          <a:solidFill>
            <a:srgbClr val="1D5FCC"/>
          </a:solidFill>
          <a:ln/>
        </p:spPr>
      </p:sp>
      <p:sp>
        <p:nvSpPr>
          <p:cNvPr id="17" name="Text 15"/>
          <p:cNvSpPr/>
          <p:nvPr/>
        </p:nvSpPr>
        <p:spPr>
          <a:xfrm>
            <a:off x="3488436"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D2</a:t>
            </a:r>
            <a:endParaRPr lang="en-US" sz="950" dirty="0"/>
          </a:p>
        </p:txBody>
      </p:sp>
      <p:sp>
        <p:nvSpPr>
          <p:cNvPr id="18" name="Text 16"/>
          <p:cNvSpPr/>
          <p:nvPr/>
        </p:nvSpPr>
        <p:spPr>
          <a:xfrm>
            <a:off x="4055364"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Roll-out pace</a:t>
            </a:r>
            <a:endParaRPr lang="en-US" sz="1250" dirty="0"/>
          </a:p>
        </p:txBody>
      </p:sp>
      <p:sp>
        <p:nvSpPr>
          <p:cNvPr id="19" name="Text 17"/>
          <p:cNvSpPr/>
          <p:nvPr/>
        </p:nvSpPr>
        <p:spPr>
          <a:xfrm>
            <a:off x="3488436"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pilot supports a roll-out in 18 or 24 months depending on training capacity.</a:t>
            </a:r>
            <a:endParaRPr lang="en-US" sz="1050" dirty="0"/>
          </a:p>
        </p:txBody>
      </p:sp>
      <p:sp>
        <p:nvSpPr>
          <p:cNvPr id="20" name="Text 18"/>
          <p:cNvSpPr/>
          <p:nvPr/>
        </p:nvSpPr>
        <p:spPr>
          <a:xfrm>
            <a:off x="3488436"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24 months: align the waves with the existing training cohorts.</a:t>
            </a:r>
            <a:endParaRPr lang="en-US" sz="1050" dirty="0"/>
          </a:p>
        </p:txBody>
      </p:sp>
      <p:sp>
        <p:nvSpPr>
          <p:cNvPr id="21" name="Text 19"/>
          <p:cNvSpPr/>
          <p:nvPr/>
        </p:nvSpPr>
        <p:spPr>
          <a:xfrm>
            <a:off x="3488436"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Default decision = 24 months, but without securing external trainers.</a:t>
            </a:r>
            <a:endParaRPr lang="en-US" sz="1050" dirty="0"/>
          </a:p>
        </p:txBody>
      </p:sp>
      <p:sp>
        <p:nvSpPr>
          <p:cNvPr id="22" name="Shape 20"/>
          <p:cNvSpPr/>
          <p:nvPr/>
        </p:nvSpPr>
        <p:spPr>
          <a:xfrm>
            <a:off x="6181344"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3" name="Shape 21"/>
          <p:cNvSpPr/>
          <p:nvPr/>
        </p:nvSpPr>
        <p:spPr>
          <a:xfrm>
            <a:off x="6327648" y="1883664"/>
            <a:ext cx="457200" cy="237744"/>
          </a:xfrm>
          <a:prstGeom prst="roundRect">
            <a:avLst>
              <a:gd name="adj" fmla="val 50000"/>
            </a:avLst>
          </a:prstGeom>
          <a:solidFill>
            <a:srgbClr val="1D5FCC"/>
          </a:solidFill>
          <a:ln/>
        </p:spPr>
      </p:sp>
      <p:sp>
        <p:nvSpPr>
          <p:cNvPr id="24" name="Text 22"/>
          <p:cNvSpPr/>
          <p:nvPr/>
        </p:nvSpPr>
        <p:spPr>
          <a:xfrm>
            <a:off x="6327648"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D3</a:t>
            </a:r>
            <a:endParaRPr lang="en-US" sz="950" dirty="0"/>
          </a:p>
        </p:txBody>
      </p:sp>
      <p:sp>
        <p:nvSpPr>
          <p:cNvPr id="25" name="Text 23"/>
          <p:cNvSpPr/>
          <p:nvPr/>
        </p:nvSpPr>
        <p:spPr>
          <a:xfrm>
            <a:off x="6894576"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Linked pricing</a:t>
            </a:r>
            <a:endParaRPr lang="en-US" sz="1250" dirty="0"/>
          </a:p>
        </p:txBody>
      </p:sp>
      <p:sp>
        <p:nvSpPr>
          <p:cNvPr id="26" name="Text 24"/>
          <p:cNvSpPr/>
          <p:nvPr/>
        </p:nvSpPr>
        <p:spPr>
          <a:xfrm>
            <a:off x="6327648"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equipment discount conditional on a 5-year contract cannibalizes 4 points of new-sales margin.</a:t>
            </a:r>
            <a:endParaRPr lang="en-US" sz="1050" dirty="0"/>
          </a:p>
        </p:txBody>
      </p:sp>
      <p:sp>
        <p:nvSpPr>
          <p:cNvPr id="27" name="Text 25"/>
          <p:cNvSpPr/>
          <p:nvPr/>
        </p:nvSpPr>
        <p:spPr>
          <a:xfrm>
            <a:off x="6327648"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Accept the cannibalization: the contract NPV covers 2.6x the discount.</a:t>
            </a:r>
            <a:endParaRPr lang="en-US" sz="1050" dirty="0"/>
          </a:p>
        </p:txBody>
      </p:sp>
      <p:sp>
        <p:nvSpPr>
          <p:cNvPr id="28" name="Text 26"/>
          <p:cNvSpPr/>
          <p:nvPr/>
        </p:nvSpPr>
        <p:spPr>
          <a:xfrm>
            <a:off x="6327648"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Sales reps will sell equipment without attach, reproducing the current leakage.</a:t>
            </a:r>
            <a:endParaRPr lang="en-US" sz="1050" dirty="0"/>
          </a:p>
        </p:txBody>
      </p:sp>
      <p:sp>
        <p:nvSpPr>
          <p:cNvPr id="29" name="Shape 27"/>
          <p:cNvSpPr/>
          <p:nvPr/>
        </p:nvSpPr>
        <p:spPr>
          <a:xfrm>
            <a:off x="9020556"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0" name="Shape 28"/>
          <p:cNvSpPr/>
          <p:nvPr/>
        </p:nvSpPr>
        <p:spPr>
          <a:xfrm>
            <a:off x="9166860" y="1883664"/>
            <a:ext cx="457200" cy="237744"/>
          </a:xfrm>
          <a:prstGeom prst="roundRect">
            <a:avLst>
              <a:gd name="adj" fmla="val 50000"/>
            </a:avLst>
          </a:prstGeom>
          <a:solidFill>
            <a:srgbClr val="1D5FCC"/>
          </a:solidFill>
          <a:ln/>
        </p:spPr>
      </p:sp>
      <p:sp>
        <p:nvSpPr>
          <p:cNvPr id="31" name="Text 29"/>
          <p:cNvSpPr/>
          <p:nvPr/>
        </p:nvSpPr>
        <p:spPr>
          <a:xfrm>
            <a:off x="9166860"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D4</a:t>
            </a:r>
            <a:endParaRPr lang="en-US" sz="950" dirty="0"/>
          </a:p>
        </p:txBody>
      </p:sp>
      <p:sp>
        <p:nvSpPr>
          <p:cNvPr id="32" name="Text 30"/>
          <p:cNvSpPr/>
          <p:nvPr/>
        </p:nvSpPr>
        <p:spPr>
          <a:xfrm>
            <a:off x="9733788"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Program governance</a:t>
            </a:r>
            <a:endParaRPr lang="en-US" sz="1250" dirty="0"/>
          </a:p>
        </p:txBody>
      </p:sp>
      <p:sp>
        <p:nvSpPr>
          <p:cNvPr id="33" name="Text 31"/>
          <p:cNvSpPr/>
          <p:nvPr/>
        </p:nvSpPr>
        <p:spPr>
          <a:xfrm>
            <a:off x="9166860"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program spans five departments; current steering is handled part-time by Strategy.</a:t>
            </a:r>
            <a:endParaRPr lang="en-US" sz="1050" dirty="0"/>
          </a:p>
        </p:txBody>
      </p:sp>
      <p:sp>
        <p:nvSpPr>
          <p:cNvPr id="34" name="Text 32"/>
          <p:cNvSpPr/>
          <p:nvPr/>
        </p:nvSpPr>
        <p:spPr>
          <a:xfrm>
            <a:off x="9166860"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ExCo sponsor dedicated at 50% + a 4-person PMO.</a:t>
            </a:r>
            <a:endParaRPr lang="en-US" sz="1050" dirty="0"/>
          </a:p>
        </p:txBody>
      </p:sp>
      <p:sp>
        <p:nvSpPr>
          <p:cNvPr id="35" name="Text 33"/>
          <p:cNvSpPr/>
          <p:nvPr/>
        </p:nvSpPr>
        <p:spPr>
          <a:xfrm>
            <a:off x="9166860"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Each department optimizes locally; the M12 timeline becomes untenable.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FIRST 100 DAYS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first 100 days secure the acquisition, the teams and the pilot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Checkpoint: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100-day exit milestone: pilot attach rate of 20% or more, otherwise review the investment case.</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17</a:t>
            </a:r>
            <a:endParaRPr lang="en-US" sz="850" dirty="0"/>
          </a:p>
        </p:txBody>
      </p:sp>
      <p:sp>
        <p:nvSpPr>
          <p:cNvPr id="11" name="Shape 9"/>
          <p:cNvSpPr/>
          <p:nvPr/>
        </p:nvSpPr>
        <p:spPr>
          <a:xfrm>
            <a:off x="502920" y="1737360"/>
            <a:ext cx="3584448" cy="548640"/>
          </a:xfrm>
          <a:prstGeom prst="rect">
            <a:avLst/>
          </a:prstGeom>
          <a:solidFill>
            <a:srgbClr val="2E7CF6"/>
          </a:solidFill>
          <a:ln/>
        </p:spPr>
      </p:sp>
      <p:sp>
        <p:nvSpPr>
          <p:cNvPr id="12" name="Text 10"/>
          <p:cNvSpPr/>
          <p:nvPr/>
        </p:nvSpPr>
        <p:spPr>
          <a:xfrm>
            <a:off x="630936"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Mobilize</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0-30</a:t>
            </a:r>
            <a:endParaRPr lang="en-US" sz="1250" dirty="0"/>
          </a:p>
        </p:txBody>
      </p:sp>
      <p:sp>
        <p:nvSpPr>
          <p:cNvPr id="13" name="Shape 11"/>
          <p:cNvSpPr/>
          <p:nvPr/>
        </p:nvSpPr>
        <p:spPr>
          <a:xfrm>
            <a:off x="502920" y="2414016"/>
            <a:ext cx="3584448" cy="1002792"/>
          </a:xfrm>
          <a:prstGeom prst="rect">
            <a:avLst/>
          </a:prstGeom>
          <a:solidFill>
            <a:srgbClr val="FFFFFF"/>
          </a:solidFill>
          <a:ln w="9525">
            <a:solidFill>
              <a:srgbClr val="CFCFCF"/>
            </a:solidFill>
            <a:prstDash val="solid"/>
          </a:ln>
        </p:spPr>
      </p:sp>
      <p:sp>
        <p:nvSpPr>
          <p:cNvPr id="14" name="Text 12"/>
          <p:cNvSpPr/>
          <p:nvPr/>
        </p:nvSpPr>
        <p:spPr>
          <a:xfrm>
            <a:off x="612648"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letter of intent</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bank mandated, data room open</a:t>
            </a:r>
            <a:endParaRPr lang="en-US" sz="1100" dirty="0"/>
          </a:p>
        </p:txBody>
      </p:sp>
      <p:sp>
        <p:nvSpPr>
          <p:cNvPr id="15" name="Shape 13"/>
          <p:cNvSpPr/>
          <p:nvPr/>
        </p:nvSpPr>
        <p:spPr>
          <a:xfrm>
            <a:off x="502920" y="3526536"/>
            <a:ext cx="3584448" cy="1002792"/>
          </a:xfrm>
          <a:prstGeom prst="rect">
            <a:avLst/>
          </a:prstGeom>
          <a:solidFill>
            <a:srgbClr val="FFFFFF"/>
          </a:solidFill>
          <a:ln w="9525">
            <a:solidFill>
              <a:srgbClr val="CFCFCF"/>
            </a:solidFill>
            <a:prstDash val="solid"/>
          </a:ln>
        </p:spPr>
      </p:sp>
      <p:sp>
        <p:nvSpPr>
          <p:cNvPr id="16" name="Text 14"/>
          <p:cNvSpPr/>
          <p:nvPr/>
        </p:nvSpPr>
        <p:spPr>
          <a:xfrm>
            <a:off x="612648"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Retention plan signed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18 senior technicians targeted</a:t>
            </a:r>
            <a:endParaRPr lang="en-US" sz="1100" dirty="0"/>
          </a:p>
        </p:txBody>
      </p:sp>
      <p:sp>
        <p:nvSpPr>
          <p:cNvPr id="17" name="Shape 15"/>
          <p:cNvSpPr/>
          <p:nvPr/>
        </p:nvSpPr>
        <p:spPr>
          <a:xfrm>
            <a:off x="502920" y="4639056"/>
            <a:ext cx="3584448" cy="1002792"/>
          </a:xfrm>
          <a:prstGeom prst="rect">
            <a:avLst/>
          </a:prstGeom>
          <a:solidFill>
            <a:srgbClr val="FFFFFF"/>
          </a:solidFill>
          <a:ln w="9525">
            <a:solidFill>
              <a:srgbClr val="CFCFCF"/>
            </a:solidFill>
            <a:prstDash val="solid"/>
          </a:ln>
        </p:spPr>
      </p:sp>
      <p:sp>
        <p:nvSpPr>
          <p:cNvPr id="18" name="Text 16"/>
          <p:cNvSpPr/>
          <p:nvPr/>
        </p:nvSpPr>
        <p:spPr>
          <a:xfrm>
            <a:off x="612648"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Program team appointed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sponsor + PMO + 5 leads</a:t>
            </a:r>
            <a:endParaRPr lang="en-US" sz="1100" dirty="0"/>
          </a:p>
        </p:txBody>
      </p:sp>
      <p:sp>
        <p:nvSpPr>
          <p:cNvPr id="19" name="Shape 17"/>
          <p:cNvSpPr/>
          <p:nvPr/>
        </p:nvSpPr>
        <p:spPr>
          <a:xfrm>
            <a:off x="4288536" y="1737360"/>
            <a:ext cx="3584448" cy="548640"/>
          </a:xfrm>
          <a:prstGeom prst="rect">
            <a:avLst/>
          </a:prstGeom>
          <a:solidFill>
            <a:srgbClr val="4D90F7"/>
          </a:solidFill>
          <a:ln/>
        </p:spPr>
      </p:sp>
      <p:sp>
        <p:nvSpPr>
          <p:cNvPr id="20" name="Text 18"/>
          <p:cNvSpPr/>
          <p:nvPr/>
        </p:nvSpPr>
        <p:spPr>
          <a:xfrm>
            <a:off x="4416552"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Prove</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31-60</a:t>
            </a:r>
            <a:endParaRPr lang="en-US" sz="1250" dirty="0"/>
          </a:p>
        </p:txBody>
      </p:sp>
      <p:sp>
        <p:nvSpPr>
          <p:cNvPr id="21" name="Shape 19"/>
          <p:cNvSpPr/>
          <p:nvPr/>
        </p:nvSpPr>
        <p:spPr>
          <a:xfrm>
            <a:off x="4288536" y="2414016"/>
            <a:ext cx="3584448" cy="1002792"/>
          </a:xfrm>
          <a:prstGeom prst="rect">
            <a:avLst/>
          </a:prstGeom>
          <a:solidFill>
            <a:srgbClr val="FFFFFF"/>
          </a:solidFill>
          <a:ln w="9525">
            <a:solidFill>
              <a:srgbClr val="CFCFCF"/>
            </a:solidFill>
            <a:prstDash val="solid"/>
          </a:ln>
        </p:spPr>
      </p:sp>
      <p:sp>
        <p:nvSpPr>
          <p:cNvPr id="22" name="Text 20"/>
          <p:cNvSpPr/>
          <p:nvPr/>
        </p:nvSpPr>
        <p:spPr>
          <a:xfrm>
            <a:off x="4398264"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Premium offer finalized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pricing, SLAs, contract template</a:t>
            </a:r>
            <a:endParaRPr lang="en-US" sz="1100" dirty="0"/>
          </a:p>
        </p:txBody>
      </p:sp>
      <p:sp>
        <p:nvSpPr>
          <p:cNvPr id="23" name="Shape 21"/>
          <p:cNvSpPr/>
          <p:nvPr/>
        </p:nvSpPr>
        <p:spPr>
          <a:xfrm>
            <a:off x="4288536" y="3526536"/>
            <a:ext cx="3584448" cy="1002792"/>
          </a:xfrm>
          <a:prstGeom prst="rect">
            <a:avLst/>
          </a:prstGeom>
          <a:solidFill>
            <a:srgbClr val="FFFFFF"/>
          </a:solidFill>
          <a:ln w="9525">
            <a:solidFill>
              <a:srgbClr val="CFCFCF"/>
            </a:solidFill>
            <a:prstDash val="solid"/>
          </a:ln>
        </p:spPr>
      </p:sp>
      <p:sp>
        <p:nvSpPr>
          <p:cNvPr id="24" name="Text 22"/>
          <p:cNvSpPr/>
          <p:nvPr/>
        </p:nvSpPr>
        <p:spPr>
          <a:xfrm>
            <a:off x="4398264"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North pilot contracted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400 sites, 3 waves</a:t>
            </a:r>
            <a:endParaRPr lang="en-US" sz="1100" dirty="0"/>
          </a:p>
        </p:txBody>
      </p:sp>
      <p:sp>
        <p:nvSpPr>
          <p:cNvPr id="25" name="Shape 23"/>
          <p:cNvSpPr/>
          <p:nvPr/>
        </p:nvSpPr>
        <p:spPr>
          <a:xfrm>
            <a:off x="4288536" y="4639056"/>
            <a:ext cx="3584448" cy="1002792"/>
          </a:xfrm>
          <a:prstGeom prst="rect">
            <a:avLst/>
          </a:prstGeom>
          <a:solidFill>
            <a:srgbClr val="FFFFFF"/>
          </a:solidFill>
          <a:ln w="9525">
            <a:solidFill>
              <a:srgbClr val="CFCFCF"/>
            </a:solidFill>
            <a:prstDash val="solid"/>
          </a:ln>
        </p:spPr>
      </p:sp>
      <p:sp>
        <p:nvSpPr>
          <p:cNvPr id="26" name="Text 24"/>
          <p:cNvSpPr/>
          <p:nvPr/>
        </p:nvSpPr>
        <p:spPr>
          <a:xfrm>
            <a:off x="4398264"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due diligence</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focus on contract retention</a:t>
            </a:r>
            <a:endParaRPr lang="en-US" sz="1100" dirty="0"/>
          </a:p>
        </p:txBody>
      </p:sp>
      <p:sp>
        <p:nvSpPr>
          <p:cNvPr id="27" name="Shape 25"/>
          <p:cNvSpPr/>
          <p:nvPr/>
        </p:nvSpPr>
        <p:spPr>
          <a:xfrm>
            <a:off x="8074152" y="1737360"/>
            <a:ext cx="3584448" cy="548640"/>
          </a:xfrm>
          <a:prstGeom prst="rect">
            <a:avLst/>
          </a:prstGeom>
          <a:solidFill>
            <a:srgbClr val="6DA3F9"/>
          </a:solidFill>
          <a:ln/>
        </p:spPr>
      </p:sp>
      <p:sp>
        <p:nvSpPr>
          <p:cNvPr id="28" name="Text 26"/>
          <p:cNvSpPr/>
          <p:nvPr/>
        </p:nvSpPr>
        <p:spPr>
          <a:xfrm>
            <a:off x="8202168"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Anchor</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61-100</a:t>
            </a:r>
            <a:endParaRPr lang="en-US" sz="1250" dirty="0"/>
          </a:p>
        </p:txBody>
      </p:sp>
      <p:sp>
        <p:nvSpPr>
          <p:cNvPr id="29" name="Shape 27"/>
          <p:cNvSpPr/>
          <p:nvPr/>
        </p:nvSpPr>
        <p:spPr>
          <a:xfrm>
            <a:off x="8074152" y="2414016"/>
            <a:ext cx="3584448" cy="1002792"/>
          </a:xfrm>
          <a:prstGeom prst="rect">
            <a:avLst/>
          </a:prstGeom>
          <a:solidFill>
            <a:srgbClr val="FFFFFF"/>
          </a:solidFill>
          <a:ln w="9525">
            <a:solidFill>
              <a:srgbClr val="CFCFCF"/>
            </a:solidFill>
            <a:prstDash val="solid"/>
          </a:ln>
        </p:spPr>
      </p:sp>
      <p:sp>
        <p:nvSpPr>
          <p:cNvPr id="30" name="Text 28"/>
          <p:cNvSpPr/>
          <p:nvPr/>
        </p:nvSpPr>
        <p:spPr>
          <a:xfrm>
            <a:off x="8183880"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signing</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closing targeted at M5</a:t>
            </a:r>
            <a:endParaRPr lang="en-US" sz="1100" dirty="0"/>
          </a:p>
        </p:txBody>
      </p:sp>
      <p:sp>
        <p:nvSpPr>
          <p:cNvPr id="31" name="Shape 29"/>
          <p:cNvSpPr/>
          <p:nvPr/>
        </p:nvSpPr>
        <p:spPr>
          <a:xfrm>
            <a:off x="8074152" y="3526536"/>
            <a:ext cx="3584448" cy="1002792"/>
          </a:xfrm>
          <a:prstGeom prst="rect">
            <a:avLst/>
          </a:prstGeom>
          <a:solidFill>
            <a:srgbClr val="FFFFFF"/>
          </a:solidFill>
          <a:ln w="9525">
            <a:solidFill>
              <a:srgbClr val="CFCFCF"/>
            </a:solidFill>
            <a:prstDash val="solid"/>
          </a:ln>
        </p:spPr>
      </p:sp>
      <p:sp>
        <p:nvSpPr>
          <p:cNvPr id="32" name="Text 30"/>
          <p:cNvSpPr/>
          <p:nvPr/>
        </p:nvSpPr>
        <p:spPr>
          <a:xfrm>
            <a:off x="8183880"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First 100 pilot contracts</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attach rate measured</a:t>
            </a:r>
            <a:endParaRPr lang="en-US" sz="1100" dirty="0"/>
          </a:p>
        </p:txBody>
      </p:sp>
      <p:sp>
        <p:nvSpPr>
          <p:cNvPr id="33" name="Shape 31"/>
          <p:cNvSpPr/>
          <p:nvPr/>
        </p:nvSpPr>
        <p:spPr>
          <a:xfrm>
            <a:off x="8074152" y="4639056"/>
            <a:ext cx="3584448" cy="1002792"/>
          </a:xfrm>
          <a:prstGeom prst="rect">
            <a:avLst/>
          </a:prstGeom>
          <a:solidFill>
            <a:srgbClr val="FFFFFF"/>
          </a:solidFill>
          <a:ln w="9525">
            <a:solidFill>
              <a:srgbClr val="CFCFCF"/>
            </a:solidFill>
            <a:prstDash val="solid"/>
          </a:ln>
        </p:spPr>
      </p:sp>
      <p:sp>
        <p:nvSpPr>
          <p:cNvPr id="34" name="Text 32"/>
          <p:cNvSpPr/>
          <p:nvPr/>
        </p:nvSpPr>
        <p:spPr>
          <a:xfrm>
            <a:off x="8183880"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Training plan launched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first cohort of 40</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TARGET OPERATING MODEL</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target operating model is organized around installed-base data</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18</a:t>
            </a:r>
            <a:endParaRPr lang="en-US" sz="850" dirty="0"/>
          </a:p>
        </p:txBody>
      </p:sp>
      <p:sp>
        <p:nvSpPr>
          <p:cNvPr id="8" name="Shape 6"/>
          <p:cNvSpPr/>
          <p:nvPr/>
        </p:nvSpPr>
        <p:spPr>
          <a:xfrm>
            <a:off x="50292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3093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Ambition</a:t>
            </a:r>
            <a:endParaRPr lang="en-US" sz="1200" dirty="0"/>
          </a:p>
        </p:txBody>
      </p:sp>
      <p:sp>
        <p:nvSpPr>
          <p:cNvPr id="10" name="Shape 8"/>
          <p:cNvSpPr/>
          <p:nvPr/>
        </p:nvSpPr>
        <p:spPr>
          <a:xfrm>
            <a:off x="630936" y="2139696"/>
            <a:ext cx="365760" cy="22860"/>
          </a:xfrm>
          <a:prstGeom prst="rect">
            <a:avLst/>
          </a:prstGeom>
          <a:solidFill>
            <a:srgbClr val="2E7CF6"/>
          </a:solidFill>
          <a:ln/>
        </p:spPr>
      </p:sp>
      <p:sp>
        <p:nvSpPr>
          <p:cNvPr id="11" name="Text 9"/>
          <p:cNvSpPr/>
          <p:nvPr/>
        </p:nvSpPr>
        <p:spPr>
          <a:xfrm>
            <a:off x="63093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35% services mix by 2029, 34% group margin, French leader in industrial predictive maintenance.</a:t>
            </a:r>
            <a:endParaRPr lang="en-US" sz="1050" dirty="0"/>
          </a:p>
        </p:txBody>
      </p:sp>
      <p:sp>
        <p:nvSpPr>
          <p:cNvPr id="12" name="Shape 10"/>
          <p:cNvSpPr/>
          <p:nvPr/>
        </p:nvSpPr>
        <p:spPr>
          <a:xfrm>
            <a:off x="428244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Text 11"/>
          <p:cNvSpPr/>
          <p:nvPr/>
        </p:nvSpPr>
        <p:spPr>
          <a:xfrm>
            <a:off x="441045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Offer</a:t>
            </a:r>
            <a:endParaRPr lang="en-US" sz="1200" dirty="0"/>
          </a:p>
        </p:txBody>
      </p:sp>
      <p:sp>
        <p:nvSpPr>
          <p:cNvPr id="14" name="Shape 12"/>
          <p:cNvSpPr/>
          <p:nvPr/>
        </p:nvSpPr>
        <p:spPr>
          <a:xfrm>
            <a:off x="4410456" y="2139696"/>
            <a:ext cx="365760" cy="22860"/>
          </a:xfrm>
          <a:prstGeom prst="rect">
            <a:avLst/>
          </a:prstGeom>
          <a:solidFill>
            <a:srgbClr val="2E7CF6"/>
          </a:solidFill>
          <a:ln/>
        </p:spPr>
      </p:sp>
      <p:sp>
        <p:nvSpPr>
          <p:cNvPr id="15" name="Text 13"/>
          <p:cNvSpPr/>
          <p:nvPr/>
        </p:nvSpPr>
        <p:spPr>
          <a:xfrm>
            <a:off x="441045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Three tiers: standard contract, predictive premium, regulatory audit &amp; training.</a:t>
            </a:r>
            <a:endParaRPr lang="en-US" sz="1050" dirty="0"/>
          </a:p>
        </p:txBody>
      </p:sp>
      <p:sp>
        <p:nvSpPr>
          <p:cNvPr id="16" name="Shape 14"/>
          <p:cNvSpPr/>
          <p:nvPr/>
        </p:nvSpPr>
        <p:spPr>
          <a:xfrm>
            <a:off x="806196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818997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Sales</a:t>
            </a:r>
            <a:endParaRPr lang="en-US" sz="1200" dirty="0"/>
          </a:p>
        </p:txBody>
      </p:sp>
      <p:sp>
        <p:nvSpPr>
          <p:cNvPr id="18" name="Shape 16"/>
          <p:cNvSpPr/>
          <p:nvPr/>
        </p:nvSpPr>
        <p:spPr>
          <a:xfrm>
            <a:off x="8189976" y="2139696"/>
            <a:ext cx="365760" cy="22860"/>
          </a:xfrm>
          <a:prstGeom prst="rect">
            <a:avLst/>
          </a:prstGeom>
          <a:solidFill>
            <a:srgbClr val="2E7CF6"/>
          </a:solidFill>
          <a:ln/>
        </p:spPr>
      </p:sp>
      <p:sp>
        <p:nvSpPr>
          <p:cNvPr id="19" name="Text 17"/>
          <p:cNvSpPr/>
          <p:nvPr/>
        </p:nvSpPr>
        <p:spPr>
          <a:xfrm>
            <a:off x="818997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Dedicated installed-base force (24 people), compensation tied to attach and renewal.</a:t>
            </a:r>
            <a:endParaRPr lang="en-US" sz="1050" dirty="0"/>
          </a:p>
        </p:txBody>
      </p:sp>
      <p:sp>
        <p:nvSpPr>
          <p:cNvPr id="20" name="Shape 18"/>
          <p:cNvSpPr/>
          <p:nvPr/>
        </p:nvSpPr>
        <p:spPr>
          <a:xfrm>
            <a:off x="502920" y="33375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Text 19"/>
          <p:cNvSpPr/>
          <p:nvPr/>
        </p:nvSpPr>
        <p:spPr>
          <a:xfrm>
            <a:off x="630936" y="34655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Operations</a:t>
            </a:r>
            <a:endParaRPr lang="en-US" sz="1200" dirty="0"/>
          </a:p>
        </p:txBody>
      </p:sp>
      <p:sp>
        <p:nvSpPr>
          <p:cNvPr id="22" name="Shape 20"/>
          <p:cNvSpPr/>
          <p:nvPr/>
        </p:nvSpPr>
        <p:spPr>
          <a:xfrm>
            <a:off x="630936" y="3739896"/>
            <a:ext cx="365760" cy="22860"/>
          </a:xfrm>
          <a:prstGeom prst="rect">
            <a:avLst/>
          </a:prstGeom>
          <a:solidFill>
            <a:srgbClr val="2E7CF6"/>
          </a:solidFill>
          <a:ln/>
        </p:spPr>
      </p:sp>
      <p:sp>
        <p:nvSpPr>
          <p:cNvPr id="23" name="Text 21"/>
          <p:cNvSpPr/>
          <p:nvPr/>
        </p:nvSpPr>
        <p:spPr>
          <a:xfrm>
            <a:off x="63093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Centralized intervention planning, forward stock in 12 regional hubs.</a:t>
            </a:r>
            <a:endParaRPr lang="en-US" sz="1050" dirty="0"/>
          </a:p>
        </p:txBody>
      </p:sp>
      <p:sp>
        <p:nvSpPr>
          <p:cNvPr id="24" name="SOGRAD~346FD1~154493~90"/>
          <p:cNvSpPr/>
          <p:nvPr/>
        </p:nvSpPr>
        <p:spPr>
          <a:xfrm>
            <a:off x="4282440" y="3337560"/>
            <a:ext cx="3596640" cy="1417320"/>
          </a:xfrm>
          <a:prstGeom prst="roundRect">
            <a:avLst>
              <a:gd name="adj" fmla="val 3871"/>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Text 23"/>
          <p:cNvSpPr/>
          <p:nvPr/>
        </p:nvSpPr>
        <p:spPr>
          <a:xfrm>
            <a:off x="4410456" y="3465576"/>
            <a:ext cx="3340608" cy="237744"/>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Installed-base data</a:t>
            </a:r>
            <a:endParaRPr lang="en-US" sz="1200" dirty="0"/>
          </a:p>
        </p:txBody>
      </p:sp>
      <p:sp>
        <p:nvSpPr>
          <p:cNvPr id="26" name="Shape 24"/>
          <p:cNvSpPr/>
          <p:nvPr/>
        </p:nvSpPr>
        <p:spPr>
          <a:xfrm>
            <a:off x="4410456" y="3739896"/>
            <a:ext cx="365760" cy="22860"/>
          </a:xfrm>
          <a:prstGeom prst="rect">
            <a:avLst/>
          </a:prstGeom>
          <a:solidFill>
            <a:srgbClr val="5B9CFF"/>
          </a:solidFill>
          <a:ln/>
        </p:spPr>
      </p:sp>
      <p:sp>
        <p:nvSpPr>
          <p:cNvPr id="27" name="Text 25"/>
          <p:cNvSpPr/>
          <p:nvPr/>
        </p:nvSpPr>
        <p:spPr>
          <a:xfrm>
            <a:off x="441045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E2E8ED"/>
                </a:solidFill>
                <a:latin typeface="Arial" pitchFamily="34" charset="0"/>
                <a:ea typeface="Arial" pitchFamily="34" charset="-122"/>
                <a:cs typeface="Arial" pitchFamily="34" charset="-120"/>
              </a:rPr>
              <a:t>11 years of history, 6,800 connected sites: the engine of predictive maintenance and pricing.</a:t>
            </a:r>
            <a:endParaRPr lang="en-US" sz="1050" dirty="0"/>
          </a:p>
        </p:txBody>
      </p:sp>
      <p:sp>
        <p:nvSpPr>
          <p:cNvPr id="28" name="Shape 26"/>
          <p:cNvSpPr/>
          <p:nvPr/>
        </p:nvSpPr>
        <p:spPr>
          <a:xfrm>
            <a:off x="8061960" y="33375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Text 27"/>
          <p:cNvSpPr/>
          <p:nvPr/>
        </p:nvSpPr>
        <p:spPr>
          <a:xfrm>
            <a:off x="8189976" y="34655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Technology</a:t>
            </a:r>
            <a:endParaRPr lang="en-US" sz="1200" dirty="0"/>
          </a:p>
        </p:txBody>
      </p:sp>
      <p:sp>
        <p:nvSpPr>
          <p:cNvPr id="30" name="Shape 28"/>
          <p:cNvSpPr/>
          <p:nvPr/>
        </p:nvSpPr>
        <p:spPr>
          <a:xfrm>
            <a:off x="8189976" y="3739896"/>
            <a:ext cx="365760" cy="22860"/>
          </a:xfrm>
          <a:prstGeom prst="rect">
            <a:avLst/>
          </a:prstGeom>
          <a:solidFill>
            <a:srgbClr val="2E7CF6"/>
          </a:solidFill>
          <a:ln/>
        </p:spPr>
      </p:sp>
      <p:sp>
        <p:nvSpPr>
          <p:cNvPr id="31" name="Text 29"/>
          <p:cNvSpPr/>
          <p:nvPr/>
        </p:nvSpPr>
        <p:spPr>
          <a:xfrm>
            <a:off x="818997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Partner platform (JV), ERP integration in 3 waves, no heavy proprietary development.</a:t>
            </a:r>
            <a:endParaRPr lang="en-US" sz="1050" dirty="0"/>
          </a:p>
        </p:txBody>
      </p:sp>
      <p:sp>
        <p:nvSpPr>
          <p:cNvPr id="32" name="Shape 30"/>
          <p:cNvSpPr/>
          <p:nvPr/>
        </p:nvSpPr>
        <p:spPr>
          <a:xfrm>
            <a:off x="50292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3" name="Text 31"/>
          <p:cNvSpPr/>
          <p:nvPr/>
        </p:nvSpPr>
        <p:spPr>
          <a:xfrm>
            <a:off x="63093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Talent</a:t>
            </a:r>
            <a:endParaRPr lang="en-US" sz="1200" dirty="0"/>
          </a:p>
        </p:txBody>
      </p:sp>
      <p:sp>
        <p:nvSpPr>
          <p:cNvPr id="34" name="Shape 32"/>
          <p:cNvSpPr/>
          <p:nvPr/>
        </p:nvSpPr>
        <p:spPr>
          <a:xfrm>
            <a:off x="630936" y="5340096"/>
            <a:ext cx="365760" cy="22860"/>
          </a:xfrm>
          <a:prstGeom prst="rect">
            <a:avLst/>
          </a:prstGeom>
          <a:solidFill>
            <a:srgbClr val="2E7CF6"/>
          </a:solidFill>
          <a:ln/>
        </p:spPr>
      </p:sp>
      <p:sp>
        <p:nvSpPr>
          <p:cNvPr id="35" name="Text 33"/>
          <p:cNvSpPr/>
          <p:nvPr/>
        </p:nvSpPr>
        <p:spPr>
          <a:xfrm>
            <a:off x="63093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300 technicians trained in predictive maintenance, expert track created, certification bonus.</a:t>
            </a:r>
            <a:endParaRPr lang="en-US" sz="1050" dirty="0"/>
          </a:p>
        </p:txBody>
      </p:sp>
      <p:sp>
        <p:nvSpPr>
          <p:cNvPr id="36" name="Shape 34"/>
          <p:cNvSpPr/>
          <p:nvPr/>
        </p:nvSpPr>
        <p:spPr>
          <a:xfrm>
            <a:off x="428244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7" name="Text 35"/>
          <p:cNvSpPr/>
          <p:nvPr/>
        </p:nvSpPr>
        <p:spPr>
          <a:xfrm>
            <a:off x="441045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Governance</a:t>
            </a:r>
            <a:endParaRPr lang="en-US" sz="1200" dirty="0"/>
          </a:p>
        </p:txBody>
      </p:sp>
      <p:sp>
        <p:nvSpPr>
          <p:cNvPr id="38" name="Shape 36"/>
          <p:cNvSpPr/>
          <p:nvPr/>
        </p:nvSpPr>
        <p:spPr>
          <a:xfrm>
            <a:off x="4410456" y="5340096"/>
            <a:ext cx="365760" cy="22860"/>
          </a:xfrm>
          <a:prstGeom prst="rect">
            <a:avLst/>
          </a:prstGeom>
          <a:solidFill>
            <a:srgbClr val="2E7CF6"/>
          </a:solidFill>
          <a:ln/>
        </p:spPr>
      </p:sp>
      <p:sp>
        <p:nvSpPr>
          <p:cNvPr id="39" name="Text 37"/>
          <p:cNvSpPr/>
          <p:nvPr/>
        </p:nvSpPr>
        <p:spPr>
          <a:xfrm>
            <a:off x="441045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ExCo sponsor, monthly SteerCo, quarterly value review on 5 KPIs.</a:t>
            </a:r>
            <a:endParaRPr lang="en-US" sz="1050" dirty="0"/>
          </a:p>
        </p:txBody>
      </p:sp>
      <p:sp>
        <p:nvSpPr>
          <p:cNvPr id="40" name="Shape 38"/>
          <p:cNvSpPr/>
          <p:nvPr/>
        </p:nvSpPr>
        <p:spPr>
          <a:xfrm>
            <a:off x="806196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41" name="Text 39"/>
          <p:cNvSpPr/>
          <p:nvPr/>
        </p:nvSpPr>
        <p:spPr>
          <a:xfrm>
            <a:off x="818997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Performance</a:t>
            </a:r>
            <a:endParaRPr lang="en-US" sz="1200" dirty="0"/>
          </a:p>
        </p:txBody>
      </p:sp>
      <p:sp>
        <p:nvSpPr>
          <p:cNvPr id="42" name="Shape 40"/>
          <p:cNvSpPr/>
          <p:nvPr/>
        </p:nvSpPr>
        <p:spPr>
          <a:xfrm>
            <a:off x="8189976" y="5340096"/>
            <a:ext cx="365760" cy="22860"/>
          </a:xfrm>
          <a:prstGeom prst="rect">
            <a:avLst/>
          </a:prstGeom>
          <a:solidFill>
            <a:srgbClr val="2E7CF6"/>
          </a:solidFill>
          <a:ln/>
        </p:spPr>
      </p:sp>
      <p:sp>
        <p:nvSpPr>
          <p:cNvPr id="43" name="Text 41"/>
          <p:cNvSpPr/>
          <p:nvPr/>
        </p:nvSpPr>
        <p:spPr>
          <a:xfrm>
            <a:off x="818997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Attach rate, margin per contract, base uptime, NPS, parts capture.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TARGET CUSTOMER JOURNEY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target journey engages the customer from installation, not after the first failure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Logic: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Each step of the journey feeds the data that makes the next step more profitable.</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19</a:t>
            </a:r>
            <a:endParaRPr lang="en-US" sz="8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11155680" cy="914400"/>
        </p:xfrm>
        <a:graphic>
          <a:graphicData uri="http://schemas.openxmlformats.org/drawingml/2006/table">
            <a:tbl>
              <a:tblPr/>
              <a:tblGrid>
                <a:gridCol w="1784909"/>
                <a:gridCol w="2342693"/>
                <a:gridCol w="2342693"/>
                <a:gridCol w="2342693"/>
                <a:gridCol w="2342693"/>
              </a:tblGrid>
              <a:tr h="780898">
                <a:tc>
                  <a:txBody>
                    <a:bodyPr/>
                    <a:lstStyle/>
                    <a:p>
                      <a:pPr algn="l" indent="0" marL="0">
                        <a:buNone/>
                      </a:pP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Installation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Commissioning</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Operation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Renewal</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Customer</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Chooses the linked equipment + contract offer</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Activates connected monitoring with the technician</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Receives alerts and uptime reports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Renews based on the value report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Front office</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Sells the discount conditional on the 5-year contract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Schedules the D+30 calibration visit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Annual on-site review with quantified results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Proposes the premium upgrade 6 months before term</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Back office</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Registers the site and its alert thresholds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Connects the sensors to the platform</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Schedules the predictive interventions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Prepares the automated value report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Data &amp; systems</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Site created in the installed-base repository</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Sensor feed active, 30-day baseline</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Predictive model: 90-day alerts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Versioned site health score</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777240" y="1143000"/>
            <a:ext cx="10058400" cy="320040"/>
          </a:xfrm>
          <a:prstGeom prst="rect">
            <a:avLst/>
          </a:prstGeom>
          <a:noFill/>
          <a:ln/>
        </p:spPr>
        <p:txBody>
          <a:bodyPr wrap="square" lIns="0" tIns="0" rIns="0" bIns="0" rtlCol="0" anchor="ctr"/>
          <a:lstStyle/>
          <a:p>
            <a:pPr indent="0" marL="0">
              <a:buNone/>
            </a:pPr>
            <a:r>
              <a:rPr lang="en-US" sz="1200" b="1" spc="300" kern="0" dirty="0">
                <a:solidFill>
                  <a:srgbClr val="5B9CFF"/>
                </a:solidFill>
                <a:latin typeface="Arial" pitchFamily="34" charset="0"/>
                <a:ea typeface="Arial" pitchFamily="34" charset="-122"/>
                <a:cs typeface="Arial" pitchFamily="34" charset="-120"/>
              </a:rPr>
              <a:t>NEXT STEPS</a:t>
            </a:r>
            <a:endParaRPr lang="en-US" sz="1200" dirty="0"/>
          </a:p>
        </p:txBody>
      </p:sp>
      <p:sp>
        <p:nvSpPr>
          <p:cNvPr id="3" name="Text 1"/>
          <p:cNvSpPr/>
          <p:nvPr/>
        </p:nvSpPr>
        <p:spPr>
          <a:xfrm>
            <a:off x="749808" y="1554480"/>
            <a:ext cx="10607040" cy="914400"/>
          </a:xfrm>
          <a:prstGeom prst="rect">
            <a:avLst/>
          </a:prstGeom>
          <a:noFill/>
          <a:ln/>
        </p:spPr>
        <p:txBody>
          <a:bodyPr wrap="square" lIns="0" tIns="0" rIns="0" bIns="0" rtlCol="0" anchor="ctr"/>
          <a:lstStyle/>
          <a:p>
            <a:pPr indent="0" marL="0">
              <a:buNone/>
            </a:pPr>
            <a:r>
              <a:rPr lang="en-US" sz="4200" b="1" dirty="0">
                <a:solidFill>
                  <a:srgbClr val="F2F4F2"/>
                </a:solidFill>
                <a:latin typeface="Arial" pitchFamily="34" charset="0"/>
                <a:ea typeface="Arial" pitchFamily="34" charset="-122"/>
                <a:cs typeface="Arial" pitchFamily="34" charset="-120"/>
              </a:rPr>
              <a:t>Decide in September</a:t>
            </a:r>
            <a:endParaRPr lang="en-US" sz="4200" dirty="0"/>
          </a:p>
        </p:txBody>
      </p:sp>
      <p:sp>
        <p:nvSpPr>
          <p:cNvPr id="4" name="Shape 2"/>
          <p:cNvSpPr/>
          <p:nvPr/>
        </p:nvSpPr>
        <p:spPr>
          <a:xfrm>
            <a:off x="777240" y="2606040"/>
            <a:ext cx="1828800" cy="45720"/>
          </a:xfrm>
          <a:prstGeom prst="rect">
            <a:avLst/>
          </a:prstGeom>
          <a:solidFill>
            <a:srgbClr val="5B9CFF"/>
          </a:solidFill>
          <a:ln/>
        </p:spPr>
      </p:sp>
      <p:sp>
        <p:nvSpPr>
          <p:cNvPr id="5" name="Text 3"/>
          <p:cNvSpPr/>
          <p:nvPr/>
        </p:nvSpPr>
        <p:spPr>
          <a:xfrm>
            <a:off x="777240" y="2880360"/>
            <a:ext cx="9875520" cy="1371600"/>
          </a:xfrm>
          <a:prstGeom prst="rect">
            <a:avLst/>
          </a:prstGeom>
          <a:noFill/>
          <a:ln/>
        </p:spPr>
        <p:txBody>
          <a:bodyPr wrap="square" lIns="0" tIns="0" rIns="0" bIns="0" rtlCol="0" anchor="ctr"/>
          <a:lstStyle/>
          <a:p>
            <a:pPr indent="0" marL="0">
              <a:lnSpc>
                <a:spcPct val="112000"/>
              </a:lnSpc>
              <a:buNone/>
            </a:pPr>
            <a:r>
              <a:rPr lang="en-US" sz="1800" dirty="0">
                <a:solidFill>
                  <a:srgbClr val="F2F4F2"/>
                </a:solidFill>
                <a:latin typeface="Arial" pitchFamily="34" charset="0"/>
                <a:ea typeface="Arial" pitchFamily="34" charset="-122"/>
                <a:cs typeface="Arial" pitchFamily="34" charset="-120"/>
              </a:rPr>
              <a:t>Three decisions at the September 18 committee: M&amp;A mandate, pilot budget, executive sponsor. The decision's break-even is a 14% attach rate; the pilot measured 26%.</a:t>
            </a:r>
            <a:endParaRPr lang="en-US" sz="1800" dirty="0"/>
          </a:p>
        </p:txBody>
      </p:sp>
      <p:sp>
        <p:nvSpPr>
          <p:cNvPr id="6" name="Shape 4"/>
          <p:cNvSpPr/>
          <p:nvPr/>
        </p:nvSpPr>
        <p:spPr>
          <a:xfrm>
            <a:off x="777240" y="5074920"/>
            <a:ext cx="10607040" cy="0"/>
          </a:xfrm>
          <a:prstGeom prst="line">
            <a:avLst/>
          </a:prstGeom>
          <a:noFill/>
          <a:ln w="12700">
            <a:solidFill>
              <a:srgbClr val="2A323B"/>
            </a:solidFill>
            <a:prstDash val="solid"/>
          </a:ln>
        </p:spPr>
      </p:sp>
      <p:sp>
        <p:nvSpPr>
          <p:cNvPr id="7" name="Text 5"/>
          <p:cNvSpPr/>
          <p:nvPr/>
        </p:nvSpPr>
        <p:spPr>
          <a:xfrm>
            <a:off x="77724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Contact: Strategy team</a:t>
            </a:r>
            <a:endParaRPr lang="en-US" sz="1300" dirty="0"/>
          </a:p>
        </p:txBody>
      </p:sp>
      <p:sp>
        <p:nvSpPr>
          <p:cNvPr id="8" name="Text 6"/>
          <p:cNvSpPr/>
          <p:nvPr/>
        </p:nvSpPr>
        <p:spPr>
          <a:xfrm>
            <a:off x="77724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strategy@meridio.example</a:t>
            </a:r>
            <a:endParaRPr lang="en-US" sz="1200" dirty="0"/>
          </a:p>
        </p:txBody>
      </p:sp>
      <p:sp>
        <p:nvSpPr>
          <p:cNvPr id="9" name="Text 7"/>
          <p:cNvSpPr/>
          <p:nvPr/>
        </p:nvSpPr>
        <p:spPr>
          <a:xfrm>
            <a:off x="594360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Sprint OS Deck Builder</a:t>
            </a:r>
            <a:endParaRPr lang="en-US" sz="1300" dirty="0"/>
          </a:p>
        </p:txBody>
      </p:sp>
      <p:sp>
        <p:nvSpPr>
          <p:cNvPr id="10" name="Text 8"/>
          <p:cNvSpPr/>
          <p:nvPr/>
        </p:nvSpPr>
        <p:spPr>
          <a:xfrm>
            <a:off x="594360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Golden deck — demo</a:t>
            </a:r>
            <a:endParaRPr lang="en-US" sz="1200" dirty="0"/>
          </a:p>
        </p:txBody>
      </p:sp>
      <p:sp>
        <p:nvSpPr>
          <p:cNvPr id="11" name="Text 9"/>
          <p:cNvSpPr/>
          <p:nvPr/>
        </p:nvSpPr>
        <p:spPr>
          <a:xfrm>
            <a:off x="777240" y="6355080"/>
            <a:ext cx="10607040" cy="274320"/>
          </a:xfrm>
          <a:prstGeom prst="rect">
            <a:avLst/>
          </a:prstGeom>
          <a:noFill/>
          <a:ln/>
        </p:spPr>
        <p:txBody>
          <a:bodyPr wrap="square" lIns="0" tIns="0" rIns="0" bIns="0" rtlCol="0" anchor="ctr"/>
          <a:lstStyle/>
          <a:p>
            <a:pPr indent="0" marL="0">
              <a:buNone/>
            </a:pPr>
            <a:r>
              <a:rPr lang="en-US" sz="900" dirty="0">
                <a:solidFill>
                  <a:srgbClr val="9AA6B2"/>
                </a:solidFill>
                <a:latin typeface="Arial" pitchFamily="34" charset="0"/>
                <a:ea typeface="Arial" pitchFamily="34" charset="-122"/>
                <a:cs typeface="Arial" pitchFamily="34" charset="-120"/>
              </a:rPr>
              <a:t>Source: Meridio annual reports 2022-2025; management interviews; Sprint OS analysis</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2026-07-09T22:37:31Z</dcterms:created>
  <dcterms:modified xsi:type="dcterms:W3CDTF">2026-07-09T22:37:31Z</dcterms:modified>
</cp:coreProperties>
</file>