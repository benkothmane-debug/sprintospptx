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Equipment</c:v>
                </c:pt>
              </c:strCache>
            </c:strRef>
          </c:tx>
          <c:spPr>
            <a:solidFill>
              <a:srgbClr val="ABAFB3"/>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22.4</c:v>
                </c:pt>
                <c:pt idx="1">
                  <c:v>21.8</c:v>
                </c:pt>
                <c:pt idx="2">
                  <c:v>21.1</c:v>
                </c:pt>
                <c:pt idx="3">
                  <c:v>20.6</c:v>
                </c:pt>
                <c:pt idx="4">
                  <c:v>20.1</c:v>
                </c:pt>
              </c:numCache>
            </c:numRef>
          </c:val>
        </c:ser>
        <c:ser>
          <c:idx val="1"/>
          <c:order val="1"/>
          <c:tx>
            <c:strRef>
              <c:f>Sheet1!$C$1</c:f>
              <c:strCache>
                <c:ptCount val="1"/>
                <c:pt idx="0">
                  <c:v>Services</c:v>
                </c:pt>
              </c:strCache>
            </c:strRef>
          </c:tx>
          <c:spPr>
            <a:solidFill>
              <a:srgbClr val="2E7CF6"/>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41.2</c:v>
                </c:pt>
                <c:pt idx="1">
                  <c:v>42.5</c:v>
                </c:pt>
                <c:pt idx="2">
                  <c:v>43.6</c:v>
                </c:pt>
                <c:pt idx="3">
                  <c:v>44.8</c:v>
                </c:pt>
                <c:pt idx="4">
                  <c:v>46</c:v>
                </c:pt>
              </c:numCache>
            </c:numRef>
          </c:val>
        </c:ser>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part</c:v>
                </c:pt>
              </c:strCache>
            </c:strRef>
          </c:tx>
          <c:spPr>
            <a:solidFill>
              <a:schemeClr val="accent1"/>
            </a:solidFill>
            <a:ln w="9525" cap="flat">
              <a:solidFill>
                <a:srgbClr val="F9F9F9"/>
              </a:solidFill>
              <a:prstDash val="solid"/>
              <a:round/>
            </a:ln>
            <a:effectLst/>
          </c:spPr>
          <c:dPt>
            <c:idx val="0"/>
            <c:bubble3D val="0"/>
            <c:spPr>
              <a:solidFill>
                <a:srgbClr val="2E7CF6"/>
              </a:solidFill>
              <a:effectLst/>
            </c:spPr>
          </c:dPt>
          <c:dPt>
            <c:idx val="1"/>
            <c:bubble3D val="0"/>
            <c:spPr>
              <a:solidFill>
                <a:srgbClr val="77AAF9"/>
              </a:solidFill>
              <a:effectLst/>
            </c:spPr>
          </c:dPt>
          <c:dPt>
            <c:idx val="2"/>
            <c:bubble3D val="0"/>
            <c:spPr>
              <a:solidFill>
                <a:srgbClr val="2159B1"/>
              </a:solidFill>
              <a:effectLst/>
            </c:spPr>
          </c:dPt>
          <c:dPt>
            <c:idx val="3"/>
            <c:bubble3D val="0"/>
            <c:spPr>
              <a:solidFill>
                <a:srgbClr val="ABAFB3"/>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Standard contracts</c:v>
                </c:pt>
                <c:pt idx="1">
                  <c:v>Predictive premium</c:v>
                </c:pt>
                <c:pt idx="2">
                  <c:v>Spare parts</c:v>
                </c:pt>
                <c:pt idx="3">
                  <c:v>Training &amp; audit</c:v>
                </c:pt>
              </c:strCache>
            </c:strRef>
          </c:cat>
          <c:val>
            <c:numRef>
              <c:f>Sheet1!$B$2:$B$5</c:f>
              <c:numCache>
                <c:ptCount val="4"/>
                <c:pt idx="0">
                  <c:v>42</c:v>
                </c:pt>
                <c:pt idx="1">
                  <c:v>31</c:v>
                </c:pt>
                <c:pt idx="2">
                  <c:v>19</c:v>
                </c:pt>
                <c:pt idx="3">
                  <c:v>8</c:v>
                </c:pt>
              </c:numCache>
            </c:numRef>
          </c:val>
        </c:ser>
        <c:firstSliceAng val="0"/>
        <c:holeSize val="62"/>
      </c:doughnutChart>
      <c:spPr>
        <a:solidFill>
          <a:srgbClr val="FFFFFF"/>
        </a:solidFill>
        <a:ln>
          <a:noFill/>
        </a:ln>
        <a:effectLst/>
      </c:spPr>
    </c:plotArea>
    <c:legend>
      <c:legendPos val="r"/>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Meridio</c:v>
                </c:pt>
              </c:strCache>
            </c:strRef>
          </c:tx>
          <c:spPr>
            <a:solidFill>
              <a:srgbClr val="2E7CF6"/>
            </a:solidFill>
            <a:ln w="25400" cap="flat">
              <a:solidFill>
                <a:srgbClr val="2E7CF6"/>
              </a:solidFill>
              <a:prstDash val="solid"/>
              <a:round/>
            </a:ln>
            <a:effectLst/>
          </c:spPr>
          <c:invertIfNegative val="0"/>
          <c:marker>
            <c:symbol val="circle"/>
            <c:size val="6"/>
            <c:spPr>
              <a:solidFill>
                <a:srgbClr val="2E7CF6"/>
              </a:solidFill>
              <a:ln w="9525" cap="flat">
                <a:solidFill>
                  <a:srgbClr val="2E7CF6"/>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Sheet1!$B$2:$B$6</c:f>
              <c:numCache>
                <c:formatCode>General</c:formatCode>
                <c:ptCount val="5"/>
                <c:pt idx="0">
                  <c:v>4.8</c:v>
                </c:pt>
                <c:pt idx="1">
                  <c:v>4.5</c:v>
                </c:pt>
                <c:pt idx="2">
                  <c:v>4.1</c:v>
                </c:pt>
                <c:pt idx="3">
                  <c:v>3.2</c:v>
                </c:pt>
                <c:pt idx="4">
                  <c:v>2.9</c:v>
                </c:pt>
              </c:numCache>
            </c:numRef>
          </c:val>
        </c:ser>
        <c:ser>
          <c:idx val="1"/>
          <c:order val="1"/>
          <c:tx>
            <c:strRef>
              <c:f>Sheet1!$C$1</c:f>
              <c:strCache>
                <c:ptCount val="1"/>
                <c:pt idx="0">
                  <c:v>Best competitor</c:v>
                </c:pt>
              </c:strCache>
            </c:strRef>
          </c:tx>
          <c:spPr>
            <a:solidFill>
              <a:srgbClr val="77AAF9"/>
            </a:solidFill>
            <a:ln w="25400" cap="flat">
              <a:solidFill>
                <a:srgbClr val="77AAF9"/>
              </a:solidFill>
              <a:prstDash val="solid"/>
              <a:round/>
            </a:ln>
            <a:effectLst/>
          </c:spPr>
          <c:invertIfNegative val="0"/>
          <c:marker>
            <c:symbol val="circle"/>
            <c:size val="6"/>
            <c:spPr>
              <a:solidFill>
                <a:srgbClr val="77AAF9"/>
              </a:solidFill>
              <a:ln w="9525" cap="flat">
                <a:solidFill>
                  <a:srgbClr val="77AAF9"/>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Sheet1!$C$2:$C$6</c:f>
              <c:numCache>
                <c:formatCode>General</c:formatCode>
                <c:ptCount val="5"/>
                <c:pt idx="0">
                  <c:v>3.1</c:v>
                </c:pt>
                <c:pt idx="1">
                  <c:v>2.2</c:v>
                </c:pt>
                <c:pt idx="2">
                  <c:v>3.6</c:v>
                </c:pt>
                <c:pt idx="3">
                  <c:v>3.8</c:v>
                </c:pt>
                <c:pt idx="4">
                  <c:v>3.9</c:v>
                </c:pt>
              </c:numCache>
            </c:numRef>
          </c:val>
        </c:ser>
        <c:dLbls>
          <c:numFmt formatCode="#,##0" sourceLinked="0"/>
          <c:txPr>
            <a:bodyPr/>
            <a:lstStyle/>
            <a:p>
              <a:pPr>
                <a:defRPr b="1" i="0" strike="noStrike" sz="1200" u="none">
                  <a:solidFill>
                    <a:srgbClr val="1A1A1A"/>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 (EUR M)</c:v>
                </c:pt>
              </c:strCache>
            </c:strRef>
          </c:tx>
          <c:spPr>
            <a:solidFill>
              <a:srgbClr val="2E7CF6"/>
            </a:solidFill>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cat>
            <c:multiLvlStrRef>
              <c:f>Sheet1!$A$2:$A$6</c:f>
              <c:multiLvlStrCache>
                <c:ptCount val="5"/>
                <c:lvl>
                  <c:pt idx="0">
                    <c:v>2025</c:v>
                  </c:pt>
                  <c:pt idx="1">
                    <c:v>2026</c:v>
                  </c:pt>
                  <c:pt idx="2">
                    <c:v>2027</c:v>
                  </c:pt>
                  <c:pt idx="3">
                    <c:v>2028</c:v>
                  </c:pt>
                  <c:pt idx="4">
                    <c:v>2029</c:v>
                  </c:pt>
                </c:lvl>
              </c:multiLvlStrCache>
            </c:multiLvlStrRef>
          </c:cat>
          <c:val>
            <c:numRef>
              <c:f>Sheet1!$B$2:$B$6</c:f>
              <c:numCache>
                <c:formatCode>General</c:formatCode>
                <c:ptCount val="5"/>
                <c:pt idx="0">
                  <c:v>850</c:v>
                </c:pt>
                <c:pt idx="1">
                  <c:v>858</c:v>
                </c:pt>
                <c:pt idx="2">
                  <c:v>875</c:v>
                </c:pt>
                <c:pt idx="3">
                  <c:v>897</c:v>
                </c:pt>
                <c:pt idx="4">
                  <c:v>920</c:v>
                </c:pt>
              </c:numCache>
            </c:numRef>
          </c:val>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Services mix (%)</c:v>
                </c:pt>
              </c:strCache>
            </c:strRef>
          </c:tx>
          <c:spPr>
            <a:solidFill>
              <a:srgbClr val="1D5FCC"/>
            </a:solidFill>
            <a:ln w="31750" cap="flat">
              <a:solidFill>
                <a:srgbClr val="1D5FCC"/>
              </a:solidFill>
              <a:prstDash val="solid"/>
              <a:round/>
            </a:ln>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c:symbol val="circle"/>
            <c:size val="6"/>
            <c:spPr>
              <a:solidFill>
                <a:srgbClr val="1D5FCC"/>
              </a:solidFill>
              <a:ln w="9525" cap="flat">
                <a:solidFill>
                  <a:srgbClr val="1D5FCC"/>
                </a:solidFill>
                <a:prstDash val="solid"/>
                <a:round/>
              </a:ln>
              <a:effectLst/>
            </c:spPr>
          </c:marker>
          <c:cat>
            <c:multiLvlStrRef>
              <c:f>Sheet1!$A$2:$A$6</c:f>
              <c:multiLvlStrCache>
                <c:ptCount val="5"/>
                <c:lvl>
                  <c:pt idx="0">
                    <c:v>2025</c:v>
                  </c:pt>
                  <c:pt idx="1">
                    <c:v>2026</c:v>
                  </c:pt>
                  <c:pt idx="2">
                    <c:v>2027</c:v>
                  </c:pt>
                  <c:pt idx="3">
                    <c:v>2028</c:v>
                  </c:pt>
                  <c:pt idx="4">
                    <c:v>2029</c:v>
                  </c:pt>
                </c:lvl>
              </c:multiLvlStrCache>
            </c:multiLvlStrRef>
          </c:cat>
          <c:val>
            <c:numRef>
              <c:f>Sheet1!$C$2:$C$6</c:f>
              <c:numCache>
                <c:formatCode>General</c:formatCode>
                <c:ptCount val="5"/>
                <c:pt idx="0">
                  <c:v>22</c:v>
                </c:pt>
                <c:pt idx="1">
                  <c:v>24</c:v>
                </c:pt>
                <c:pt idx="2">
                  <c:v>28</c:v>
                </c:pt>
                <c:pt idx="3">
                  <c:v>32</c:v>
                </c:pt>
                <c:pt idx="4">
                  <c:v>35</c:v>
                </c:pt>
              </c:numCache>
            </c:numRef>
          </c:val>
          <c:smooth val="0"/>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valAx>
        <c:axId val="2094734553"/>
        <c:scaling>
          <c:orientation val="minMax"/>
          <c:min val="0"/>
        </c:scaling>
        <c:delete val="0"/>
        <c:axPos val="r"/>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3"/>
        <c:crosses val="autoZero"/>
        <c:auto val="1"/>
        <c:lblAlgn val="ctr"/>
        <c:noMultiLvlLbl val="1"/>
      </c:cat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GOLDEN DECK — TEMPLATE SHOWCASE</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Meridio Group</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Every slide in this deck is generated by a template from slide_templates.js: guaranteed geometry, injected content.</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Internal demo</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July 2026</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Confidential</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869680" y="-3291840"/>
            <a:ext cx="6583680" cy="6583680"/>
          </a:xfrm>
          <a:prstGeom prst="ellipse">
            <a:avLst/>
          </a:prstGeom>
          <a:solidFill>
            <a:srgbClr val="EFF4FE"/>
          </a:solidFill>
          <a:ln/>
        </p:spPr>
      </p:sp>
      <p:sp>
        <p:nvSpPr>
          <p:cNvPr id="3" name="Shape 1"/>
          <p:cNvSpPr/>
          <p:nvPr/>
        </p:nvSpPr>
        <p:spPr>
          <a:xfrm>
            <a:off x="9646920" y="-2514600"/>
            <a:ext cx="5029200" cy="5029200"/>
          </a:xfrm>
          <a:prstGeom prst="ellipse">
            <a:avLst/>
          </a:prstGeom>
          <a:solidFill>
            <a:srgbClr val="2E7CF6">
              <a:alpha val="45000"/>
            </a:srgbClr>
          </a:solidFill>
          <a:ln/>
        </p:spPr>
      </p:sp>
      <p:sp>
        <p:nvSpPr>
          <p:cNvPr id="4" name="Shape 2"/>
          <p:cNvSpPr/>
          <p:nvPr/>
        </p:nvSpPr>
        <p:spPr>
          <a:xfrm>
            <a:off x="10378440" y="-1783080"/>
            <a:ext cx="3566160" cy="3566160"/>
          </a:xfrm>
          <a:prstGeom prst="ellipse">
            <a:avLst/>
          </a:prstGeom>
          <a:solidFill>
            <a:srgbClr val="2E7CF6">
              <a:alpha val="22000"/>
            </a:srgbClr>
          </a:solidFill>
          <a:ln/>
        </p:spPr>
      </p:sp>
      <p:sp>
        <p:nvSpPr>
          <p:cNvPr id="5" name="Shape 3"/>
          <p:cNvSpPr/>
          <p:nvPr/>
        </p:nvSpPr>
        <p:spPr>
          <a:xfrm>
            <a:off x="11064240" y="-1097280"/>
            <a:ext cx="2194560" cy="2194560"/>
          </a:xfrm>
          <a:prstGeom prst="ellipse">
            <a:avLst/>
          </a:prstGeom>
          <a:solidFill>
            <a:srgbClr val="2E7CF6">
              <a:alpha val="60000"/>
            </a:srgbClr>
          </a:solidFill>
          <a:ln/>
        </p:spPr>
      </p:sp>
      <p:sp>
        <p:nvSpPr>
          <p:cNvPr id="6" name="Text 4"/>
          <p:cNvSpPr/>
          <p:nvPr/>
        </p:nvSpPr>
        <p:spPr>
          <a:xfrm>
            <a:off x="502920" y="1783080"/>
            <a:ext cx="9235440" cy="320040"/>
          </a:xfrm>
          <a:prstGeom prst="rect">
            <a:avLst/>
          </a:prstGeom>
          <a:noFill/>
          <a:ln/>
        </p:spPr>
        <p:txBody>
          <a:bodyPr wrap="square" lIns="0" tIns="0" rIns="0" bIns="0" rtlCol="0" anchor="ctr"/>
          <a:lstStyle/>
          <a:p>
            <a:pPr indent="0" marL="0">
              <a:buNone/>
            </a:pPr>
            <a:r>
              <a:rPr lang="en-US" sz="1200" b="1" spc="300" kern="0" dirty="0">
                <a:solidFill>
                  <a:srgbClr val="1D5FCC"/>
                </a:solidFill>
                <a:latin typeface="Arial" pitchFamily="34" charset="0"/>
                <a:ea typeface="Arial" pitchFamily="34" charset="-122"/>
                <a:cs typeface="Arial" pitchFamily="34" charset="-120"/>
              </a:rPr>
              <a:t>LIGHT COVER (DEFAULT) — STYLE: ARCS</a:t>
            </a:r>
            <a:endParaRPr lang="en-US" sz="1200" dirty="0"/>
          </a:p>
        </p:txBody>
      </p:sp>
      <p:sp>
        <p:nvSpPr>
          <p:cNvPr id="7" name="Text 5"/>
          <p:cNvSpPr/>
          <p:nvPr/>
        </p:nvSpPr>
        <p:spPr>
          <a:xfrm>
            <a:off x="475488" y="2148840"/>
            <a:ext cx="9235440" cy="1600200"/>
          </a:xfrm>
          <a:prstGeom prst="rect">
            <a:avLst/>
          </a:prstGeom>
          <a:noFill/>
          <a:ln/>
        </p:spPr>
        <p:txBody>
          <a:bodyPr wrap="square" lIns="0" tIns="0" rIns="0" bIns="0" rtlCol="0" anchor="t"/>
          <a:lstStyle/>
          <a:p>
            <a:pPr indent="0" marL="0">
              <a:lnSpc>
                <a:spcPct val="102000"/>
              </a:lnSpc>
              <a:buNone/>
            </a:pPr>
            <a:r>
              <a:rPr lang="en-US" sz="4000" b="1" dirty="0">
                <a:solidFill>
                  <a:srgbClr val="1A1A1A"/>
                </a:solidFill>
                <a:latin typeface="Arial" pitchFamily="34" charset="0"/>
                <a:ea typeface="Arial" pitchFamily="34" charset="-122"/>
                <a:cs typeface="Arial" pitchFamily="34" charset="-120"/>
              </a:rPr>
              <a:t>Doubling EBITDA on assets already paid for</a:t>
            </a:r>
            <a:endParaRPr lang="en-US" sz="4000" dirty="0"/>
          </a:p>
        </p:txBody>
      </p:sp>
      <p:sp>
        <p:nvSpPr>
          <p:cNvPr id="8" name="Shape 6"/>
          <p:cNvSpPr/>
          <p:nvPr/>
        </p:nvSpPr>
        <p:spPr>
          <a:xfrm>
            <a:off x="502920" y="3886200"/>
            <a:ext cx="1828800" cy="45720"/>
          </a:xfrm>
          <a:prstGeom prst="rect">
            <a:avLst/>
          </a:prstGeom>
          <a:solidFill>
            <a:srgbClr val="2E7CF6"/>
          </a:solidFill>
          <a:ln/>
        </p:spPr>
      </p:sp>
      <p:sp>
        <p:nvSpPr>
          <p:cNvPr id="9" name="Text 7"/>
          <p:cNvSpPr/>
          <p:nvPr/>
        </p:nvSpPr>
        <p:spPr>
          <a:xfrm>
            <a:off x="502920" y="4114800"/>
            <a:ext cx="8961120" cy="1005840"/>
          </a:xfrm>
          <a:prstGeom prst="rect">
            <a:avLst/>
          </a:prstGeom>
          <a:noFill/>
          <a:ln/>
        </p:spPr>
        <p:txBody>
          <a:bodyPr wrap="square" lIns="0" tIns="0" rIns="0" bIns="0" rtlCol="0" anchor="t"/>
          <a:lstStyle/>
          <a:p>
            <a:pPr indent="0" marL="0">
              <a:lnSpc>
                <a:spcPct val="125000"/>
              </a:lnSpc>
              <a:buNone/>
            </a:pPr>
            <a:r>
              <a:rPr lang="en-US" sz="1500" dirty="0">
                <a:solidFill>
                  <a:srgbClr val="595959"/>
                </a:solidFill>
                <a:latin typeface="Arial" pitchFamily="34" charset="0"/>
                <a:ea typeface="Arial" pitchFamily="34" charset="-122"/>
                <a:cs typeface="Arial" pitchFamily="34" charset="-120"/>
              </a:rPr>
              <a:t>Meridio can shift 60% of 2027-2029 capex to managed services: the installed base, not new sales, carries the next growth cycle.</a:t>
            </a:r>
            <a:endParaRPr lang="en-US" sz="1500" dirty="0"/>
          </a:p>
        </p:txBody>
      </p:sp>
      <p:sp>
        <p:nvSpPr>
          <p:cNvPr id="10" name="Shape 8"/>
          <p:cNvSpPr/>
          <p:nvPr/>
        </p:nvSpPr>
        <p:spPr>
          <a:xfrm>
            <a:off x="502920" y="5440680"/>
            <a:ext cx="11155680" cy="0"/>
          </a:xfrm>
          <a:prstGeom prst="line">
            <a:avLst/>
          </a:prstGeom>
          <a:noFill/>
          <a:ln w="12700">
            <a:solidFill>
              <a:srgbClr val="CFCFCF"/>
            </a:solidFill>
            <a:prstDash val="solid"/>
          </a:ln>
        </p:spPr>
      </p:sp>
      <p:sp>
        <p:nvSpPr>
          <p:cNvPr id="11" name="Text 9"/>
          <p:cNvSpPr/>
          <p:nvPr/>
        </p:nvSpPr>
        <p:spPr>
          <a:xfrm>
            <a:off x="50292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Sprint OS Deck Builder</a:t>
            </a:r>
            <a:endParaRPr lang="en-US" sz="1300" dirty="0"/>
          </a:p>
        </p:txBody>
      </p:sp>
      <p:sp>
        <p:nvSpPr>
          <p:cNvPr id="12" name="Text 10"/>
          <p:cNvSpPr/>
          <p:nvPr/>
        </p:nvSpPr>
        <p:spPr>
          <a:xfrm>
            <a:off x="50292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Internal demo</a:t>
            </a:r>
            <a:endParaRPr lang="en-US" sz="1200" dirty="0"/>
          </a:p>
        </p:txBody>
      </p:sp>
      <p:sp>
        <p:nvSpPr>
          <p:cNvPr id="13" name="Text 11"/>
          <p:cNvSpPr/>
          <p:nvPr/>
        </p:nvSpPr>
        <p:spPr>
          <a:xfrm>
            <a:off x="603504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July 2026</a:t>
            </a:r>
            <a:endParaRPr lang="en-US" sz="1300" dirty="0"/>
          </a:p>
        </p:txBody>
      </p:sp>
      <p:sp>
        <p:nvSpPr>
          <p:cNvPr id="14" name="Text 12"/>
          <p:cNvSpPr/>
          <p:nvPr/>
        </p:nvSpPr>
        <p:spPr>
          <a:xfrm>
            <a:off x="603504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Confidential</a:t>
            </a:r>
            <a:endParaRPr lang="en-US" sz="1200" dirty="0"/>
          </a:p>
        </p:txBody>
      </p:sp>
      <p:sp>
        <p:nvSpPr>
          <p:cNvPr id="15" name="Text 13"/>
          <p:cNvSpPr/>
          <p:nvPr/>
        </p:nvSpPr>
        <p:spPr>
          <a:xfrm>
            <a:off x="502920" y="6419088"/>
            <a:ext cx="1060704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AGENDA</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Four parts, one decision to take in September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Text 3"/>
          <p:cNvSpPr/>
          <p:nvPr/>
        </p:nvSpPr>
        <p:spPr>
          <a:xfrm>
            <a:off x="777240" y="2148840"/>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01</a:t>
            </a:r>
            <a:endParaRPr lang="en-US" sz="2000" dirty="0"/>
          </a:p>
        </p:txBody>
      </p:sp>
      <p:sp>
        <p:nvSpPr>
          <p:cNvPr id="6" name="Text 4"/>
          <p:cNvSpPr/>
          <p:nvPr/>
        </p:nvSpPr>
        <p:spPr>
          <a:xfrm>
            <a:off x="1600200" y="2148840"/>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Context</a:t>
            </a:r>
            <a:endParaRPr lang="en-US" sz="1900" dirty="0"/>
          </a:p>
        </p:txBody>
      </p:sp>
      <p:sp>
        <p:nvSpPr>
          <p:cNvPr id="7" name="Text 5"/>
          <p:cNvSpPr/>
          <p:nvPr/>
        </p:nvSpPr>
        <p:spPr>
          <a:xfrm>
            <a:off x="5120640" y="2185416"/>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The core-market slowdown is structural, not cyclical</a:t>
            </a:r>
            <a:endParaRPr lang="en-US" sz="1300" dirty="0"/>
          </a:p>
        </p:txBody>
      </p:sp>
      <p:sp>
        <p:nvSpPr>
          <p:cNvPr id="8" name="Shape 6"/>
          <p:cNvSpPr/>
          <p:nvPr/>
        </p:nvSpPr>
        <p:spPr>
          <a:xfrm>
            <a:off x="777240" y="2862072"/>
            <a:ext cx="10835640" cy="0"/>
          </a:xfrm>
          <a:prstGeom prst="line">
            <a:avLst/>
          </a:prstGeom>
          <a:noFill/>
          <a:ln w="6350">
            <a:solidFill>
              <a:srgbClr val="2A323B"/>
            </a:solidFill>
            <a:prstDash val="solid"/>
          </a:ln>
        </p:spPr>
      </p:sp>
      <p:sp>
        <p:nvSpPr>
          <p:cNvPr id="9" name="Text 7"/>
          <p:cNvSpPr/>
          <p:nvPr/>
        </p:nvSpPr>
        <p:spPr>
          <a:xfrm>
            <a:off x="777240" y="3081528"/>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02</a:t>
            </a:r>
            <a:endParaRPr lang="en-US" sz="2000" dirty="0"/>
          </a:p>
        </p:txBody>
      </p:sp>
      <p:sp>
        <p:nvSpPr>
          <p:cNvPr id="10" name="Text 8"/>
          <p:cNvSpPr/>
          <p:nvPr/>
        </p:nvSpPr>
        <p:spPr>
          <a:xfrm>
            <a:off x="1600200" y="3081528"/>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Diagnosis</a:t>
            </a:r>
            <a:endParaRPr lang="en-US" sz="1900" dirty="0"/>
          </a:p>
        </p:txBody>
      </p:sp>
      <p:sp>
        <p:nvSpPr>
          <p:cNvPr id="11" name="Text 9"/>
          <p:cNvSpPr/>
          <p:nvPr/>
        </p:nvSpPr>
        <p:spPr>
          <a:xfrm>
            <a:off x="5120640" y="3118104"/>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Where the margin leaks: four findings on the installed base</a:t>
            </a:r>
            <a:endParaRPr lang="en-US" sz="1300" dirty="0"/>
          </a:p>
        </p:txBody>
      </p:sp>
      <p:sp>
        <p:nvSpPr>
          <p:cNvPr id="12" name="Shape 10"/>
          <p:cNvSpPr/>
          <p:nvPr/>
        </p:nvSpPr>
        <p:spPr>
          <a:xfrm>
            <a:off x="777240" y="3794760"/>
            <a:ext cx="10835640" cy="0"/>
          </a:xfrm>
          <a:prstGeom prst="line">
            <a:avLst/>
          </a:prstGeom>
          <a:noFill/>
          <a:ln w="6350">
            <a:solidFill>
              <a:srgbClr val="2A323B"/>
            </a:solidFill>
            <a:prstDash val="solid"/>
          </a:ln>
        </p:spPr>
      </p:sp>
      <p:sp>
        <p:nvSpPr>
          <p:cNvPr id="13" name="Text 11"/>
          <p:cNvSpPr/>
          <p:nvPr/>
        </p:nvSpPr>
        <p:spPr>
          <a:xfrm>
            <a:off x="777240" y="4014216"/>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03</a:t>
            </a:r>
            <a:endParaRPr lang="en-US" sz="2000" dirty="0"/>
          </a:p>
        </p:txBody>
      </p:sp>
      <p:sp>
        <p:nvSpPr>
          <p:cNvPr id="14" name="Text 12"/>
          <p:cNvSpPr/>
          <p:nvPr/>
        </p:nvSpPr>
        <p:spPr>
          <a:xfrm>
            <a:off x="1600200" y="4014216"/>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Options</a:t>
            </a:r>
            <a:endParaRPr lang="en-US" sz="1900" dirty="0"/>
          </a:p>
        </p:txBody>
      </p:sp>
      <p:sp>
        <p:nvSpPr>
          <p:cNvPr id="15" name="Text 13"/>
          <p:cNvSpPr/>
          <p:nvPr/>
        </p:nvSpPr>
        <p:spPr>
          <a:xfrm>
            <a:off x="5120640" y="4050792"/>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Three entry routes into managed services, one recommendation</a:t>
            </a:r>
            <a:endParaRPr lang="en-US" sz="1300" dirty="0"/>
          </a:p>
        </p:txBody>
      </p:sp>
      <p:sp>
        <p:nvSpPr>
          <p:cNvPr id="16" name="Shape 14"/>
          <p:cNvSpPr/>
          <p:nvPr/>
        </p:nvSpPr>
        <p:spPr>
          <a:xfrm>
            <a:off x="777240" y="4727448"/>
            <a:ext cx="10835640" cy="0"/>
          </a:xfrm>
          <a:prstGeom prst="line">
            <a:avLst/>
          </a:prstGeom>
          <a:noFill/>
          <a:ln w="6350">
            <a:solidFill>
              <a:srgbClr val="2A323B"/>
            </a:solidFill>
            <a:prstDash val="solid"/>
          </a:ln>
        </p:spPr>
      </p:sp>
      <p:sp>
        <p:nvSpPr>
          <p:cNvPr id="17" name="Text 15"/>
          <p:cNvSpPr/>
          <p:nvPr/>
        </p:nvSpPr>
        <p:spPr>
          <a:xfrm>
            <a:off x="777240" y="4946904"/>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04</a:t>
            </a:r>
            <a:endParaRPr lang="en-US" sz="2000" dirty="0"/>
          </a:p>
        </p:txBody>
      </p:sp>
      <p:sp>
        <p:nvSpPr>
          <p:cNvPr id="18" name="Text 16"/>
          <p:cNvSpPr/>
          <p:nvPr/>
        </p:nvSpPr>
        <p:spPr>
          <a:xfrm>
            <a:off x="1600200" y="4946904"/>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Execution</a:t>
            </a:r>
            <a:endParaRPr lang="en-US" sz="1900" dirty="0"/>
          </a:p>
        </p:txBody>
      </p:sp>
      <p:sp>
        <p:nvSpPr>
          <p:cNvPr id="19" name="Text 17"/>
          <p:cNvSpPr/>
          <p:nvPr/>
        </p:nvSpPr>
        <p:spPr>
          <a:xfrm>
            <a:off x="5120640" y="4983480"/>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Pilot, roadmap, governance and the first 100 days</a:t>
            </a:r>
            <a:endParaRPr lang="en-US" sz="1300" dirty="0"/>
          </a:p>
        </p:txBody>
      </p:sp>
      <p:sp>
        <p:nvSpPr>
          <p:cNvPr id="20" name="Text 18"/>
          <p:cNvSpPr/>
          <p:nvPr/>
        </p:nvSpPr>
        <p:spPr>
          <a:xfrm>
            <a:off x="777240" y="6080760"/>
            <a:ext cx="10789920" cy="36576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Objective: decide the entry route into managed services before the 2027 budget.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EXECUTIVE SUMMARY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Meridio can double its EBITDA by 2029 by concentrating investment on the services segment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Bottom line: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Shifting 60% of 2027-2029 capex to services doubles EBITDA and protects the core market.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01</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667512" y="1920240"/>
            <a:ext cx="310896" cy="310896"/>
          </a:xfrm>
          <a:prstGeom prst="roundRect">
            <a:avLst>
              <a:gd name="adj" fmla="val 14706"/>
            </a:avLst>
          </a:prstGeom>
          <a:solidFill>
            <a:srgbClr val="EFF4FE"/>
          </a:solidFill>
          <a:ln/>
        </p:spPr>
      </p:sp>
      <p:sp>
        <p:nvSpPr>
          <p:cNvPr id="13" name="Text 11"/>
          <p:cNvSpPr/>
          <p:nvPr/>
        </p:nvSpPr>
        <p:spPr>
          <a:xfrm>
            <a:off x="66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01</a:t>
            </a:r>
            <a:endParaRPr lang="en-US" sz="1200" dirty="0"/>
          </a:p>
        </p:txBody>
      </p:sp>
      <p:sp>
        <p:nvSpPr>
          <p:cNvPr id="14" name="Text 12"/>
          <p:cNvSpPr/>
          <p:nvPr/>
        </p:nvSpPr>
        <p:spPr>
          <a:xfrm>
            <a:off x="110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core market is slowing down</a:t>
            </a:r>
            <a:endParaRPr lang="en-US" sz="1400" dirty="0"/>
          </a:p>
        </p:txBody>
      </p:sp>
      <p:sp>
        <p:nvSpPr>
          <p:cNvPr id="15" name="Text 13"/>
          <p:cNvSpPr/>
          <p:nvPr/>
        </p:nvSpPr>
        <p:spPr>
          <a:xfrm>
            <a:off x="66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Equipment market growth has fallen from 6.1% per year (2019-2022) to 1.8% (2023-2025), a structural ceiling driven by the equipment penetration rate.</a:t>
            </a:r>
            <a:endParaRPr lang="en-US" sz="1200" dirty="0"/>
          </a:p>
        </p:txBody>
      </p:sp>
      <p:sp>
        <p:nvSpPr>
          <p:cNvPr id="16" name="Shape 14"/>
          <p:cNvSpPr/>
          <p:nvPr/>
        </p:nvSpPr>
        <p:spPr>
          <a:xfrm>
            <a:off x="667512" y="3712464"/>
            <a:ext cx="3206496" cy="0"/>
          </a:xfrm>
          <a:prstGeom prst="line">
            <a:avLst/>
          </a:prstGeom>
          <a:noFill/>
          <a:ln w="6350">
            <a:solidFill>
              <a:srgbClr val="CFCFCF"/>
            </a:solidFill>
            <a:prstDash val="solid"/>
          </a:ln>
        </p:spPr>
      </p:sp>
      <p:sp>
        <p:nvSpPr>
          <p:cNvPr id="17" name="Text 15"/>
          <p:cNvSpPr/>
          <p:nvPr/>
        </p:nvSpPr>
        <p:spPr>
          <a:xfrm>
            <a:off x="66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18" name="Text 16"/>
          <p:cNvSpPr/>
          <p:nvPr/>
        </p:nvSpPr>
        <p:spPr>
          <a:xfrm>
            <a:off x="66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current plan, built on 5% growth, overstates 2029 revenue by EUR 210M</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Every year of waiting narrows the repositioning window</a:t>
            </a:r>
            <a:endParaRPr lang="en-US" sz="1200" dirty="0"/>
          </a:p>
        </p:txBody>
      </p:sp>
      <p:sp>
        <p:nvSpPr>
          <p:cNvPr id="19" name="Shape 17"/>
          <p:cNvSpPr/>
          <p:nvPr/>
        </p:nvSpPr>
        <p:spPr>
          <a:xfrm>
            <a:off x="431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Shape 18"/>
          <p:cNvSpPr/>
          <p:nvPr/>
        </p:nvSpPr>
        <p:spPr>
          <a:xfrm>
            <a:off x="4477512" y="1920240"/>
            <a:ext cx="310896" cy="310896"/>
          </a:xfrm>
          <a:prstGeom prst="roundRect">
            <a:avLst>
              <a:gd name="adj" fmla="val 14706"/>
            </a:avLst>
          </a:prstGeom>
          <a:solidFill>
            <a:srgbClr val="EFF4FE"/>
          </a:solidFill>
          <a:ln/>
        </p:spPr>
      </p:sp>
      <p:sp>
        <p:nvSpPr>
          <p:cNvPr id="21" name="Text 19"/>
          <p:cNvSpPr/>
          <p:nvPr/>
        </p:nvSpPr>
        <p:spPr>
          <a:xfrm>
            <a:off x="447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02</a:t>
            </a:r>
            <a:endParaRPr lang="en-US" sz="1200" dirty="0"/>
          </a:p>
        </p:txBody>
      </p:sp>
      <p:sp>
        <p:nvSpPr>
          <p:cNvPr id="22" name="Text 20"/>
          <p:cNvSpPr/>
          <p:nvPr/>
        </p:nvSpPr>
        <p:spPr>
          <a:xfrm>
            <a:off x="491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Services already drive the margin</a:t>
            </a:r>
            <a:endParaRPr lang="en-US" sz="1400" dirty="0"/>
          </a:p>
        </p:txBody>
      </p:sp>
      <p:sp>
        <p:nvSpPr>
          <p:cNvPr id="23" name="Text 21"/>
          <p:cNvSpPr/>
          <p:nvPr/>
        </p:nvSpPr>
        <p:spPr>
          <a:xfrm>
            <a:off x="447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Services account for 22% of revenue but 41% of 2025 gross margin; their organic growth reaches 14% per year without any dedicated investment.</a:t>
            </a:r>
            <a:endParaRPr lang="en-US" sz="1200" dirty="0"/>
          </a:p>
        </p:txBody>
      </p:sp>
      <p:sp>
        <p:nvSpPr>
          <p:cNvPr id="24" name="Shape 22"/>
          <p:cNvSpPr/>
          <p:nvPr/>
        </p:nvSpPr>
        <p:spPr>
          <a:xfrm>
            <a:off x="4477512" y="3712464"/>
            <a:ext cx="3206496" cy="0"/>
          </a:xfrm>
          <a:prstGeom prst="line">
            <a:avLst/>
          </a:prstGeom>
          <a:noFill/>
          <a:ln w="6350">
            <a:solidFill>
              <a:srgbClr val="CFCFCF"/>
            </a:solidFill>
            <a:prstDash val="solid"/>
          </a:ln>
        </p:spPr>
      </p:sp>
      <p:sp>
        <p:nvSpPr>
          <p:cNvPr id="25" name="Text 23"/>
          <p:cNvSpPr/>
          <p:nvPr/>
        </p:nvSpPr>
        <p:spPr>
          <a:xfrm>
            <a:off x="447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26" name="Text 24"/>
          <p:cNvSpPr/>
          <p:nvPr/>
        </p:nvSpPr>
        <p:spPr>
          <a:xfrm>
            <a:off x="447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 35% services mix would lift group margin from 28% to 34%</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installed base (18,400 sites) is an under-monetized asset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An installed-base contract costs 5x less to acquire than a new sale</a:t>
            </a:r>
            <a:endParaRPr lang="en-US" sz="1200" dirty="0"/>
          </a:p>
        </p:txBody>
      </p:sp>
      <p:sp>
        <p:nvSpPr>
          <p:cNvPr id="27" name="Shape 25"/>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Shape 26"/>
          <p:cNvSpPr/>
          <p:nvPr/>
        </p:nvSpPr>
        <p:spPr>
          <a:xfrm>
            <a:off x="8287512" y="1920240"/>
            <a:ext cx="310896" cy="310896"/>
          </a:xfrm>
          <a:prstGeom prst="roundRect">
            <a:avLst>
              <a:gd name="adj" fmla="val 14706"/>
            </a:avLst>
          </a:prstGeom>
          <a:solidFill>
            <a:srgbClr val="EFF4FE"/>
          </a:solidFill>
          <a:ln/>
        </p:spPr>
      </p:sp>
      <p:sp>
        <p:nvSpPr>
          <p:cNvPr id="29" name="Text 27"/>
          <p:cNvSpPr/>
          <p:nvPr/>
        </p:nvSpPr>
        <p:spPr>
          <a:xfrm>
            <a:off x="828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03</a:t>
            </a:r>
            <a:endParaRPr lang="en-US" sz="1200" dirty="0"/>
          </a:p>
        </p:txBody>
      </p:sp>
      <p:sp>
        <p:nvSpPr>
          <p:cNvPr id="30" name="Text 28"/>
          <p:cNvSpPr/>
          <p:nvPr/>
        </p:nvSpPr>
        <p:spPr>
          <a:xfrm>
            <a:off x="872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competitive window is short</a:t>
            </a:r>
            <a:endParaRPr lang="en-US" sz="1400" dirty="0"/>
          </a:p>
        </p:txBody>
      </p:sp>
      <p:sp>
        <p:nvSpPr>
          <p:cNvPr id="31" name="Text 29"/>
          <p:cNvSpPr/>
          <p:nvPr/>
        </p:nvSpPr>
        <p:spPr>
          <a:xfrm>
            <a:off x="828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Two competitors have announced managed-services offers; neither yet matches Meridio's field coverage (94% of the territory).</a:t>
            </a:r>
            <a:endParaRPr lang="en-US" sz="1200" dirty="0"/>
          </a:p>
        </p:txBody>
      </p:sp>
      <p:sp>
        <p:nvSpPr>
          <p:cNvPr id="32" name="Shape 30"/>
          <p:cNvSpPr/>
          <p:nvPr/>
        </p:nvSpPr>
        <p:spPr>
          <a:xfrm>
            <a:off x="8287512" y="3712464"/>
            <a:ext cx="3206496" cy="0"/>
          </a:xfrm>
          <a:prstGeom prst="line">
            <a:avLst/>
          </a:prstGeom>
          <a:noFill/>
          <a:ln w="6350">
            <a:solidFill>
              <a:srgbClr val="CFCFCF"/>
            </a:solidFill>
            <a:prstDash val="solid"/>
          </a:ln>
        </p:spPr>
      </p:sp>
      <p:sp>
        <p:nvSpPr>
          <p:cNvPr id="33" name="Text 31"/>
          <p:cNvSpPr/>
          <p:nvPr/>
        </p:nvSpPr>
        <p:spPr>
          <a:xfrm>
            <a:off x="828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34" name="Text 32"/>
          <p:cNvSpPr/>
          <p:nvPr/>
        </p:nvSpPr>
        <p:spPr>
          <a:xfrm>
            <a:off x="828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coverage advantage erodes within 24-36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first mover historically captures 60% of the segment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Waiting until 2028 would halve the program's net present value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CONTEXT</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core market slowdown is structural, not cyclical</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02</a:t>
            </a:r>
            <a:endParaRPr lang="en-US" sz="850" dirty="0"/>
          </a:p>
        </p:txBody>
      </p:sp>
      <p:sp>
        <p:nvSpPr>
          <p:cNvPr id="8" name="Shape 6"/>
          <p:cNvSpPr/>
          <p:nvPr/>
        </p:nvSpPr>
        <p:spPr>
          <a:xfrm>
            <a:off x="502920" y="1737360"/>
            <a:ext cx="3022600" cy="4617720"/>
          </a:xfrm>
          <a:prstGeom prst="roundRect">
            <a:avLst>
              <a:gd name="adj" fmla="val 1815"/>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85800" y="1920240"/>
            <a:ext cx="2656840"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The essentials</a:t>
            </a:r>
            <a:endParaRPr lang="en-US" sz="1400" dirty="0"/>
          </a:p>
        </p:txBody>
      </p:sp>
      <p:sp>
        <p:nvSpPr>
          <p:cNvPr id="10" name="Text 8"/>
          <p:cNvSpPr/>
          <p:nvPr/>
        </p:nvSpPr>
        <p:spPr>
          <a:xfrm>
            <a:off x="685800" y="2304288"/>
            <a:ext cx="2656840" cy="388620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Four readings converge: the equipment market has reached its maximum penetration rate, and residual growth is shifting toward usage and maintenance of the installed base.</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This shift is not cyclical: it follows the equipment curve observed in Germany (2018) and Italy (2021), two markets where new-equipment sales never returned to their previous level.</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question is therefore not how to protect new-equipment sales, but how to organize the capture of usage value before competitors do.</a:t>
            </a:r>
            <a:endParaRPr lang="en-US" sz="1200" dirty="0"/>
          </a:p>
        </p:txBody>
      </p:sp>
      <p:sp>
        <p:nvSpPr>
          <p:cNvPr id="11" name="Text 9"/>
          <p:cNvSpPr/>
          <p:nvPr/>
        </p:nvSpPr>
        <p:spPr>
          <a:xfrm>
            <a:off x="379984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Finding</a:t>
            </a:r>
            <a:endParaRPr lang="en-US" sz="1400" dirty="0"/>
          </a:p>
        </p:txBody>
      </p:sp>
      <p:sp>
        <p:nvSpPr>
          <p:cNvPr id="12" name="Shape 10"/>
          <p:cNvSpPr/>
          <p:nvPr/>
        </p:nvSpPr>
        <p:spPr>
          <a:xfrm>
            <a:off x="3799840" y="2029968"/>
            <a:ext cx="457200" cy="27432"/>
          </a:xfrm>
          <a:prstGeom prst="rect">
            <a:avLst/>
          </a:prstGeom>
          <a:solidFill>
            <a:srgbClr val="2E7CF6"/>
          </a:solidFill>
          <a:ln/>
        </p:spPr>
      </p:sp>
      <p:sp>
        <p:nvSpPr>
          <p:cNvPr id="13" name="Text 11"/>
          <p:cNvSpPr/>
          <p:nvPr/>
        </p:nvSpPr>
        <p:spPr>
          <a:xfrm>
            <a:off x="379984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volume of new units sold in France has been declining by 2.4% per year since 2023, while the installed base keeps growing (+3.1% per year). The market is shifting from new sales to servicing the existing base: maintenance spending on the installed base is growing 5.8% per year over the same period, and no national player is consolidating it.</a:t>
            </a:r>
            <a:endParaRPr lang="en-US" sz="1200" dirty="0"/>
          </a:p>
        </p:txBody>
      </p:sp>
      <p:sp>
        <p:nvSpPr>
          <p:cNvPr id="14" name="Text 12"/>
          <p:cNvSpPr/>
          <p:nvPr/>
        </p:nvSpPr>
        <p:spPr>
          <a:xfrm>
            <a:off x="793496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Cause</a:t>
            </a:r>
            <a:endParaRPr lang="en-US" sz="1400" dirty="0"/>
          </a:p>
        </p:txBody>
      </p:sp>
      <p:sp>
        <p:nvSpPr>
          <p:cNvPr id="15" name="Shape 13"/>
          <p:cNvSpPr/>
          <p:nvPr/>
        </p:nvSpPr>
        <p:spPr>
          <a:xfrm>
            <a:off x="7934960" y="2029968"/>
            <a:ext cx="457200" cy="27432"/>
          </a:xfrm>
          <a:prstGeom prst="rect">
            <a:avLst/>
          </a:prstGeom>
          <a:solidFill>
            <a:srgbClr val="2E7CF6"/>
          </a:solidFill>
          <a:ln/>
        </p:spPr>
      </p:sp>
      <p:sp>
        <p:nvSpPr>
          <p:cNvPr id="16" name="Text 14"/>
          <p:cNvSpPr/>
          <p:nvPr/>
        </p:nvSpPr>
        <p:spPr>
          <a:xfrm>
            <a:off x="793496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equipment penetration rate of target industrial sites has reached 87%, versus 64% in 2015. First-equipment demand, Meridio's historical growth engine, is mechanically drying up: roughly 2,600 equippable sites remain, versus 11,000 in 2015, and commissioning of new industrial sites does not compensate (about 400 per year).</a:t>
            </a:r>
            <a:endParaRPr lang="en-US" sz="1200" dirty="0"/>
          </a:p>
        </p:txBody>
      </p:sp>
      <p:sp>
        <p:nvSpPr>
          <p:cNvPr id="17" name="Text 15"/>
          <p:cNvSpPr/>
          <p:nvPr/>
        </p:nvSpPr>
        <p:spPr>
          <a:xfrm>
            <a:off x="379984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Consequence</a:t>
            </a:r>
            <a:endParaRPr lang="en-US" sz="1400" dirty="0"/>
          </a:p>
        </p:txBody>
      </p:sp>
      <p:sp>
        <p:nvSpPr>
          <p:cNvPr id="18" name="Shape 16"/>
          <p:cNvSpPr/>
          <p:nvPr/>
        </p:nvSpPr>
        <p:spPr>
          <a:xfrm>
            <a:off x="3799840" y="4498848"/>
            <a:ext cx="457200" cy="27432"/>
          </a:xfrm>
          <a:prstGeom prst="rect">
            <a:avLst/>
          </a:prstGeom>
          <a:solidFill>
            <a:srgbClr val="2E7CF6"/>
          </a:solidFill>
          <a:ln/>
        </p:spPr>
      </p:sp>
      <p:sp>
        <p:nvSpPr>
          <p:cNvPr id="19" name="Text 17"/>
          <p:cNvSpPr/>
          <p:nvPr/>
        </p:nvSpPr>
        <p:spPr>
          <a:xfrm>
            <a:off x="379984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At constant plan, equipment revenue plateaus at EUR 640M in 2029 (versus EUR 850M budgeted). The EUR 210M gap cannot be closed through pricing: measured elasticity is -1.8, and competitive pressure on tenders has already compressed the average price by 3.1% in 2025.</a:t>
            </a:r>
            <a:endParaRPr lang="en-US" sz="1200" dirty="0"/>
          </a:p>
        </p:txBody>
      </p:sp>
      <p:sp>
        <p:nvSpPr>
          <p:cNvPr id="20" name="Text 18"/>
          <p:cNvSpPr/>
          <p:nvPr/>
        </p:nvSpPr>
        <p:spPr>
          <a:xfrm>
            <a:off x="793496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Implication</a:t>
            </a:r>
            <a:endParaRPr lang="en-US" sz="1400" dirty="0"/>
          </a:p>
        </p:txBody>
      </p:sp>
      <p:sp>
        <p:nvSpPr>
          <p:cNvPr id="21" name="Shape 19"/>
          <p:cNvSpPr/>
          <p:nvPr/>
        </p:nvSpPr>
        <p:spPr>
          <a:xfrm>
            <a:off x="7934960" y="4498848"/>
            <a:ext cx="457200" cy="27432"/>
          </a:xfrm>
          <a:prstGeom prst="rect">
            <a:avLst/>
          </a:prstGeom>
          <a:solidFill>
            <a:srgbClr val="2E7CF6"/>
          </a:solidFill>
          <a:ln/>
        </p:spPr>
      </p:sp>
      <p:sp>
        <p:nvSpPr>
          <p:cNvPr id="22" name="Text 20"/>
          <p:cNvSpPr/>
          <p:nvPr/>
        </p:nvSpPr>
        <p:spPr>
          <a:xfrm>
            <a:off x="793496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Growth must come from monetizing the installed base: predictive maintenance, parts, training, remote monitoring. It is the only growth lever built on assets already paid for (field coverage, usage data, brand) rather than on costly conquest, and the only one compatible with the timeline: every quarter of waiting lets 2,300 maintenance contracts be signed elsewhere.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APPROACH</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diagnosis rests on eight analyses, all documented in the appendix</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03</a:t>
            </a:r>
            <a:endParaRPr lang="en-US" sz="850" dirty="0"/>
          </a:p>
        </p:txBody>
      </p:sp>
      <p:sp>
        <p:nvSpPr>
          <p:cNvPr id="8" name="Shape 6"/>
          <p:cNvSpPr/>
          <p:nvPr/>
        </p:nvSpPr>
        <p:spPr>
          <a:xfrm>
            <a:off x="502920" y="1737360"/>
            <a:ext cx="2940908" cy="4617720"/>
          </a:xfrm>
          <a:prstGeom prst="roundRect">
            <a:avLst>
              <a:gd name="adj" fmla="val 1866"/>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01  </a:t>
            </a:r>
            <a:pPr indent="0" marL="0">
              <a:buNone/>
            </a:pPr>
            <a:r>
              <a:rPr lang="en-US" sz="1050" dirty="0">
                <a:solidFill>
                  <a:srgbClr val="595959"/>
                </a:solidFill>
                <a:latin typeface="Arial" pitchFamily="34" charset="0"/>
                <a:ea typeface="Arial" pitchFamily="34" charset="-122"/>
                <a:cs typeface="Arial" pitchFamily="34" charset="-120"/>
              </a:rPr>
              <a:t>Market sizing</a:t>
            </a:r>
            <a:endParaRPr lang="en-US" sz="1050" dirty="0"/>
          </a:p>
        </p:txBody>
      </p:sp>
      <p:sp>
        <p:nvSpPr>
          <p:cNvPr id="10" name="Text 8"/>
          <p:cNvSpPr/>
          <p:nvPr/>
        </p:nvSpPr>
        <p:spPr>
          <a:xfrm>
            <a:off x="667512" y="2438019"/>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02  </a:t>
            </a:r>
            <a:pPr indent="0" marL="0">
              <a:buNone/>
            </a:pPr>
            <a:r>
              <a:rPr lang="en-US" sz="1050" dirty="0">
                <a:solidFill>
                  <a:srgbClr val="1A1A1A"/>
                </a:solidFill>
                <a:latin typeface="Arial" pitchFamily="34" charset="0"/>
                <a:ea typeface="Arial" pitchFamily="34" charset="-122"/>
                <a:cs typeface="Arial" pitchFamily="34" charset="-120"/>
              </a:rPr>
              <a:t>Installed-base analysis</a:t>
            </a:r>
            <a:endParaRPr lang="en-US" sz="1050" dirty="0"/>
          </a:p>
        </p:txBody>
      </p:sp>
      <p:sp>
        <p:nvSpPr>
          <p:cNvPr id="11" name="Text 9"/>
          <p:cNvSpPr/>
          <p:nvPr/>
        </p:nvSpPr>
        <p:spPr>
          <a:xfrm>
            <a:off x="667512" y="2974086"/>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03  </a:t>
            </a:r>
            <a:pPr indent="0" marL="0">
              <a:buNone/>
            </a:pPr>
            <a:r>
              <a:rPr lang="en-US" sz="1050" dirty="0">
                <a:solidFill>
                  <a:srgbClr val="595959"/>
                </a:solidFill>
                <a:latin typeface="Arial" pitchFamily="34" charset="0"/>
                <a:ea typeface="Arial" pitchFamily="34" charset="-122"/>
                <a:cs typeface="Arial" pitchFamily="34" charset="-120"/>
              </a:rPr>
              <a:t>Customer interviews (n=42)</a:t>
            </a:r>
            <a:endParaRPr lang="en-US" sz="1050" dirty="0"/>
          </a:p>
        </p:txBody>
      </p:sp>
      <p:sp>
        <p:nvSpPr>
          <p:cNvPr id="12" name="Text 10"/>
          <p:cNvSpPr/>
          <p:nvPr/>
        </p:nvSpPr>
        <p:spPr>
          <a:xfrm>
            <a:off x="667512" y="3510153"/>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04  </a:t>
            </a:r>
            <a:pPr indent="0" marL="0">
              <a:buNone/>
            </a:pPr>
            <a:r>
              <a:rPr lang="en-US" sz="1050" dirty="0">
                <a:solidFill>
                  <a:srgbClr val="595959"/>
                </a:solidFill>
                <a:latin typeface="Arial" pitchFamily="34" charset="0"/>
                <a:ea typeface="Arial" pitchFamily="34" charset="-122"/>
                <a:cs typeface="Arial" pitchFamily="34" charset="-120"/>
              </a:rPr>
              <a:t>Competitor benchmark</a:t>
            </a:r>
            <a:endParaRPr lang="en-US" sz="1050" dirty="0"/>
          </a:p>
        </p:txBody>
      </p:sp>
      <p:sp>
        <p:nvSpPr>
          <p:cNvPr id="13" name="Text 11"/>
          <p:cNvSpPr/>
          <p:nvPr/>
        </p:nvSpPr>
        <p:spPr>
          <a:xfrm>
            <a:off x="667512" y="4046220"/>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05  </a:t>
            </a:r>
            <a:pPr indent="0" marL="0">
              <a:buNone/>
            </a:pPr>
            <a:r>
              <a:rPr lang="en-US" sz="1050" dirty="0">
                <a:solidFill>
                  <a:srgbClr val="595959"/>
                </a:solidFill>
                <a:latin typeface="Arial" pitchFamily="34" charset="0"/>
                <a:ea typeface="Arial" pitchFamily="34" charset="-122"/>
                <a:cs typeface="Arial" pitchFamily="34" charset="-120"/>
              </a:rPr>
              <a:t>Services economics</a:t>
            </a:r>
            <a:endParaRPr lang="en-US" sz="1050" dirty="0"/>
          </a:p>
        </p:txBody>
      </p:sp>
      <p:sp>
        <p:nvSpPr>
          <p:cNvPr id="14" name="Text 12"/>
          <p:cNvSpPr/>
          <p:nvPr/>
        </p:nvSpPr>
        <p:spPr>
          <a:xfrm>
            <a:off x="667512" y="4582287"/>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06  </a:t>
            </a:r>
            <a:pPr indent="0" marL="0">
              <a:buNone/>
            </a:pPr>
            <a:r>
              <a:rPr lang="en-US" sz="1050" dirty="0">
                <a:solidFill>
                  <a:srgbClr val="595959"/>
                </a:solidFill>
                <a:latin typeface="Arial" pitchFamily="34" charset="0"/>
                <a:ea typeface="Arial" pitchFamily="34" charset="-122"/>
                <a:cs typeface="Arial" pitchFamily="34" charset="-120"/>
              </a:rPr>
              <a:t>Internal capabilities</a:t>
            </a:r>
            <a:endParaRPr lang="en-US" sz="1050" dirty="0"/>
          </a:p>
        </p:txBody>
      </p:sp>
      <p:sp>
        <p:nvSpPr>
          <p:cNvPr id="15" name="Text 13"/>
          <p:cNvSpPr/>
          <p:nvPr/>
        </p:nvSpPr>
        <p:spPr>
          <a:xfrm>
            <a:off x="667512" y="5118354"/>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07  </a:t>
            </a:r>
            <a:pPr indent="0" marL="0">
              <a:buNone/>
            </a:pPr>
            <a:r>
              <a:rPr lang="en-US" sz="1050" dirty="0">
                <a:solidFill>
                  <a:srgbClr val="595959"/>
                </a:solidFill>
                <a:latin typeface="Arial" pitchFamily="34" charset="0"/>
                <a:ea typeface="Arial" pitchFamily="34" charset="-122"/>
                <a:cs typeface="Arial" pitchFamily="34" charset="-120"/>
              </a:rPr>
              <a:t>Financial scenarios</a:t>
            </a:r>
            <a:endParaRPr lang="en-US" sz="1050" dirty="0"/>
          </a:p>
        </p:txBody>
      </p:sp>
      <p:sp>
        <p:nvSpPr>
          <p:cNvPr id="16" name="Text 14"/>
          <p:cNvSpPr/>
          <p:nvPr/>
        </p:nvSpPr>
        <p:spPr>
          <a:xfrm>
            <a:off x="667512" y="5654421"/>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08  </a:t>
            </a:r>
            <a:pPr indent="0" marL="0">
              <a:buNone/>
            </a:pPr>
            <a:r>
              <a:rPr lang="en-US" sz="1050" dirty="0">
                <a:solidFill>
                  <a:srgbClr val="595959"/>
                </a:solidFill>
                <a:latin typeface="Arial" pitchFamily="34" charset="0"/>
                <a:ea typeface="Arial" pitchFamily="34" charset="-122"/>
                <a:cs typeface="Arial" pitchFamily="34" charset="-120"/>
              </a:rPr>
              <a:t>Implementation plan</a:t>
            </a:r>
            <a:endParaRPr lang="en-US" sz="1050" dirty="0"/>
          </a:p>
        </p:txBody>
      </p:sp>
      <p:sp>
        <p:nvSpPr>
          <p:cNvPr id="17" name="Text 15"/>
          <p:cNvSpPr/>
          <p:nvPr/>
        </p:nvSpPr>
        <p:spPr>
          <a:xfrm>
            <a:off x="3718148" y="1737360"/>
            <a:ext cx="7940452"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Analysis 2: the installed base, the central asset of the case</a:t>
            </a:r>
            <a:endParaRPr lang="en-US" sz="1400" dirty="0"/>
          </a:p>
        </p:txBody>
      </p:sp>
      <p:sp>
        <p:nvSpPr>
          <p:cNvPr id="18" name="Text 16"/>
          <p:cNvSpPr/>
          <p:nvPr/>
        </p:nvSpPr>
        <p:spPr>
          <a:xfrm>
            <a:off x="3718148" y="2148840"/>
            <a:ext cx="7940452" cy="4206240"/>
          </a:xfrm>
          <a:prstGeom prst="rect">
            <a:avLst/>
          </a:prstGeom>
          <a:noFill/>
          <a:ln/>
        </p:spPr>
        <p:txBody>
          <a:bodyPr wrap="square" lIns="0" tIns="0" rIns="0" bIns="0" rtlCol="0" anchor="t"/>
          <a:lstStyle/>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The 18,400-site installed base is Meridio's foremost strategic asset.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Each site generates on average EUR 4,200 per year in maintenance and parts spending, of which Meridio captures only 31% today. The rest goes to independent maintainers, less well equipped but more present commercially.</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Usage data changes the economic equation.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Across the 6,800 connected sites, the avoidable-failure rate reaches 38%: predictive maintenance would support selling a premium contract while cutting intervention costs by 22%.</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Field coverage is a defensible advantage.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94% of sites are within two hours of a Meridio technician, versus 61% for the best-placed competitor. This gap, costly to replicate, justifies a price premium measured at 8-12% in the customer interviews.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DIAGNOSIS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findings command the shift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04</a:t>
            </a:r>
            <a:endParaRPr lang="en-US" sz="850" dirty="0"/>
          </a:p>
        </p:txBody>
      </p:sp>
      <p:sp>
        <p:nvSpPr>
          <p:cNvPr id="8" name="Shape 6"/>
          <p:cNvSpPr/>
          <p:nvPr/>
        </p:nvSpPr>
        <p:spPr>
          <a:xfrm>
            <a:off x="502920" y="1737360"/>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30936" y="2097405"/>
            <a:ext cx="310896" cy="310896"/>
          </a:xfrm>
          <a:prstGeom prst="roundRect">
            <a:avLst>
              <a:gd name="adj" fmla="val 14706"/>
            </a:avLst>
          </a:prstGeom>
          <a:solidFill>
            <a:srgbClr val="1D5FCC"/>
          </a:solidFill>
          <a:ln/>
        </p:spPr>
      </p:sp>
      <p:sp>
        <p:nvSpPr>
          <p:cNvPr id="10" name="Text 8"/>
          <p:cNvSpPr/>
          <p:nvPr/>
        </p:nvSpPr>
        <p:spPr>
          <a:xfrm>
            <a:off x="630936" y="2097405"/>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1" name="Text 9"/>
          <p:cNvSpPr/>
          <p:nvPr/>
        </p:nvSpPr>
        <p:spPr>
          <a:xfrm>
            <a:off x="1069848" y="1810512"/>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New-equipment sales are plateauing: -2.4% per year since 2023</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Target penetration rate reached (87%)</a:t>
            </a:r>
            <a:endParaRPr lang="en-US" sz="1250" dirty="0"/>
          </a:p>
        </p:txBody>
      </p:sp>
      <p:sp>
        <p:nvSpPr>
          <p:cNvPr id="12" name="Shape 10"/>
          <p:cNvSpPr/>
          <p:nvPr/>
        </p:nvSpPr>
        <p:spPr>
          <a:xfrm>
            <a:off x="502920" y="2932938"/>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Shape 11"/>
          <p:cNvSpPr/>
          <p:nvPr/>
        </p:nvSpPr>
        <p:spPr>
          <a:xfrm>
            <a:off x="630936" y="3292983"/>
            <a:ext cx="310896" cy="310896"/>
          </a:xfrm>
          <a:prstGeom prst="roundRect">
            <a:avLst>
              <a:gd name="adj" fmla="val 14706"/>
            </a:avLst>
          </a:prstGeom>
          <a:solidFill>
            <a:srgbClr val="1D5FCC"/>
          </a:solidFill>
          <a:ln/>
        </p:spPr>
      </p:sp>
      <p:sp>
        <p:nvSpPr>
          <p:cNvPr id="14" name="Text 12"/>
          <p:cNvSpPr/>
          <p:nvPr/>
        </p:nvSpPr>
        <p:spPr>
          <a:xfrm>
            <a:off x="630936" y="329298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Text 13"/>
          <p:cNvSpPr/>
          <p:nvPr/>
        </p:nvSpPr>
        <p:spPr>
          <a:xfrm>
            <a:off x="1069848" y="3006090"/>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Services deliver 41% of the margin with 22% of revenue</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14% organic growth per year, without investment</a:t>
            </a:r>
            <a:endParaRPr lang="en-US" sz="1250" dirty="0"/>
          </a:p>
        </p:txBody>
      </p:sp>
      <p:sp>
        <p:nvSpPr>
          <p:cNvPr id="16" name="Shape 14"/>
          <p:cNvSpPr/>
          <p:nvPr/>
        </p:nvSpPr>
        <p:spPr>
          <a:xfrm>
            <a:off x="502920" y="4128516"/>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0936" y="4488561"/>
            <a:ext cx="310896" cy="310896"/>
          </a:xfrm>
          <a:prstGeom prst="roundRect">
            <a:avLst>
              <a:gd name="adj" fmla="val 14706"/>
            </a:avLst>
          </a:prstGeom>
          <a:solidFill>
            <a:srgbClr val="1D5FCC"/>
          </a:solidFill>
          <a:ln/>
        </p:spPr>
      </p:sp>
      <p:sp>
        <p:nvSpPr>
          <p:cNvPr id="18" name="Text 16"/>
          <p:cNvSpPr/>
          <p:nvPr/>
        </p:nvSpPr>
        <p:spPr>
          <a:xfrm>
            <a:off x="630936" y="4488561"/>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9" name="Text 17"/>
          <p:cNvSpPr/>
          <p:nvPr/>
        </p:nvSpPr>
        <p:spPr>
          <a:xfrm>
            <a:off x="1069848" y="4201668"/>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69% of installed-base maintenance escapes Meridio</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Captured by less well-equipped independents</a:t>
            </a:r>
            <a:endParaRPr lang="en-US" sz="1250" dirty="0"/>
          </a:p>
        </p:txBody>
      </p:sp>
      <p:sp>
        <p:nvSpPr>
          <p:cNvPr id="20" name="Shape 18"/>
          <p:cNvSpPr/>
          <p:nvPr/>
        </p:nvSpPr>
        <p:spPr>
          <a:xfrm>
            <a:off x="502920" y="5324094"/>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Shape 19"/>
          <p:cNvSpPr/>
          <p:nvPr/>
        </p:nvSpPr>
        <p:spPr>
          <a:xfrm>
            <a:off x="630936" y="5684139"/>
            <a:ext cx="310896" cy="310896"/>
          </a:xfrm>
          <a:prstGeom prst="roundRect">
            <a:avLst>
              <a:gd name="adj" fmla="val 14706"/>
            </a:avLst>
          </a:prstGeom>
          <a:solidFill>
            <a:srgbClr val="1D5FCC"/>
          </a:solidFill>
          <a:ln/>
        </p:spPr>
      </p:sp>
      <p:sp>
        <p:nvSpPr>
          <p:cNvPr id="22" name="Text 20"/>
          <p:cNvSpPr/>
          <p:nvPr/>
        </p:nvSpPr>
        <p:spPr>
          <a:xfrm>
            <a:off x="630936" y="5684139"/>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3" name="Text 21"/>
          <p:cNvSpPr/>
          <p:nvPr/>
        </p:nvSpPr>
        <p:spPr>
          <a:xfrm>
            <a:off x="1069848" y="5397246"/>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Two competitors are preparing managed offers</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Q1 2026 announcements; field coverage still inferior</a:t>
            </a:r>
            <a:endParaRPr lang="en-US" sz="1250" dirty="0"/>
          </a:p>
        </p:txBody>
      </p:sp>
      <p:sp>
        <p:nvSpPr>
          <p:cNvPr id="24" name="Shape 22"/>
          <p:cNvSpPr/>
          <p:nvPr/>
        </p:nvSpPr>
        <p:spPr>
          <a:xfrm>
            <a:off x="7628467" y="1737360"/>
            <a:ext cx="4030133" cy="4617720"/>
          </a:xfrm>
          <a:prstGeom prst="roundRect">
            <a:avLst>
              <a:gd name="adj" fmla="val 136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7628467" y="1792224"/>
            <a:ext cx="73152" cy="4507992"/>
          </a:xfrm>
          <a:prstGeom prst="roundRect">
            <a:avLst>
              <a:gd name="adj" fmla="val 50000"/>
            </a:avLst>
          </a:prstGeom>
          <a:solidFill>
            <a:srgbClr val="2E7CF6"/>
          </a:solidFill>
          <a:ln/>
        </p:spPr>
      </p:sp>
      <p:sp>
        <p:nvSpPr>
          <p:cNvPr id="26" name="Text 24"/>
          <p:cNvSpPr/>
          <p:nvPr/>
        </p:nvSpPr>
        <p:spPr>
          <a:xfrm>
            <a:off x="7884499" y="1938528"/>
            <a:ext cx="3572933" cy="292608"/>
          </a:xfrm>
          <a:prstGeom prst="rect">
            <a:avLst/>
          </a:prstGeom>
          <a:noFill/>
          <a:ln/>
        </p:spPr>
        <p:txBody>
          <a:bodyPr wrap="square" lIns="0" tIns="0" rIns="0" bIns="0" rtlCol="0" anchor="ctr"/>
          <a:lstStyle/>
          <a:p>
            <a:pPr indent="0" marL="0">
              <a:buNone/>
            </a:pPr>
            <a:r>
              <a:rPr lang="en-US" sz="1500" b="1" dirty="0">
                <a:solidFill>
                  <a:srgbClr val="1D5FCC"/>
                </a:solidFill>
                <a:latin typeface="Arial" pitchFamily="34" charset="0"/>
                <a:ea typeface="Arial" pitchFamily="34" charset="-122"/>
                <a:cs typeface="Arial" pitchFamily="34" charset="-120"/>
              </a:rPr>
              <a:t>So what?</a:t>
            </a:r>
            <a:endParaRPr lang="en-US" sz="1500" dirty="0"/>
          </a:p>
        </p:txBody>
      </p:sp>
      <p:sp>
        <p:nvSpPr>
          <p:cNvPr id="27" name="Text 25"/>
          <p:cNvSpPr/>
          <p:nvPr/>
        </p:nvSpPr>
        <p:spPr>
          <a:xfrm>
            <a:off x="7884499" y="2350008"/>
            <a:ext cx="3572933" cy="3758184"/>
          </a:xfrm>
          <a:prstGeom prst="rect">
            <a:avLst/>
          </a:prstGeom>
          <a:noFill/>
          <a:ln/>
        </p:spPr>
        <p:txBody>
          <a:bodyPr wrap="square" lIns="0" tIns="0" rIns="0" bIns="0" rtlCol="0" anchor="t"/>
          <a:lstStyle/>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status quo protects neither revenue (new-sales ceiling) nor margin (maintenance leakage).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services shift is not one growth option among others: it is the only one built on an advantage already paid for — the installed base and field coverage.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Timing is the real decision at stake: all four findings are deteriorating in the same direction, and two of them (competition, maintenance attrition) are irreversible once contracts are signed elsewhere.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Hence the recommendation to decide at the September committee, before the 2027 budget.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DECISION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Three entry routes into managed services, only one maximizes the value of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05</a:t>
            </a:r>
            <a:endParaRPr lang="en-US" sz="850" dirty="0"/>
          </a:p>
        </p:txBody>
      </p:sp>
      <p:sp>
        <p:nvSpPr>
          <p:cNvPr id="8" name="Shape 6"/>
          <p:cNvSpPr/>
          <p:nvPr/>
        </p:nvSpPr>
        <p:spPr>
          <a:xfrm>
            <a:off x="502920" y="1737360"/>
            <a:ext cx="2583180" cy="3065929"/>
          </a:xfrm>
          <a:prstGeom prst="roundRect">
            <a:avLst>
              <a:gd name="adj" fmla="val 2124"/>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2539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Decision required</a:t>
            </a:r>
            <a:endParaRPr lang="en-US" sz="1400" dirty="0"/>
          </a:p>
        </p:txBody>
      </p:sp>
      <p:sp>
        <p:nvSpPr>
          <p:cNvPr id="10" name="Text 8"/>
          <p:cNvSpPr/>
          <p:nvPr/>
        </p:nvSpPr>
        <p:spPr>
          <a:xfrm>
            <a:off x="667512" y="2286000"/>
            <a:ext cx="2253996" cy="2425849"/>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committee must decide on the entry route into managed services before the 2027 budget. The choice commits EUR 45-120M of capex, the structure of the sales organization and the competitive timeline: the three routes were assessed against the same grid (time-to-market, customer control, capex, execution risk).</a:t>
            </a:r>
            <a:endParaRPr lang="en-US" sz="1200" dirty="0"/>
          </a:p>
        </p:txBody>
      </p:sp>
      <p:sp>
        <p:nvSpPr>
          <p:cNvPr id="11" name="Shape 9"/>
          <p:cNvSpPr/>
          <p:nvPr/>
        </p:nvSpPr>
        <p:spPr>
          <a:xfrm>
            <a:off x="3360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3525012" y="1920240"/>
            <a:ext cx="310896" cy="310896"/>
          </a:xfrm>
          <a:prstGeom prst="roundRect">
            <a:avLst>
              <a:gd name="adj" fmla="val 14706"/>
            </a:avLst>
          </a:prstGeom>
          <a:solidFill>
            <a:srgbClr val="1D5FCC"/>
          </a:solidFill>
          <a:ln/>
        </p:spPr>
      </p:sp>
      <p:sp>
        <p:nvSpPr>
          <p:cNvPr id="13" name="Text 11"/>
          <p:cNvSpPr/>
          <p:nvPr/>
        </p:nvSpPr>
        <p:spPr>
          <a:xfrm>
            <a:off x="3525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4" name="Text 12"/>
          <p:cNvSpPr/>
          <p:nvPr/>
        </p:nvSpPr>
        <p:spPr>
          <a:xfrm>
            <a:off x="3963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Build</a:t>
            </a:r>
            <a:endParaRPr lang="en-US" sz="1400" dirty="0"/>
          </a:p>
        </p:txBody>
      </p:sp>
      <p:sp>
        <p:nvSpPr>
          <p:cNvPr id="15" name="Text 13"/>
          <p:cNvSpPr/>
          <p:nvPr/>
        </p:nvSpPr>
        <p:spPr>
          <a:xfrm>
            <a:off x="3525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Proprietary platform in 24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120M capex, full control of the roadmap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High execution risk: 40 tech hires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Time-to-market incompatible with the competitive window</a:t>
            </a:r>
            <a:endParaRPr lang="en-US" sz="1200" dirty="0"/>
          </a:p>
        </p:txBody>
      </p:sp>
      <p:sp>
        <p:nvSpPr>
          <p:cNvPr id="16" name="Shape 14"/>
          <p:cNvSpPr/>
          <p:nvPr/>
        </p:nvSpPr>
        <p:spPr>
          <a:xfrm>
            <a:off x="62179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82512" y="1920240"/>
            <a:ext cx="310896" cy="310896"/>
          </a:xfrm>
          <a:prstGeom prst="roundRect">
            <a:avLst>
              <a:gd name="adj" fmla="val 14706"/>
            </a:avLst>
          </a:prstGeom>
          <a:solidFill>
            <a:srgbClr val="1D5FCC"/>
          </a:solidFill>
          <a:ln/>
        </p:spPr>
      </p:sp>
      <p:sp>
        <p:nvSpPr>
          <p:cNvPr id="18" name="Text 16"/>
          <p:cNvSpPr/>
          <p:nvPr/>
        </p:nvSpPr>
        <p:spPr>
          <a:xfrm>
            <a:off x="63825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19" name="Text 17"/>
          <p:cNvSpPr/>
          <p:nvPr/>
        </p:nvSpPr>
        <p:spPr>
          <a:xfrm>
            <a:off x="68214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Acquire</a:t>
            </a:r>
            <a:endParaRPr lang="en-US" sz="1400" dirty="0"/>
          </a:p>
        </p:txBody>
      </p:sp>
      <p:sp>
        <p:nvSpPr>
          <p:cNvPr id="20" name="Text 18"/>
          <p:cNvSpPr/>
          <p:nvPr/>
        </p:nvSpPr>
        <p:spPr>
          <a:xfrm>
            <a:off x="63825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Target identified: Novaserv (EUR 34M revenue, profitable)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Immediate access to 2,100 contracts and 60 technicians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Estimated premium 9-11x EBITDA (market at 8x)</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Main risk: contract retention at announcement</a:t>
            </a:r>
            <a:endParaRPr lang="en-US" sz="1200" dirty="0"/>
          </a:p>
        </p:txBody>
      </p:sp>
      <p:sp>
        <p:nvSpPr>
          <p:cNvPr id="21" name="Shape 19"/>
          <p:cNvSpPr/>
          <p:nvPr/>
        </p:nvSpPr>
        <p:spPr>
          <a:xfrm>
            <a:off x="9075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Shape 20"/>
          <p:cNvSpPr/>
          <p:nvPr/>
        </p:nvSpPr>
        <p:spPr>
          <a:xfrm>
            <a:off x="9240012" y="1920240"/>
            <a:ext cx="310896" cy="310896"/>
          </a:xfrm>
          <a:prstGeom prst="roundRect">
            <a:avLst>
              <a:gd name="adj" fmla="val 14706"/>
            </a:avLst>
          </a:prstGeom>
          <a:solidFill>
            <a:srgbClr val="1D5FCC"/>
          </a:solidFill>
          <a:ln/>
        </p:spPr>
      </p:sp>
      <p:sp>
        <p:nvSpPr>
          <p:cNvPr id="23" name="Text 21"/>
          <p:cNvSpPr/>
          <p:nvPr/>
        </p:nvSpPr>
        <p:spPr>
          <a:xfrm>
            <a:off x="9240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4" name="Text 22"/>
          <p:cNvSpPr/>
          <p:nvPr/>
        </p:nvSpPr>
        <p:spPr>
          <a:xfrm>
            <a:off x="9678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Partner</a:t>
            </a:r>
            <a:endParaRPr lang="en-US" sz="1400" dirty="0"/>
          </a:p>
        </p:txBody>
      </p:sp>
      <p:sp>
        <p:nvSpPr>
          <p:cNvPr id="25" name="Text 23"/>
          <p:cNvSpPr/>
          <p:nvPr/>
        </p:nvSpPr>
        <p:spPr>
          <a:xfrm>
            <a:off x="9240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JV with an established IoT vendor (2 candidates)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45M capex, 12-month time-to-market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60/40 margin split on the premium tier</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Technology dependence to be framed contractually</a:t>
            </a:r>
            <a:endParaRPr lang="en-US" sz="1200" dirty="0"/>
          </a:p>
        </p:txBody>
      </p:sp>
      <p:sp>
        <p:nvSpPr>
          <p:cNvPr id="26" name="SOGRAD~346FD1~154493~90"/>
          <p:cNvSpPr/>
          <p:nvPr/>
        </p:nvSpPr>
        <p:spPr>
          <a:xfrm>
            <a:off x="502920" y="5077609"/>
            <a:ext cx="11155680" cy="1277471"/>
          </a:xfrm>
          <a:prstGeom prst="roundRect">
            <a:avLst>
              <a:gd name="adj" fmla="val 4295"/>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731520" y="5077609"/>
            <a:ext cx="10698480" cy="1277471"/>
          </a:xfrm>
          <a:prstGeom prst="rect">
            <a:avLst/>
          </a:prstGeom>
          <a:noFill/>
          <a:ln/>
        </p:spPr>
        <p:txBody>
          <a:bodyPr wrap="square" lIns="0" tIns="0" rIns="0" bIns="0" rtlCol="0" anchor="ctr"/>
          <a:lstStyle/>
          <a:p>
            <a:pPr indent="0" marL="0">
              <a:lnSpc>
                <a:spcPct val="115000"/>
              </a:lnSpc>
              <a:buNone/>
            </a:pPr>
            <a:r>
              <a:rPr lang="en-US" sz="1250" b="1" dirty="0">
                <a:solidFill>
                  <a:srgbClr val="5B9CFF"/>
                </a:solidFill>
                <a:latin typeface="Arial" pitchFamily="34" charset="0"/>
                <a:ea typeface="Arial" pitchFamily="34" charset="-122"/>
                <a:cs typeface="Arial" pitchFamily="34" charset="-120"/>
              </a:rPr>
              <a:t>Recommendation: </a:t>
            </a:r>
            <a:pPr indent="0" marL="0">
              <a:lnSpc>
                <a:spcPct val="115000"/>
              </a:lnSpc>
              <a:buNone/>
            </a:pPr>
            <a:r>
              <a:rPr lang="en-US" sz="1250" dirty="0">
                <a:solidFill>
                  <a:srgbClr val="FFFFFF"/>
                </a:solidFill>
                <a:latin typeface="Arial" pitchFamily="34" charset="0"/>
                <a:ea typeface="Arial" pitchFamily="34" charset="-122"/>
                <a:cs typeface="Arial" pitchFamily="34" charset="-120"/>
              </a:rPr>
              <a:t>Acquire Novaserv then migrate its contracts to a partner platform: the speed of the acquisition, the economics of the partnership.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RISKS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Five major risks are identified, three require action before launch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Reading: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Risks 1 and 3 drive the timeline: address them before the program's public announcement.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06</a:t>
            </a:r>
            <a:endParaRPr lang="en-US" sz="850" dirty="0"/>
          </a:p>
        </p:txBody>
      </p:sp>
      <p:sp>
        <p:nvSpPr>
          <p:cNvPr id="11" name="Text 9"/>
          <p:cNvSpPr/>
          <p:nvPr/>
        </p:nvSpPr>
        <p:spPr>
          <a:xfrm>
            <a:off x="502920" y="1719072"/>
            <a:ext cx="11155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Program risk register, July 2026 assessment</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55680" cy="914400"/>
        </p:xfrm>
        <a:graphic>
          <a:graphicData uri="http://schemas.openxmlformats.org/drawingml/2006/table">
            <a:tbl>
              <a:tblPr/>
              <a:tblGrid>
                <a:gridCol w="3486150"/>
                <a:gridCol w="1162050"/>
                <a:gridCol w="1162050"/>
                <a:gridCol w="3950970"/>
                <a:gridCol w="1394460"/>
              </a:tblGrid>
              <a:tr h="60502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Risk</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Impact</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Probability</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Mitigation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Owner</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Senior technician attrition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Targeted retention plan (installed-base bonus + expert track) before the announcement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Contracts cannibalizing new sales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Linked pricing: equipment discount conditional on a 5-year contract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Sales Dir.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Novaserv integration slower than planned</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Dedicated integration team, synergy milestones at 6/12/18 months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PMO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Price reaction from independents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Segment: predictive premium where data creates the gap</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Strategy</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Platform capex overrun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Capped partner architecture, quarterly review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CIO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TRAJECTORY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shift executes in four phases over 30 months, with no shock to the core market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07</a:t>
            </a:r>
            <a:endParaRPr lang="en-US" sz="850" dirty="0"/>
          </a:p>
        </p:txBody>
      </p:sp>
      <p:sp>
        <p:nvSpPr>
          <p:cNvPr id="8" name="Shape 6"/>
          <p:cNvSpPr/>
          <p:nvPr/>
        </p:nvSpPr>
        <p:spPr>
          <a:xfrm>
            <a:off x="685800" y="2240280"/>
            <a:ext cx="10789920" cy="0"/>
          </a:xfrm>
          <a:prstGeom prst="line">
            <a:avLst/>
          </a:prstGeom>
          <a:noFill/>
          <a:ln w="25400">
            <a:solidFill>
              <a:srgbClr val="2E7CF6"/>
            </a:solidFill>
            <a:prstDash val="solid"/>
          </a:ln>
        </p:spPr>
      </p:sp>
      <p:sp>
        <p:nvSpPr>
          <p:cNvPr id="9" name="Text 7"/>
          <p:cNvSpPr/>
          <p:nvPr/>
        </p:nvSpPr>
        <p:spPr>
          <a:xfrm>
            <a:off x="50292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Secure</a:t>
            </a:r>
            <a:endParaRPr lang="en-US" sz="1250" dirty="0"/>
          </a:p>
        </p:txBody>
      </p:sp>
      <p:sp>
        <p:nvSpPr>
          <p:cNvPr id="10" name="Shape 8"/>
          <p:cNvSpPr/>
          <p:nvPr/>
        </p:nvSpPr>
        <p:spPr>
          <a:xfrm>
            <a:off x="1729359" y="2157984"/>
            <a:ext cx="164592" cy="164592"/>
          </a:xfrm>
          <a:prstGeom prst="ellipse">
            <a:avLst/>
          </a:prstGeom>
          <a:solidFill>
            <a:srgbClr val="2E7CF6"/>
          </a:solidFill>
          <a:ln w="19050">
            <a:solidFill>
              <a:srgbClr val="FFFFFF"/>
            </a:solidFill>
            <a:prstDash val="solid"/>
          </a:ln>
        </p:spPr>
      </p:sp>
      <p:sp>
        <p:nvSpPr>
          <p:cNvPr id="11" name="Shape 9"/>
          <p:cNvSpPr/>
          <p:nvPr/>
        </p:nvSpPr>
        <p:spPr>
          <a:xfrm>
            <a:off x="50292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4008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closing and retention plan for the 60 technicians; design of the managed offer and of the linked equipment + contract pricing; contracting of the partner platform; recruitment of the installed-base sales core team (8 people).</a:t>
            </a:r>
            <a:endParaRPr lang="en-US" sz="1200" dirty="0"/>
          </a:p>
        </p:txBody>
      </p:sp>
      <p:sp>
        <p:nvSpPr>
          <p:cNvPr id="13" name="Text 11"/>
          <p:cNvSpPr/>
          <p:nvPr/>
        </p:nvSpPr>
        <p:spPr>
          <a:xfrm>
            <a:off x="50292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M0-M6</a:t>
            </a:r>
            <a:endParaRPr lang="en-US" sz="950" dirty="0"/>
          </a:p>
        </p:txBody>
      </p:sp>
      <p:sp>
        <p:nvSpPr>
          <p:cNvPr id="14" name="Text 12"/>
          <p:cNvSpPr/>
          <p:nvPr/>
        </p:nvSpPr>
        <p:spPr>
          <a:xfrm>
            <a:off x="334899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Prove</a:t>
            </a:r>
            <a:endParaRPr lang="en-US" sz="1250" dirty="0"/>
          </a:p>
        </p:txBody>
      </p:sp>
      <p:sp>
        <p:nvSpPr>
          <p:cNvPr id="15" name="Shape 13"/>
          <p:cNvSpPr/>
          <p:nvPr/>
        </p:nvSpPr>
        <p:spPr>
          <a:xfrm>
            <a:off x="4575429" y="2157984"/>
            <a:ext cx="164592" cy="164592"/>
          </a:xfrm>
          <a:prstGeom prst="ellipse">
            <a:avLst/>
          </a:prstGeom>
          <a:solidFill>
            <a:srgbClr val="2E7CF6"/>
          </a:solidFill>
          <a:ln w="19050">
            <a:solidFill>
              <a:srgbClr val="FFFFFF"/>
            </a:solidFill>
            <a:prstDash val="solid"/>
          </a:ln>
        </p:spPr>
      </p:sp>
      <p:sp>
        <p:nvSpPr>
          <p:cNvPr id="16" name="Shape 14"/>
          <p:cNvSpPr/>
          <p:nvPr/>
        </p:nvSpPr>
        <p:spPr>
          <a:xfrm>
            <a:off x="334899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348615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Pilot on 400 connected sites in the North region: measurement of the attach rate (go/no-go threshold: 20%), of actual margin per contract and of satisfaction; premium pricing adjustment; first cohort of 40 technicians trained in predictive maintenance.</a:t>
            </a:r>
            <a:endParaRPr lang="en-US" sz="1200" dirty="0"/>
          </a:p>
        </p:txBody>
      </p:sp>
      <p:sp>
        <p:nvSpPr>
          <p:cNvPr id="18" name="Text 16"/>
          <p:cNvSpPr/>
          <p:nvPr/>
        </p:nvSpPr>
        <p:spPr>
          <a:xfrm>
            <a:off x="334899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M6-M12</a:t>
            </a:r>
            <a:endParaRPr lang="en-US" sz="950" dirty="0"/>
          </a:p>
        </p:txBody>
      </p:sp>
      <p:sp>
        <p:nvSpPr>
          <p:cNvPr id="19" name="Text 17"/>
          <p:cNvSpPr/>
          <p:nvPr/>
        </p:nvSpPr>
        <p:spPr>
          <a:xfrm>
            <a:off x="619506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Deploy</a:t>
            </a:r>
            <a:endParaRPr lang="en-US" sz="1250" dirty="0"/>
          </a:p>
        </p:txBody>
      </p:sp>
      <p:sp>
        <p:nvSpPr>
          <p:cNvPr id="20" name="Shape 18"/>
          <p:cNvSpPr/>
          <p:nvPr/>
        </p:nvSpPr>
        <p:spPr>
          <a:xfrm>
            <a:off x="7421499" y="2157984"/>
            <a:ext cx="164592" cy="164592"/>
          </a:xfrm>
          <a:prstGeom prst="ellipse">
            <a:avLst/>
          </a:prstGeom>
          <a:solidFill>
            <a:srgbClr val="2E7CF6"/>
          </a:solidFill>
          <a:ln w="19050">
            <a:solidFill>
              <a:srgbClr val="FFFFFF"/>
            </a:solidFill>
            <a:prstDash val="solid"/>
          </a:ln>
        </p:spPr>
      </p:sp>
      <p:sp>
        <p:nvSpPr>
          <p:cNvPr id="21" name="Shape 19"/>
          <p:cNvSpPr/>
          <p:nvPr/>
        </p:nvSpPr>
        <p:spPr>
          <a:xfrm>
            <a:off x="619506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Text 20"/>
          <p:cNvSpPr/>
          <p:nvPr/>
        </p:nvSpPr>
        <p:spPr>
          <a:xfrm>
            <a:off x="633222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Roll-out in regional waves (North, East, Rhone, West, South), migration of the 2,100 Novaserv contracts to the target platform, training of 300 technicians, build-up of forward stock in the 12 regional hubs.</a:t>
            </a:r>
            <a:endParaRPr lang="en-US" sz="1200" dirty="0"/>
          </a:p>
        </p:txBody>
      </p:sp>
      <p:sp>
        <p:nvSpPr>
          <p:cNvPr id="23" name="Text 21"/>
          <p:cNvSpPr/>
          <p:nvPr/>
        </p:nvSpPr>
        <p:spPr>
          <a:xfrm>
            <a:off x="619506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M12-M24</a:t>
            </a:r>
            <a:endParaRPr lang="en-US" sz="950" dirty="0"/>
          </a:p>
        </p:txBody>
      </p:sp>
      <p:sp>
        <p:nvSpPr>
          <p:cNvPr id="24" name="Text 22"/>
          <p:cNvSpPr/>
          <p:nvPr/>
        </p:nvSpPr>
        <p:spPr>
          <a:xfrm>
            <a:off x="904113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Optimize</a:t>
            </a:r>
            <a:endParaRPr lang="en-US" sz="1250" dirty="0"/>
          </a:p>
        </p:txBody>
      </p:sp>
      <p:sp>
        <p:nvSpPr>
          <p:cNvPr id="25" name="Shape 23"/>
          <p:cNvSpPr/>
          <p:nvPr/>
        </p:nvSpPr>
        <p:spPr>
          <a:xfrm>
            <a:off x="10267569" y="2157984"/>
            <a:ext cx="164592" cy="164592"/>
          </a:xfrm>
          <a:prstGeom prst="ellipse">
            <a:avLst/>
          </a:prstGeom>
          <a:solidFill>
            <a:srgbClr val="2E7CF6"/>
          </a:solidFill>
          <a:ln w="19050">
            <a:solidFill>
              <a:srgbClr val="FFFFFF"/>
            </a:solidFill>
            <a:prstDash val="solid"/>
          </a:ln>
        </p:spPr>
      </p:sp>
      <p:sp>
        <p:nvSpPr>
          <p:cNvPr id="26" name="Shape 24"/>
          <p:cNvSpPr/>
          <p:nvPr/>
        </p:nvSpPr>
        <p:spPr>
          <a:xfrm>
            <a:off x="904113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917829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 maintenance generalized across the connected base (target: 11,000 sites), upgrade of standard contracts to premium, supplier renegotiation on consolidated parts volumes, preparation of the Benelux extension.</a:t>
            </a:r>
            <a:endParaRPr lang="en-US" sz="1200" dirty="0"/>
          </a:p>
        </p:txBody>
      </p:sp>
      <p:sp>
        <p:nvSpPr>
          <p:cNvPr id="28" name="Text 26"/>
          <p:cNvSpPr/>
          <p:nvPr/>
        </p:nvSpPr>
        <p:spPr>
          <a:xfrm>
            <a:off x="904113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M24-M30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CONVICTION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installed base's usage data is the asset competitors cannot replicate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08</a:t>
            </a:r>
            <a:endParaRPr lang="en-US" sz="850" dirty="0"/>
          </a:p>
        </p:txBody>
      </p:sp>
      <p:sp>
        <p:nvSpPr>
          <p:cNvPr id="8" name="Shape 6"/>
          <p:cNvSpPr/>
          <p:nvPr/>
        </p:nvSpPr>
        <p:spPr>
          <a:xfrm>
            <a:off x="502920" y="1737360"/>
            <a:ext cx="4185138" cy="4617720"/>
          </a:xfrm>
          <a:prstGeom prst="roundRect">
            <a:avLst>
              <a:gd name="adj" fmla="val 131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502920" y="1792224"/>
            <a:ext cx="73152" cy="4507992"/>
          </a:xfrm>
          <a:prstGeom prst="roundRect">
            <a:avLst>
              <a:gd name="adj" fmla="val 50000"/>
            </a:avLst>
          </a:prstGeom>
          <a:solidFill>
            <a:srgbClr val="2E7CF6"/>
          </a:solidFill>
          <a:ln/>
        </p:spPr>
      </p:sp>
      <p:sp>
        <p:nvSpPr>
          <p:cNvPr id="10" name="Text 8"/>
          <p:cNvSpPr/>
          <p:nvPr/>
        </p:nvSpPr>
        <p:spPr>
          <a:xfrm>
            <a:off x="813816" y="1993392"/>
            <a:ext cx="3618210" cy="4105656"/>
          </a:xfrm>
          <a:prstGeom prst="rect">
            <a:avLst/>
          </a:prstGeom>
          <a:noFill/>
          <a:ln/>
        </p:spPr>
        <p:txBody>
          <a:bodyPr wrap="square" lIns="0" tIns="0" rIns="0" bIns="0" rtlCol="0" anchor="ctr"/>
          <a:lstStyle/>
          <a:p>
            <a:pPr indent="0" marL="0">
              <a:lnSpc>
                <a:spcPct val="120000"/>
              </a:lnSpc>
              <a:buNone/>
            </a:pPr>
            <a:r>
              <a:rPr lang="en-US" sz="1900" b="1" dirty="0">
                <a:solidFill>
                  <a:srgbClr val="1D5FCC"/>
                </a:solidFill>
                <a:latin typeface="Arial" pitchFamily="34" charset="0"/>
                <a:ea typeface="Arial" pitchFamily="34" charset="-122"/>
                <a:cs typeface="Arial" pitchFamily="34" charset="-120"/>
              </a:rPr>
              <a:t>18,400 sites, 11 years of failure history: no one else can train a predictive model on this depth.</a:t>
            </a:r>
            <a:endParaRPr lang="en-US" sz="1900" dirty="0"/>
          </a:p>
        </p:txBody>
      </p:sp>
      <p:sp>
        <p:nvSpPr>
          <p:cNvPr id="11" name="Shape 9"/>
          <p:cNvSpPr/>
          <p:nvPr/>
        </p:nvSpPr>
        <p:spPr>
          <a:xfrm>
            <a:off x="4962378" y="17373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5126970" y="18105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1: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38% of failures are predictable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Measured on the 6,800 connected sites, from signals 90 days before incident.</a:t>
            </a:r>
            <a:endParaRPr lang="en-US" sz="1200" dirty="0"/>
          </a:p>
        </p:txBody>
      </p:sp>
      <p:sp>
        <p:nvSpPr>
          <p:cNvPr id="13" name="Shape 11"/>
          <p:cNvSpPr/>
          <p:nvPr/>
        </p:nvSpPr>
        <p:spPr>
          <a:xfrm>
            <a:off x="4962378" y="33375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5126970" y="34107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2: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-22% intervention cost with predictive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A planned intervention avoids the emergency call-out and the express part.</a:t>
            </a:r>
            <a:endParaRPr lang="en-US" sz="1200" dirty="0"/>
          </a:p>
        </p:txBody>
      </p:sp>
      <p:sp>
        <p:nvSpPr>
          <p:cNvPr id="15" name="Shape 13"/>
          <p:cNvSpPr/>
          <p:nvPr/>
        </p:nvSpPr>
        <p:spPr>
          <a:xfrm>
            <a:off x="4962378" y="49377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5126970" y="50109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3: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Customers pay for uptime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In 34 of the 42 interviews, production downtime weighs more than the contract price.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MINUTES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June 12 committee approved the principle and framed three open questions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strategy committee decision log, June 12, 2026</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09</a:t>
            </a:r>
            <a:endParaRPr lang="en-US" sz="850" dirty="0"/>
          </a:p>
        </p:txBody>
      </p:sp>
      <p:sp>
        <p:nvSpPr>
          <p:cNvPr id="8" name="Shape 6"/>
          <p:cNvSpPr/>
          <p:nvPr/>
        </p:nvSpPr>
        <p:spPr>
          <a:xfrm>
            <a:off x="50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Discussed</a:t>
            </a:r>
            <a:endParaRPr lang="en-US" sz="1400" dirty="0"/>
          </a:p>
        </p:txBody>
      </p:sp>
      <p:sp>
        <p:nvSpPr>
          <p:cNvPr id="10" name="Text 8"/>
          <p:cNvSpPr/>
          <p:nvPr/>
        </p:nvSpPr>
        <p:spPr>
          <a:xfrm>
            <a:off x="66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Market diagnosis shared without reservation</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Debate on the pace: 24 vs 30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HR concern about the training load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CFO question on sensitivity to the attach rate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Premium price positioning deemed defensible</a:t>
            </a:r>
            <a:endParaRPr lang="en-US" sz="1200" dirty="0"/>
          </a:p>
        </p:txBody>
      </p:sp>
      <p:sp>
        <p:nvSpPr>
          <p:cNvPr id="11" name="Shape 9"/>
          <p:cNvSpPr/>
          <p:nvPr/>
        </p:nvSpPr>
        <p:spPr>
          <a:xfrm>
            <a:off x="431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47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Decided</a:t>
            </a:r>
            <a:endParaRPr lang="en-US" sz="1400" dirty="0"/>
          </a:p>
        </p:txBody>
      </p:sp>
      <p:sp>
        <p:nvSpPr>
          <p:cNvPr id="13" name="Text 11"/>
          <p:cNvSpPr/>
          <p:nvPr/>
        </p:nvSpPr>
        <p:spPr>
          <a:xfrm>
            <a:off x="447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Principle of the services shift approved unanimously</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1.2M M&amp;A study budget released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North pilot confirmed for Q1 2027</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Go/no-go threshold set: attach rate of 20% or more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Monthly reporting to the strategy committee</a:t>
            </a:r>
            <a:endParaRPr lang="en-US" sz="1200" dirty="0"/>
          </a:p>
        </p:txBody>
      </p:sp>
      <p:sp>
        <p:nvSpPr>
          <p:cNvPr id="14" name="Shape 12"/>
          <p:cNvSpPr/>
          <p:nvPr/>
        </p:nvSpPr>
        <p:spPr>
          <a:xfrm>
            <a:off x="812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5" name="Text 13"/>
          <p:cNvSpPr/>
          <p:nvPr/>
        </p:nvSpPr>
        <p:spPr>
          <a:xfrm>
            <a:off x="828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Open questions</a:t>
            </a:r>
            <a:endParaRPr lang="en-US" sz="1400" dirty="0"/>
          </a:p>
        </p:txBody>
      </p:sp>
      <p:sp>
        <p:nvSpPr>
          <p:cNvPr id="16" name="Text 14"/>
          <p:cNvSpPr/>
          <p:nvPr/>
        </p:nvSpPr>
        <p:spPr>
          <a:xfrm>
            <a:off x="828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Exact scope of the premium offer (SLAs, exclusions)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Handling of ongoing independent contracts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Timeline for communicating to field teams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Future of the Novaserv brand after closing</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Fit with the 2027 plant capex plan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EVIDENCE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margin is 2.3 times higher than equipment margin, and the gap is widening</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10</a:t>
            </a:r>
            <a:endParaRPr lang="en-US" sz="850" dirty="0"/>
          </a:p>
        </p:txBody>
      </p:sp>
      <p:sp>
        <p:nvSpPr>
          <p:cNvPr id="8" name="Text 6"/>
          <p:cNvSpPr/>
          <p:nvPr/>
        </p:nvSpPr>
        <p:spPr>
          <a:xfrm>
            <a:off x="502920" y="1719072"/>
            <a:ext cx="725424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Gross margin by activity, %, 2021-2025</a:t>
            </a:r>
            <a:endParaRPr lang="en-US" sz="1000" dirty="0"/>
          </a:p>
        </p:txBody>
      </p:sp>
      <p:graphicFrame>
        <p:nvGraphicFramePr>
          <p:cNvPr id="9" name="Chart 0" descr=""/>
          <p:cNvGraphicFramePr/>
          <p:nvPr/>
        </p:nvGraphicFramePr>
        <p:xfrm>
          <a:off x="502920" y="2029968"/>
          <a:ext cx="7254240" cy="4251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8031480" y="1737360"/>
            <a:ext cx="3627120"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11" name="Text 8"/>
          <p:cNvSpPr/>
          <p:nvPr/>
        </p:nvSpPr>
        <p:spPr>
          <a:xfrm>
            <a:off x="8031480" y="2057400"/>
            <a:ext cx="3627120" cy="429768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Services margin reaches 46% in 2025 versus 20% for equipment, and has been growing 1.2 points per year since 2021.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gap comes from the mix: multi-year contracts smooth travel costs and raise technician utilization from 61% to 78%.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Each point of services mix adds roughly 0.55 point of group margin: the 35% mix target lifts group margin from 28% to 34%. [E]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RECOMMENDATION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We recommend acquiring Novaserv and shifting 60% of capex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11</a:t>
            </a:r>
            <a:endParaRPr lang="en-US" sz="850" dirty="0"/>
          </a:p>
        </p:txBody>
      </p:sp>
      <p:sp>
        <p:nvSpPr>
          <p:cNvPr id="8" name="SOGRAD~346FD1~154493~90"/>
          <p:cNvSpPr/>
          <p:nvPr/>
        </p:nvSpPr>
        <p:spPr>
          <a:xfrm>
            <a:off x="502920" y="1737360"/>
            <a:ext cx="3752193" cy="4617720"/>
          </a:xfrm>
          <a:prstGeom prst="roundRect">
            <a:avLst>
              <a:gd name="adj" fmla="val 146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31520" y="1965960"/>
            <a:ext cx="3294993" cy="256032"/>
          </a:xfrm>
          <a:prstGeom prst="rect">
            <a:avLst/>
          </a:prstGeom>
          <a:noFill/>
          <a:ln/>
        </p:spPr>
        <p:txBody>
          <a:bodyPr wrap="square" lIns="0" tIns="0" rIns="0" bIns="0" rtlCol="0" anchor="ctr"/>
          <a:lstStyle/>
          <a:p>
            <a:pPr indent="0" marL="0">
              <a:buNone/>
            </a:pPr>
            <a:r>
              <a:rPr lang="en-US" sz="1000" b="1" spc="200" kern="0" dirty="0">
                <a:solidFill>
                  <a:srgbClr val="5B9CFF"/>
                </a:solidFill>
                <a:latin typeface="Arial" pitchFamily="34" charset="0"/>
                <a:ea typeface="Arial" pitchFamily="34" charset="-122"/>
                <a:cs typeface="Arial" pitchFamily="34" charset="-120"/>
              </a:rPr>
              <a:t>RECOMMENDATION</a:t>
            </a:r>
            <a:endParaRPr lang="en-US" sz="1000" dirty="0"/>
          </a:p>
        </p:txBody>
      </p:sp>
      <p:sp>
        <p:nvSpPr>
          <p:cNvPr id="10" name="Text 8"/>
          <p:cNvSpPr/>
          <p:nvPr/>
        </p:nvSpPr>
        <p:spPr>
          <a:xfrm>
            <a:off x="731520" y="2331720"/>
            <a:ext cx="3294993" cy="2971800"/>
          </a:xfrm>
          <a:prstGeom prst="rect">
            <a:avLst/>
          </a:prstGeom>
          <a:noFill/>
          <a:ln/>
        </p:spPr>
        <p:txBody>
          <a:bodyPr wrap="square" lIns="0" tIns="0" rIns="0" bIns="0" rtlCol="0" anchor="t"/>
          <a:lstStyle/>
          <a:p>
            <a:pPr indent="0" marL="0">
              <a:lnSpc>
                <a:spcPct val="125000"/>
              </a:lnSpc>
              <a:buNone/>
            </a:pPr>
            <a:r>
              <a:rPr lang="en-US" sz="1600" b="1" dirty="0">
                <a:solidFill>
                  <a:srgbClr val="FFFFFF"/>
                </a:solidFill>
                <a:latin typeface="Arial" pitchFamily="34" charset="0"/>
                <a:ea typeface="Arial" pitchFamily="34" charset="-122"/>
                <a:cs typeface="Arial" pitchFamily="34" charset="-120"/>
              </a:rPr>
              <a:t>Acquire Novaserv (offer at 9.5x EBITDA maximum), migrate its contracts to the partner platform, and reallocate 60% of 2027-2029 capex to managed services.</a:t>
            </a:r>
            <a:endParaRPr lang="en-US" sz="1600" dirty="0"/>
          </a:p>
        </p:txBody>
      </p:sp>
      <p:sp>
        <p:nvSpPr>
          <p:cNvPr id="11" name="Text 9"/>
          <p:cNvSpPr/>
          <p:nvPr/>
        </p:nvSpPr>
        <p:spPr>
          <a:xfrm>
            <a:off x="731520" y="5468112"/>
            <a:ext cx="3294993" cy="219456"/>
          </a:xfrm>
          <a:prstGeom prst="rect">
            <a:avLst/>
          </a:prstGeom>
          <a:noFill/>
          <a:ln/>
        </p:spPr>
        <p:txBody>
          <a:bodyPr wrap="square" lIns="0" tIns="0" rIns="0" bIns="0" rtlCol="0" anchor="ctr"/>
          <a:lstStyle/>
          <a:p>
            <a:pPr indent="0" marL="0">
              <a:buNone/>
            </a:pPr>
            <a:r>
              <a:rPr lang="en-US" sz="950" dirty="0">
                <a:solidFill>
                  <a:srgbClr val="C9D2DA"/>
                </a:solidFill>
                <a:latin typeface="Arial" pitchFamily="34" charset="0"/>
                <a:ea typeface="Arial" pitchFamily="34" charset="-122"/>
                <a:cs typeface="Arial" pitchFamily="34" charset="-120"/>
              </a:rPr>
              <a:t>Decision expected by</a:t>
            </a:r>
            <a:endParaRPr lang="en-US" sz="950" dirty="0"/>
          </a:p>
        </p:txBody>
      </p:sp>
      <p:sp>
        <p:nvSpPr>
          <p:cNvPr id="12" name="Text 10"/>
          <p:cNvSpPr/>
          <p:nvPr/>
        </p:nvSpPr>
        <p:spPr>
          <a:xfrm>
            <a:off x="731520" y="5705856"/>
            <a:ext cx="3294993"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Committee of September 18, 2026</a:t>
            </a:r>
            <a:endParaRPr lang="en-US" sz="1700" dirty="0"/>
          </a:p>
        </p:txBody>
      </p:sp>
      <p:sp>
        <p:nvSpPr>
          <p:cNvPr id="13" name="Shape 11"/>
          <p:cNvSpPr/>
          <p:nvPr/>
        </p:nvSpPr>
        <p:spPr>
          <a:xfrm>
            <a:off x="4529433" y="1737360"/>
            <a:ext cx="7129167" cy="2413000"/>
          </a:xfrm>
          <a:prstGeom prst="roundRect">
            <a:avLst>
              <a:gd name="adj" fmla="val 227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4694025" y="1901952"/>
            <a:ext cx="6799983"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Why this is the right option</a:t>
            </a:r>
            <a:endParaRPr lang="en-US" sz="1400" dirty="0"/>
          </a:p>
        </p:txBody>
      </p:sp>
      <p:sp>
        <p:nvSpPr>
          <p:cNvPr id="15" name="Text 13"/>
          <p:cNvSpPr/>
          <p:nvPr/>
        </p:nvSpPr>
        <p:spPr>
          <a:xfrm>
            <a:off x="4694025" y="2286000"/>
            <a:ext cx="6799983" cy="1571752"/>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It is the only option combining speed (12-month time-to-market) with control of the end-customer relationship.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return is measurable: EUR 38M of additional EBITDA in year 3, full payback in 4.2 years in the base case.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Execution risk is bounded: the 400-site pilot validates every assumption before the roll-out.</a:t>
            </a:r>
            <a:endParaRPr lang="en-US" sz="1200" dirty="0"/>
          </a:p>
        </p:txBody>
      </p:sp>
      <p:sp>
        <p:nvSpPr>
          <p:cNvPr id="16" name="Shape 14"/>
          <p:cNvSpPr/>
          <p:nvPr/>
        </p:nvSpPr>
        <p:spPr>
          <a:xfrm>
            <a:off x="4529433" y="4424680"/>
            <a:ext cx="7129167" cy="1930400"/>
          </a:xfrm>
          <a:prstGeom prst="roundRect">
            <a:avLst>
              <a:gd name="adj" fmla="val 2842"/>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4675737" y="4570984"/>
            <a:ext cx="6836559"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Actions required from leadership</a:t>
            </a:r>
            <a:endParaRPr lang="en-US" sz="1400" dirty="0"/>
          </a:p>
        </p:txBody>
      </p:sp>
      <p:sp>
        <p:nvSpPr>
          <p:cNvPr id="18" name="Shape 16"/>
          <p:cNvSpPr/>
          <p:nvPr/>
        </p:nvSpPr>
        <p:spPr>
          <a:xfrm>
            <a:off x="4675737" y="4981109"/>
            <a:ext cx="457200" cy="256032"/>
          </a:xfrm>
          <a:prstGeom prst="roundRect">
            <a:avLst>
              <a:gd name="adj" fmla="val 50000"/>
            </a:avLst>
          </a:prstGeom>
          <a:solidFill>
            <a:srgbClr val="1D5FCC"/>
          </a:solidFill>
          <a:ln/>
        </p:spPr>
      </p:sp>
      <p:sp>
        <p:nvSpPr>
          <p:cNvPr id="19" name="Text 17"/>
          <p:cNvSpPr/>
          <p:nvPr/>
        </p:nvSpPr>
        <p:spPr>
          <a:xfrm>
            <a:off x="4675737" y="4981109"/>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D1</a:t>
            </a:r>
            <a:endParaRPr lang="en-US" sz="1000" dirty="0"/>
          </a:p>
        </p:txBody>
      </p:sp>
      <p:sp>
        <p:nvSpPr>
          <p:cNvPr id="20" name="Text 18"/>
          <p:cNvSpPr/>
          <p:nvPr/>
        </p:nvSpPr>
        <p:spPr>
          <a:xfrm>
            <a:off x="5242665" y="4918456"/>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Mandate the investment bank</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Novaserv letter of intent before end of October</a:t>
            </a:r>
            <a:endParaRPr lang="en-US" sz="1150" dirty="0"/>
          </a:p>
        </p:txBody>
      </p:sp>
      <p:sp>
        <p:nvSpPr>
          <p:cNvPr id="21" name="Shape 19"/>
          <p:cNvSpPr/>
          <p:nvPr/>
        </p:nvSpPr>
        <p:spPr>
          <a:xfrm>
            <a:off x="4675737" y="5435600"/>
            <a:ext cx="457200" cy="256032"/>
          </a:xfrm>
          <a:prstGeom prst="roundRect">
            <a:avLst>
              <a:gd name="adj" fmla="val 50000"/>
            </a:avLst>
          </a:prstGeom>
          <a:solidFill>
            <a:srgbClr val="1D5FCC"/>
          </a:solidFill>
          <a:ln/>
        </p:spPr>
      </p:sp>
      <p:sp>
        <p:nvSpPr>
          <p:cNvPr id="22" name="Text 20"/>
          <p:cNvSpPr/>
          <p:nvPr/>
        </p:nvSpPr>
        <p:spPr>
          <a:xfrm>
            <a:off x="4675737" y="54356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D2</a:t>
            </a:r>
            <a:endParaRPr lang="en-US" sz="1000" dirty="0"/>
          </a:p>
        </p:txBody>
      </p:sp>
      <p:sp>
        <p:nvSpPr>
          <p:cNvPr id="23" name="Text 21"/>
          <p:cNvSpPr/>
          <p:nvPr/>
        </p:nvSpPr>
        <p:spPr>
          <a:xfrm>
            <a:off x="5242665" y="537294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Release the pilot budget (EUR 8.5M)</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team, connectivity, premium offer in the North</a:t>
            </a:r>
            <a:endParaRPr lang="en-US" sz="1150" dirty="0"/>
          </a:p>
        </p:txBody>
      </p:sp>
      <p:sp>
        <p:nvSpPr>
          <p:cNvPr id="24" name="Shape 22"/>
          <p:cNvSpPr/>
          <p:nvPr/>
        </p:nvSpPr>
        <p:spPr>
          <a:xfrm>
            <a:off x="4675737" y="5890091"/>
            <a:ext cx="457200" cy="256032"/>
          </a:xfrm>
          <a:prstGeom prst="roundRect">
            <a:avLst>
              <a:gd name="adj" fmla="val 50000"/>
            </a:avLst>
          </a:prstGeom>
          <a:solidFill>
            <a:srgbClr val="1D5FCC"/>
          </a:solidFill>
          <a:ln/>
        </p:spPr>
      </p:sp>
      <p:sp>
        <p:nvSpPr>
          <p:cNvPr id="25" name="Text 23"/>
          <p:cNvSpPr/>
          <p:nvPr/>
        </p:nvSpPr>
        <p:spPr>
          <a:xfrm>
            <a:off x="4675737" y="5890091"/>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D3</a:t>
            </a:r>
            <a:endParaRPr lang="en-US" sz="1000" dirty="0"/>
          </a:p>
        </p:txBody>
      </p:sp>
      <p:sp>
        <p:nvSpPr>
          <p:cNvPr id="26" name="Text 24"/>
          <p:cNvSpPr/>
          <p:nvPr/>
        </p:nvSpPr>
        <p:spPr>
          <a:xfrm>
            <a:off x="5242665" y="582743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Appoint the executive sponsor</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ExCo member dedicated at 50% minimum</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maintenance value leakage plays out across four distinct, cumulative pockets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Sum: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EUR 100M of annual revenue capturable on the existing base, without selling a single new unit.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12</a:t>
            </a:r>
            <a:endParaRPr lang="en-US" sz="850" dirty="0"/>
          </a:p>
        </p:txBody>
      </p:sp>
      <p:sp>
        <p:nvSpPr>
          <p:cNvPr id="11" name="Shape 9"/>
          <p:cNvSpPr/>
          <p:nvPr/>
        </p:nvSpPr>
        <p:spPr>
          <a:xfrm>
            <a:off x="502920" y="1737360"/>
            <a:ext cx="2638044" cy="566928"/>
          </a:xfrm>
          <a:prstGeom prst="rect">
            <a:avLst/>
          </a:prstGeom>
          <a:solidFill>
            <a:srgbClr val="1D5FCC"/>
          </a:solidFill>
          <a:ln/>
        </p:spPr>
      </p:sp>
      <p:sp>
        <p:nvSpPr>
          <p:cNvPr id="12" name="Text 10"/>
          <p:cNvSpPr/>
          <p:nvPr/>
        </p:nvSpPr>
        <p:spPr>
          <a:xfrm>
            <a:off x="612648"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Standard contracts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42M capturable</a:t>
            </a:r>
            <a:endParaRPr lang="en-US" sz="1250" dirty="0"/>
          </a:p>
        </p:txBody>
      </p:sp>
      <p:sp>
        <p:nvSpPr>
          <p:cNvPr id="13" name="Shape 11"/>
          <p:cNvSpPr/>
          <p:nvPr/>
        </p:nvSpPr>
        <p:spPr>
          <a:xfrm>
            <a:off x="502920" y="2304288"/>
            <a:ext cx="2638044" cy="3337560"/>
          </a:xfrm>
          <a:prstGeom prst="rect">
            <a:avLst/>
          </a:prstGeom>
          <a:solidFill>
            <a:srgbClr val="FFFFFF"/>
          </a:solidFill>
          <a:ln w="9525">
            <a:solidFill>
              <a:srgbClr val="CFCFCF"/>
            </a:solidFill>
            <a:prstDash val="solid"/>
          </a:ln>
        </p:spPr>
      </p:sp>
      <p:sp>
        <p:nvSpPr>
          <p:cNvPr id="14" name="Text 12"/>
          <p:cNvSpPr/>
          <p:nvPr/>
        </p:nvSpPr>
        <p:spPr>
          <a:xfrm>
            <a:off x="640080"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8,900 sites without any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Entry-level offer at EUR 2,400/year</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Channel: dedicated installed-base campaign</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Target conversion rate: 20% in 3 years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Acquisition cost: 5x lower than new sales</a:t>
            </a:r>
            <a:endParaRPr lang="en-US" sz="1100" dirty="0"/>
          </a:p>
        </p:txBody>
      </p:sp>
      <p:sp>
        <p:nvSpPr>
          <p:cNvPr id="15" name="Shape 13"/>
          <p:cNvSpPr/>
          <p:nvPr/>
        </p:nvSpPr>
        <p:spPr>
          <a:xfrm>
            <a:off x="3342132" y="1737360"/>
            <a:ext cx="2638044" cy="566928"/>
          </a:xfrm>
          <a:prstGeom prst="rect">
            <a:avLst/>
          </a:prstGeom>
          <a:solidFill>
            <a:srgbClr val="1D5FCC"/>
          </a:solidFill>
          <a:ln/>
        </p:spPr>
      </p:sp>
      <p:sp>
        <p:nvSpPr>
          <p:cNvPr id="16" name="Text 14"/>
          <p:cNvSpPr/>
          <p:nvPr/>
        </p:nvSpPr>
        <p:spPr>
          <a:xfrm>
            <a:off x="3451860"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Predictive premium</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31M capturable</a:t>
            </a:r>
            <a:endParaRPr lang="en-US" sz="1250" dirty="0"/>
          </a:p>
        </p:txBody>
      </p:sp>
      <p:sp>
        <p:nvSpPr>
          <p:cNvPr id="17" name="Shape 15"/>
          <p:cNvSpPr/>
          <p:nvPr/>
        </p:nvSpPr>
        <p:spPr>
          <a:xfrm>
            <a:off x="3342132" y="2304288"/>
            <a:ext cx="2638044" cy="3337560"/>
          </a:xfrm>
          <a:prstGeom prst="rect">
            <a:avLst/>
          </a:prstGeom>
          <a:solidFill>
            <a:srgbClr val="FFFFFF"/>
          </a:solidFill>
          <a:ln w="9525">
            <a:solidFill>
              <a:srgbClr val="CFCFCF"/>
            </a:solidFill>
            <a:prstDash val="solid"/>
          </a:ln>
        </p:spPr>
      </p:sp>
      <p:sp>
        <p:nvSpPr>
          <p:cNvPr id="18" name="Text 16"/>
          <p:cNvSpPr/>
          <p:nvPr/>
        </p:nvSpPr>
        <p:spPr>
          <a:xfrm>
            <a:off x="3479292"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6,800 sites already connected</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35% premium vs the standard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Differentiated by 11 years of data</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38% of failures predictable at 90 days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Intervention cost reduced by 22%</a:t>
            </a:r>
            <a:endParaRPr lang="en-US" sz="1100" dirty="0"/>
          </a:p>
        </p:txBody>
      </p:sp>
      <p:sp>
        <p:nvSpPr>
          <p:cNvPr id="19" name="Shape 17"/>
          <p:cNvSpPr/>
          <p:nvPr/>
        </p:nvSpPr>
        <p:spPr>
          <a:xfrm>
            <a:off x="6181344" y="1737360"/>
            <a:ext cx="2638044" cy="566928"/>
          </a:xfrm>
          <a:prstGeom prst="rect">
            <a:avLst/>
          </a:prstGeom>
          <a:solidFill>
            <a:srgbClr val="1D5FCC"/>
          </a:solidFill>
          <a:ln/>
        </p:spPr>
      </p:sp>
      <p:sp>
        <p:nvSpPr>
          <p:cNvPr id="20" name="Text 18"/>
          <p:cNvSpPr/>
          <p:nvPr/>
        </p:nvSpPr>
        <p:spPr>
          <a:xfrm>
            <a:off x="6291072"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Spare parts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19M capturable</a:t>
            </a:r>
            <a:endParaRPr lang="en-US" sz="1250" dirty="0"/>
          </a:p>
        </p:txBody>
      </p:sp>
      <p:sp>
        <p:nvSpPr>
          <p:cNvPr id="21" name="Shape 19"/>
          <p:cNvSpPr/>
          <p:nvPr/>
        </p:nvSpPr>
        <p:spPr>
          <a:xfrm>
            <a:off x="6181344" y="2304288"/>
            <a:ext cx="2638044" cy="3337560"/>
          </a:xfrm>
          <a:prstGeom prst="rect">
            <a:avLst/>
          </a:prstGeom>
          <a:solidFill>
            <a:srgbClr val="FFFFFF"/>
          </a:solidFill>
          <a:ln w="9525">
            <a:solidFill>
              <a:srgbClr val="CFCFCF"/>
            </a:solidFill>
            <a:prstDash val="solid"/>
          </a:ln>
        </p:spPr>
      </p:sp>
      <p:sp>
        <p:nvSpPr>
          <p:cNvPr id="22" name="Text 20"/>
          <p:cNvSpPr/>
          <p:nvPr/>
        </p:nvSpPr>
        <p:spPr>
          <a:xfrm>
            <a:off x="6318504"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Current capture rate: only 31%</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Lever: forward stock in 12 hubs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Parts gross margin: 52%</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Sold by default with the premium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Next-day delivery = the argument against independents</a:t>
            </a:r>
            <a:endParaRPr lang="en-US" sz="1100" dirty="0"/>
          </a:p>
        </p:txBody>
      </p:sp>
      <p:sp>
        <p:nvSpPr>
          <p:cNvPr id="23" name="Shape 21"/>
          <p:cNvSpPr/>
          <p:nvPr/>
        </p:nvSpPr>
        <p:spPr>
          <a:xfrm>
            <a:off x="9020556" y="1737360"/>
            <a:ext cx="2638044" cy="566928"/>
          </a:xfrm>
          <a:prstGeom prst="rect">
            <a:avLst/>
          </a:prstGeom>
          <a:solidFill>
            <a:srgbClr val="1D5FCC"/>
          </a:solidFill>
          <a:ln/>
        </p:spPr>
      </p:sp>
      <p:sp>
        <p:nvSpPr>
          <p:cNvPr id="24" name="Text 22"/>
          <p:cNvSpPr/>
          <p:nvPr/>
        </p:nvSpPr>
        <p:spPr>
          <a:xfrm>
            <a:off x="9130284"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Training &amp; audit</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8M capturable</a:t>
            </a:r>
            <a:endParaRPr lang="en-US" sz="1250" dirty="0"/>
          </a:p>
        </p:txBody>
      </p:sp>
      <p:sp>
        <p:nvSpPr>
          <p:cNvPr id="25" name="Shape 23"/>
          <p:cNvSpPr/>
          <p:nvPr/>
        </p:nvSpPr>
        <p:spPr>
          <a:xfrm>
            <a:off x="9020556" y="2304288"/>
            <a:ext cx="2638044" cy="3337560"/>
          </a:xfrm>
          <a:prstGeom prst="rect">
            <a:avLst/>
          </a:prstGeom>
          <a:solidFill>
            <a:srgbClr val="FFFFFF"/>
          </a:solidFill>
          <a:ln w="9525">
            <a:solidFill>
              <a:srgbClr val="CFCFCF"/>
            </a:solidFill>
            <a:prstDash val="solid"/>
          </a:ln>
        </p:spPr>
      </p:sp>
      <p:sp>
        <p:nvSpPr>
          <p:cNvPr id="26" name="Text 24"/>
          <p:cNvSpPr/>
          <p:nvPr/>
        </p:nvSpPr>
        <p:spPr>
          <a:xfrm>
            <a:off x="9157716"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Regulatory requirement as of January 1, 2027</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Packaged with the maintenance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High margin (61%), low volume</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 point into customers without a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Capacity: 15 auditors to certify by end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SCENARIOS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Even in the low scenario, the shift creates more value than the current plan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Sensitivity: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The decision's break-even is a 14% attach rate: the pilot measured 26%.</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13</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8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Low scenario</a:t>
            </a:r>
            <a:endParaRPr lang="en-US" sz="1500" dirty="0"/>
          </a:p>
        </p:txBody>
      </p:sp>
      <p:sp>
        <p:nvSpPr>
          <p:cNvPr id="13" name="Text 11"/>
          <p:cNvSpPr/>
          <p:nvPr/>
        </p:nvSpPr>
        <p:spPr>
          <a:xfrm>
            <a:off x="68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Slow adoption</a:t>
            </a:r>
            <a:endParaRPr lang="en-US" sz="1100" dirty="0"/>
          </a:p>
        </p:txBody>
      </p:sp>
      <p:sp>
        <p:nvSpPr>
          <p:cNvPr id="14" name="Text 12"/>
          <p:cNvSpPr/>
          <p:nvPr/>
        </p:nvSpPr>
        <p:spPr>
          <a:xfrm>
            <a:off x="68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15" name="Text 13"/>
          <p:cNvSpPr/>
          <p:nvPr/>
        </p:nvSpPr>
        <p:spPr>
          <a:xfrm>
            <a:off x="242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28%</a:t>
            </a:r>
            <a:endParaRPr lang="en-US" sz="1100" dirty="0"/>
          </a:p>
        </p:txBody>
      </p:sp>
      <p:sp>
        <p:nvSpPr>
          <p:cNvPr id="16" name="Text 14"/>
          <p:cNvSpPr/>
          <p:nvPr/>
        </p:nvSpPr>
        <p:spPr>
          <a:xfrm>
            <a:off x="68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17" name="Text 15"/>
          <p:cNvSpPr/>
          <p:nvPr/>
        </p:nvSpPr>
        <p:spPr>
          <a:xfrm>
            <a:off x="242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118M</a:t>
            </a:r>
            <a:endParaRPr lang="en-US" sz="1100" dirty="0"/>
          </a:p>
        </p:txBody>
      </p:sp>
      <p:sp>
        <p:nvSpPr>
          <p:cNvPr id="18" name="Text 16"/>
          <p:cNvSpPr/>
          <p:nvPr/>
        </p:nvSpPr>
        <p:spPr>
          <a:xfrm>
            <a:off x="68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19" name="Text 17"/>
          <p:cNvSpPr/>
          <p:nvPr/>
        </p:nvSpPr>
        <p:spPr>
          <a:xfrm>
            <a:off x="242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5.8 yrs</a:t>
            </a:r>
            <a:endParaRPr lang="en-US" sz="1100" dirty="0"/>
          </a:p>
        </p:txBody>
      </p:sp>
      <p:sp>
        <p:nvSpPr>
          <p:cNvPr id="20" name="Text 18"/>
          <p:cNvSpPr/>
          <p:nvPr/>
        </p:nvSpPr>
        <p:spPr>
          <a:xfrm>
            <a:off x="68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21" name="Text 19"/>
          <p:cNvSpPr/>
          <p:nvPr/>
        </p:nvSpPr>
        <p:spPr>
          <a:xfrm>
            <a:off x="242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64M</a:t>
            </a:r>
            <a:endParaRPr lang="en-US" sz="1100" dirty="0"/>
          </a:p>
        </p:txBody>
      </p:sp>
      <p:sp>
        <p:nvSpPr>
          <p:cNvPr id="22" name="Shape 20"/>
          <p:cNvSpPr/>
          <p:nvPr/>
        </p:nvSpPr>
        <p:spPr>
          <a:xfrm>
            <a:off x="685800" y="3758184"/>
            <a:ext cx="3169920" cy="0"/>
          </a:xfrm>
          <a:prstGeom prst="line">
            <a:avLst/>
          </a:prstGeom>
          <a:noFill/>
          <a:ln w="6350">
            <a:solidFill>
              <a:srgbClr val="CFCFCF"/>
            </a:solidFill>
            <a:prstDash val="solid"/>
          </a:ln>
        </p:spPr>
      </p:sp>
      <p:sp>
        <p:nvSpPr>
          <p:cNvPr id="23" name="Text 21"/>
          <p:cNvSpPr/>
          <p:nvPr/>
        </p:nvSpPr>
        <p:spPr>
          <a:xfrm>
            <a:off x="68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Pilot attach rate at 18%, Novaserv migration in 24 months, no price premium.</a:t>
            </a:r>
            <a:endParaRPr lang="en-US" sz="1000" dirty="0"/>
          </a:p>
        </p:txBody>
      </p:sp>
      <p:sp>
        <p:nvSpPr>
          <p:cNvPr id="24" name="SOGRAD~346FD1~154493~90"/>
          <p:cNvSpPr/>
          <p:nvPr/>
        </p:nvSpPr>
        <p:spPr>
          <a:xfrm>
            <a:off x="4312920" y="1737360"/>
            <a:ext cx="3535680" cy="3904488"/>
          </a:xfrm>
          <a:prstGeom prst="roundRect">
            <a:avLst>
              <a:gd name="adj" fmla="val 155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658051" y="1883664"/>
            <a:ext cx="1044245" cy="219456"/>
          </a:xfrm>
          <a:prstGeom prst="roundRect">
            <a:avLst>
              <a:gd name="adj" fmla="val 50000"/>
            </a:avLst>
          </a:prstGeom>
          <a:solidFill>
            <a:srgbClr val="FFFFFF"/>
          </a:solidFill>
          <a:ln/>
          <a:effectLst>
            <a:outerShdw sx="100000" sy="100000" kx="0" ky="0" algn="bl" rotWithShape="0" blurRad="88900" dist="25400" dir="2700000">
              <a:srgbClr val="1A1A1A">
                <a:alpha val="12000"/>
              </a:srgbClr>
            </a:outerShdw>
          </a:effectLst>
        </p:spPr>
      </p:sp>
      <p:sp>
        <p:nvSpPr>
          <p:cNvPr id="26" name="Text 24"/>
          <p:cNvSpPr/>
          <p:nvPr/>
        </p:nvSpPr>
        <p:spPr>
          <a:xfrm>
            <a:off x="6658051" y="1883664"/>
            <a:ext cx="1044245" cy="219456"/>
          </a:xfrm>
          <a:prstGeom prst="rect">
            <a:avLst/>
          </a:prstGeom>
          <a:noFill/>
          <a:ln/>
        </p:spPr>
        <p:txBody>
          <a:bodyPr wrap="square" lIns="0" tIns="0" rIns="0" bIns="0" rtlCol="0" anchor="ctr"/>
          <a:lstStyle/>
          <a:p>
            <a:pPr algn="ctr" indent="0" marL="0">
              <a:buNone/>
            </a:pPr>
            <a:r>
              <a:rPr lang="en-US" sz="800" b="1" spc="150" kern="0" dirty="0">
                <a:solidFill>
                  <a:srgbClr val="1D5FCC"/>
                </a:solidFill>
                <a:latin typeface="Arial" pitchFamily="34" charset="0"/>
                <a:ea typeface="Arial" pitchFamily="34" charset="-122"/>
                <a:cs typeface="Arial" pitchFamily="34" charset="-120"/>
              </a:rPr>
              <a:t>RECOMMENDED</a:t>
            </a:r>
            <a:endParaRPr lang="en-US" sz="800" dirty="0"/>
          </a:p>
        </p:txBody>
      </p:sp>
      <p:sp>
        <p:nvSpPr>
          <p:cNvPr id="27" name="Text 25"/>
          <p:cNvSpPr/>
          <p:nvPr/>
        </p:nvSpPr>
        <p:spPr>
          <a:xfrm>
            <a:off x="4495800" y="1920240"/>
            <a:ext cx="316992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Base case</a:t>
            </a:r>
            <a:endParaRPr lang="en-US" sz="1500" dirty="0"/>
          </a:p>
        </p:txBody>
      </p:sp>
      <p:sp>
        <p:nvSpPr>
          <p:cNvPr id="28" name="Text 26"/>
          <p:cNvSpPr/>
          <p:nvPr/>
        </p:nvSpPr>
        <p:spPr>
          <a:xfrm>
            <a:off x="4495800" y="2249424"/>
            <a:ext cx="3169920" cy="237744"/>
          </a:xfrm>
          <a:prstGeom prst="rect">
            <a:avLst/>
          </a:prstGeom>
          <a:noFill/>
          <a:ln/>
        </p:spPr>
        <p:txBody>
          <a:bodyPr wrap="square" lIns="0" tIns="0" rIns="0" bIns="0" rtlCol="0" anchor="ctr"/>
          <a:lstStyle/>
          <a:p>
            <a:pPr indent="0" marL="0">
              <a:buNone/>
            </a:pPr>
            <a:r>
              <a:rPr lang="en-US" sz="1100" b="1" dirty="0">
                <a:solidFill>
                  <a:srgbClr val="5B9CFF"/>
                </a:solidFill>
                <a:latin typeface="Arial" pitchFamily="34" charset="0"/>
                <a:ea typeface="Arial" pitchFamily="34" charset="-122"/>
                <a:cs typeface="Arial" pitchFamily="34" charset="-120"/>
              </a:rPr>
              <a:t>Pilot trajectory</a:t>
            </a:r>
            <a:endParaRPr lang="en-US" sz="1100" dirty="0"/>
          </a:p>
        </p:txBody>
      </p:sp>
      <p:sp>
        <p:nvSpPr>
          <p:cNvPr id="29" name="Text 27"/>
          <p:cNvSpPr/>
          <p:nvPr/>
        </p:nvSpPr>
        <p:spPr>
          <a:xfrm>
            <a:off x="4495800" y="260604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Services mix 2029</a:t>
            </a:r>
            <a:endParaRPr lang="en-US" sz="1050" dirty="0"/>
          </a:p>
        </p:txBody>
      </p:sp>
      <p:sp>
        <p:nvSpPr>
          <p:cNvPr id="30" name="Text 28"/>
          <p:cNvSpPr/>
          <p:nvPr/>
        </p:nvSpPr>
        <p:spPr>
          <a:xfrm>
            <a:off x="6239256" y="260604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35%</a:t>
            </a:r>
            <a:endParaRPr lang="en-US" sz="1100" dirty="0"/>
          </a:p>
        </p:txBody>
      </p:sp>
      <p:sp>
        <p:nvSpPr>
          <p:cNvPr id="31" name="Text 29"/>
          <p:cNvSpPr/>
          <p:nvPr/>
        </p:nvSpPr>
        <p:spPr>
          <a:xfrm>
            <a:off x="4495800" y="288036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EBITDA 2029</a:t>
            </a:r>
            <a:endParaRPr lang="en-US" sz="1050" dirty="0"/>
          </a:p>
        </p:txBody>
      </p:sp>
      <p:sp>
        <p:nvSpPr>
          <p:cNvPr id="32" name="Text 30"/>
          <p:cNvSpPr/>
          <p:nvPr/>
        </p:nvSpPr>
        <p:spPr>
          <a:xfrm>
            <a:off x="6239256" y="288036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152M</a:t>
            </a:r>
            <a:endParaRPr lang="en-US" sz="1100" dirty="0"/>
          </a:p>
        </p:txBody>
      </p:sp>
      <p:sp>
        <p:nvSpPr>
          <p:cNvPr id="33" name="Text 31"/>
          <p:cNvSpPr/>
          <p:nvPr/>
        </p:nvSpPr>
        <p:spPr>
          <a:xfrm>
            <a:off x="4495800" y="315468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Payback</a:t>
            </a:r>
            <a:endParaRPr lang="en-US" sz="1050" dirty="0"/>
          </a:p>
        </p:txBody>
      </p:sp>
      <p:sp>
        <p:nvSpPr>
          <p:cNvPr id="34" name="Text 32"/>
          <p:cNvSpPr/>
          <p:nvPr/>
        </p:nvSpPr>
        <p:spPr>
          <a:xfrm>
            <a:off x="6239256" y="315468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4.2 yrs</a:t>
            </a:r>
            <a:endParaRPr lang="en-US" sz="1100" dirty="0"/>
          </a:p>
        </p:txBody>
      </p:sp>
      <p:sp>
        <p:nvSpPr>
          <p:cNvPr id="35" name="Text 33"/>
          <p:cNvSpPr/>
          <p:nvPr/>
        </p:nvSpPr>
        <p:spPr>
          <a:xfrm>
            <a:off x="4495800" y="342900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NPV at 9%</a:t>
            </a:r>
            <a:endParaRPr lang="en-US" sz="1050" dirty="0"/>
          </a:p>
        </p:txBody>
      </p:sp>
      <p:sp>
        <p:nvSpPr>
          <p:cNvPr id="36" name="Text 34"/>
          <p:cNvSpPr/>
          <p:nvPr/>
        </p:nvSpPr>
        <p:spPr>
          <a:xfrm>
            <a:off x="6239256" y="342900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147M</a:t>
            </a:r>
            <a:endParaRPr lang="en-US" sz="1100" dirty="0"/>
          </a:p>
        </p:txBody>
      </p:sp>
      <p:sp>
        <p:nvSpPr>
          <p:cNvPr id="37" name="Shape 35"/>
          <p:cNvSpPr/>
          <p:nvPr/>
        </p:nvSpPr>
        <p:spPr>
          <a:xfrm>
            <a:off x="4495800" y="3758184"/>
            <a:ext cx="3169920" cy="0"/>
          </a:xfrm>
          <a:prstGeom prst="line">
            <a:avLst/>
          </a:prstGeom>
          <a:noFill/>
          <a:ln w="6350">
            <a:solidFill>
              <a:srgbClr val="4A555F"/>
            </a:solidFill>
            <a:prstDash val="solid"/>
          </a:ln>
        </p:spPr>
      </p:sp>
      <p:sp>
        <p:nvSpPr>
          <p:cNvPr id="38" name="Text 36"/>
          <p:cNvSpPr/>
          <p:nvPr/>
        </p:nvSpPr>
        <p:spPr>
          <a:xfrm>
            <a:off x="449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DEE4E9"/>
                </a:solidFill>
                <a:latin typeface="Arial" pitchFamily="34" charset="0"/>
                <a:ea typeface="Arial" pitchFamily="34" charset="-122"/>
                <a:cs typeface="Arial" pitchFamily="34" charset="-120"/>
              </a:rPr>
              <a:t>26% attach rate (measured on the North pilot), 8% predictive premium, Novaserv synergies at 12 months.</a:t>
            </a:r>
            <a:endParaRPr lang="en-US" sz="1000" dirty="0"/>
          </a:p>
        </p:txBody>
      </p:sp>
      <p:sp>
        <p:nvSpPr>
          <p:cNvPr id="39" name="Shape 37"/>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0" name="Text 38"/>
          <p:cNvSpPr/>
          <p:nvPr/>
        </p:nvSpPr>
        <p:spPr>
          <a:xfrm>
            <a:off x="830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High scenario</a:t>
            </a:r>
            <a:endParaRPr lang="en-US" sz="1500" dirty="0"/>
          </a:p>
        </p:txBody>
      </p:sp>
      <p:sp>
        <p:nvSpPr>
          <p:cNvPr id="41" name="Text 39"/>
          <p:cNvSpPr/>
          <p:nvPr/>
        </p:nvSpPr>
        <p:spPr>
          <a:xfrm>
            <a:off x="830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Fast shift</a:t>
            </a:r>
            <a:endParaRPr lang="en-US" sz="1100" dirty="0"/>
          </a:p>
        </p:txBody>
      </p:sp>
      <p:sp>
        <p:nvSpPr>
          <p:cNvPr id="42" name="Text 40"/>
          <p:cNvSpPr/>
          <p:nvPr/>
        </p:nvSpPr>
        <p:spPr>
          <a:xfrm>
            <a:off x="830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43" name="Text 41"/>
          <p:cNvSpPr/>
          <p:nvPr/>
        </p:nvSpPr>
        <p:spPr>
          <a:xfrm>
            <a:off x="1004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41%</a:t>
            </a:r>
            <a:endParaRPr lang="en-US" sz="1100" dirty="0"/>
          </a:p>
        </p:txBody>
      </p:sp>
      <p:sp>
        <p:nvSpPr>
          <p:cNvPr id="44" name="Text 42"/>
          <p:cNvSpPr/>
          <p:nvPr/>
        </p:nvSpPr>
        <p:spPr>
          <a:xfrm>
            <a:off x="830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45" name="Text 43"/>
          <p:cNvSpPr/>
          <p:nvPr/>
        </p:nvSpPr>
        <p:spPr>
          <a:xfrm>
            <a:off x="1004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176M</a:t>
            </a:r>
            <a:endParaRPr lang="en-US" sz="1100" dirty="0"/>
          </a:p>
        </p:txBody>
      </p:sp>
      <p:sp>
        <p:nvSpPr>
          <p:cNvPr id="46" name="Text 44"/>
          <p:cNvSpPr/>
          <p:nvPr/>
        </p:nvSpPr>
        <p:spPr>
          <a:xfrm>
            <a:off x="830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47" name="Text 45"/>
          <p:cNvSpPr/>
          <p:nvPr/>
        </p:nvSpPr>
        <p:spPr>
          <a:xfrm>
            <a:off x="1004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3.4 yrs</a:t>
            </a:r>
            <a:endParaRPr lang="en-US" sz="1100" dirty="0"/>
          </a:p>
        </p:txBody>
      </p:sp>
      <p:sp>
        <p:nvSpPr>
          <p:cNvPr id="48" name="Text 46"/>
          <p:cNvSpPr/>
          <p:nvPr/>
        </p:nvSpPr>
        <p:spPr>
          <a:xfrm>
            <a:off x="830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49" name="Text 47"/>
          <p:cNvSpPr/>
          <p:nvPr/>
        </p:nvSpPr>
        <p:spPr>
          <a:xfrm>
            <a:off x="1004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215M</a:t>
            </a:r>
            <a:endParaRPr lang="en-US" sz="1100" dirty="0"/>
          </a:p>
        </p:txBody>
      </p:sp>
      <p:sp>
        <p:nvSpPr>
          <p:cNvPr id="50" name="Shape 48"/>
          <p:cNvSpPr/>
          <p:nvPr/>
        </p:nvSpPr>
        <p:spPr>
          <a:xfrm>
            <a:off x="8305800" y="3758184"/>
            <a:ext cx="3169920" cy="0"/>
          </a:xfrm>
          <a:prstGeom prst="line">
            <a:avLst/>
          </a:prstGeom>
          <a:noFill/>
          <a:ln w="6350">
            <a:solidFill>
              <a:srgbClr val="CFCFCF"/>
            </a:solidFill>
            <a:prstDash val="solid"/>
          </a:ln>
        </p:spPr>
      </p:sp>
      <p:sp>
        <p:nvSpPr>
          <p:cNvPr id="51" name="Text 49"/>
          <p:cNvSpPr/>
          <p:nvPr/>
        </p:nvSpPr>
        <p:spPr>
          <a:xfrm>
            <a:off x="830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The 2027 regulation accelerates the mandatory audit, 31% attach rate, extension to the Benelux base.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STEERCO — JULY 2026</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program is green on the pilot, two decisions gate wave 2</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14</a:t>
            </a:r>
            <a:endParaRPr lang="en-US" sz="850" dirty="0"/>
          </a:p>
        </p:txBody>
      </p:sp>
      <p:sp>
        <p:nvSpPr>
          <p:cNvPr id="8" name="Shape 6"/>
          <p:cNvSpPr/>
          <p:nvPr/>
        </p:nvSpPr>
        <p:spPr>
          <a:xfrm>
            <a:off x="502920"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Overall progress</a:t>
            </a:r>
            <a:endParaRPr lang="en-US" sz="950" dirty="0"/>
          </a:p>
        </p:txBody>
      </p:sp>
      <p:sp>
        <p:nvSpPr>
          <p:cNvPr id="10" name="Shape 8"/>
          <p:cNvSpPr/>
          <p:nvPr/>
        </p:nvSpPr>
        <p:spPr>
          <a:xfrm>
            <a:off x="630936" y="2121408"/>
            <a:ext cx="164592" cy="164592"/>
          </a:xfrm>
          <a:prstGeom prst="ellipse">
            <a:avLst/>
          </a:prstGeom>
          <a:solidFill>
            <a:srgbClr val="2E7D32"/>
          </a:solidFill>
          <a:ln/>
        </p:spPr>
      </p:sp>
      <p:sp>
        <p:nvSpPr>
          <p:cNvPr id="11" name="Text 9"/>
          <p:cNvSpPr/>
          <p:nvPr/>
        </p:nvSpPr>
        <p:spPr>
          <a:xfrm>
            <a:off x="868680"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On plan</a:t>
            </a:r>
            <a:endParaRPr lang="en-US" sz="1150" dirty="0"/>
          </a:p>
        </p:txBody>
      </p:sp>
      <p:sp>
        <p:nvSpPr>
          <p:cNvPr id="12" name="Shape 10"/>
          <p:cNvSpPr/>
          <p:nvPr/>
        </p:nvSpPr>
        <p:spPr>
          <a:xfrm>
            <a:off x="3342132"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3470148"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Budget</a:t>
            </a:r>
            <a:endParaRPr lang="en-US" sz="950" dirty="0"/>
          </a:p>
        </p:txBody>
      </p:sp>
      <p:sp>
        <p:nvSpPr>
          <p:cNvPr id="14" name="Shape 12"/>
          <p:cNvSpPr/>
          <p:nvPr/>
        </p:nvSpPr>
        <p:spPr>
          <a:xfrm>
            <a:off x="3470148" y="2121408"/>
            <a:ext cx="164592" cy="164592"/>
          </a:xfrm>
          <a:prstGeom prst="ellipse">
            <a:avLst/>
          </a:prstGeom>
          <a:solidFill>
            <a:srgbClr val="2E7D32"/>
          </a:solidFill>
          <a:ln/>
        </p:spPr>
      </p:sp>
      <p:sp>
        <p:nvSpPr>
          <p:cNvPr id="15" name="Text 13"/>
          <p:cNvSpPr/>
          <p:nvPr/>
        </p:nvSpPr>
        <p:spPr>
          <a:xfrm>
            <a:off x="3707892"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94% on track</a:t>
            </a:r>
            <a:endParaRPr lang="en-US" sz="1150" dirty="0"/>
          </a:p>
        </p:txBody>
      </p:sp>
      <p:sp>
        <p:nvSpPr>
          <p:cNvPr id="16" name="Shape 14"/>
          <p:cNvSpPr/>
          <p:nvPr/>
        </p:nvSpPr>
        <p:spPr>
          <a:xfrm>
            <a:off x="6181344"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6309360"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Tech recruitment</a:t>
            </a:r>
            <a:endParaRPr lang="en-US" sz="950" dirty="0"/>
          </a:p>
        </p:txBody>
      </p:sp>
      <p:sp>
        <p:nvSpPr>
          <p:cNvPr id="18" name="Shape 16"/>
          <p:cNvSpPr/>
          <p:nvPr/>
        </p:nvSpPr>
        <p:spPr>
          <a:xfrm>
            <a:off x="6309360" y="2121408"/>
            <a:ext cx="164592" cy="164592"/>
          </a:xfrm>
          <a:prstGeom prst="ellipse">
            <a:avLst/>
          </a:prstGeom>
          <a:solidFill>
            <a:srgbClr val="E68A00"/>
          </a:solidFill>
          <a:ln/>
        </p:spPr>
      </p:sp>
      <p:sp>
        <p:nvSpPr>
          <p:cNvPr id="19" name="Text 17"/>
          <p:cNvSpPr/>
          <p:nvPr/>
        </p:nvSpPr>
        <p:spPr>
          <a:xfrm>
            <a:off x="6547104"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12/18 filled</a:t>
            </a:r>
            <a:endParaRPr lang="en-US" sz="1150" dirty="0"/>
          </a:p>
        </p:txBody>
      </p:sp>
      <p:sp>
        <p:nvSpPr>
          <p:cNvPr id="20" name="Shape 18"/>
          <p:cNvSpPr/>
          <p:nvPr/>
        </p:nvSpPr>
        <p:spPr>
          <a:xfrm>
            <a:off x="9020556"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9148572"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Novaserv integration</a:t>
            </a:r>
            <a:endParaRPr lang="en-US" sz="950" dirty="0"/>
          </a:p>
        </p:txBody>
      </p:sp>
      <p:sp>
        <p:nvSpPr>
          <p:cNvPr id="22" name="Shape 20"/>
          <p:cNvSpPr/>
          <p:nvPr/>
        </p:nvSpPr>
        <p:spPr>
          <a:xfrm>
            <a:off x="9148572" y="2121408"/>
            <a:ext cx="164592" cy="164592"/>
          </a:xfrm>
          <a:prstGeom prst="ellipse">
            <a:avLst/>
          </a:prstGeom>
          <a:solidFill>
            <a:srgbClr val="E68A00"/>
          </a:solidFill>
          <a:ln/>
        </p:spPr>
      </p:sp>
      <p:sp>
        <p:nvSpPr>
          <p:cNvPr id="23" name="Text 21"/>
          <p:cNvSpPr/>
          <p:nvPr/>
        </p:nvSpPr>
        <p:spPr>
          <a:xfrm>
            <a:off x="9386316"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M6 milestone at risk</a:t>
            </a:r>
            <a:endParaRPr lang="en-US" sz="1150" dirty="0"/>
          </a:p>
        </p:txBody>
      </p:sp>
      <p:sp>
        <p:nvSpPr>
          <p:cNvPr id="24" name="Shape 22"/>
          <p:cNvSpPr/>
          <p:nvPr/>
        </p:nvSpPr>
        <p:spPr>
          <a:xfrm>
            <a:off x="50292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49224" y="3314700"/>
            <a:ext cx="502920" cy="64008"/>
          </a:xfrm>
          <a:prstGeom prst="roundRect">
            <a:avLst>
              <a:gd name="adj" fmla="val 50000"/>
            </a:avLst>
          </a:prstGeom>
          <a:solidFill>
            <a:srgbClr val="2E7D32"/>
          </a:solidFill>
          <a:ln/>
        </p:spPr>
      </p:sp>
      <p:sp>
        <p:nvSpPr>
          <p:cNvPr id="26" name="Text 24"/>
          <p:cNvSpPr/>
          <p:nvPr/>
        </p:nvSpPr>
        <p:spPr>
          <a:xfrm>
            <a:off x="649224" y="3387852"/>
            <a:ext cx="3273552" cy="256032"/>
          </a:xfrm>
          <a:prstGeom prst="rect">
            <a:avLst/>
          </a:prstGeom>
          <a:noFill/>
          <a:ln/>
        </p:spPr>
        <p:txBody>
          <a:bodyPr wrap="square" lIns="0" tIns="0" rIns="0" bIns="0" rtlCol="0" anchor="ctr"/>
          <a:lstStyle/>
          <a:p>
            <a:pPr indent="0" marL="0">
              <a:buNone/>
            </a:pPr>
            <a:r>
              <a:rPr lang="en-US" sz="1300" b="1" dirty="0">
                <a:solidFill>
                  <a:srgbClr val="2E7D32"/>
                </a:solidFill>
                <a:latin typeface="Arial" pitchFamily="34" charset="0"/>
                <a:ea typeface="Arial" pitchFamily="34" charset="-122"/>
                <a:cs typeface="Arial" pitchFamily="34" charset="-120"/>
              </a:rPr>
              <a:t>Progress this period</a:t>
            </a:r>
            <a:endParaRPr lang="en-US" sz="1300" dirty="0"/>
          </a:p>
        </p:txBody>
      </p:sp>
      <p:sp>
        <p:nvSpPr>
          <p:cNvPr id="27" name="Text 25"/>
          <p:cNvSpPr/>
          <p:nvPr/>
        </p:nvSpPr>
        <p:spPr>
          <a:xfrm>
            <a:off x="64922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North pilot: 412 sites equipped, 26% attach rate</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Premium offer legally validated in 3 regions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Migration of the first 700 Novaserv contracts completed</a:t>
            </a:r>
            <a:endParaRPr lang="en-US" sz="1100" dirty="0"/>
          </a:p>
        </p:txBody>
      </p:sp>
      <p:sp>
        <p:nvSpPr>
          <p:cNvPr id="28" name="Shape 26"/>
          <p:cNvSpPr/>
          <p:nvPr/>
        </p:nvSpPr>
        <p:spPr>
          <a:xfrm>
            <a:off x="429768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4443984" y="3314700"/>
            <a:ext cx="502920" cy="64008"/>
          </a:xfrm>
          <a:prstGeom prst="roundRect">
            <a:avLst>
              <a:gd name="adj" fmla="val 50000"/>
            </a:avLst>
          </a:prstGeom>
          <a:solidFill>
            <a:srgbClr val="1D5FCC"/>
          </a:solidFill>
          <a:ln/>
        </p:spPr>
      </p:sp>
      <p:sp>
        <p:nvSpPr>
          <p:cNvPr id="30" name="Text 28"/>
          <p:cNvSpPr/>
          <p:nvPr/>
        </p:nvSpPr>
        <p:spPr>
          <a:xfrm>
            <a:off x="4443984" y="3387852"/>
            <a:ext cx="3273552" cy="256032"/>
          </a:xfrm>
          <a:prstGeom prst="rect">
            <a:avLst/>
          </a:prstGeom>
          <a:noFill/>
          <a:ln/>
        </p:spPr>
        <p:txBody>
          <a:bodyPr wrap="square" lIns="0" tIns="0" rIns="0" bIns="0" rtlCol="0" anchor="ctr"/>
          <a:lstStyle/>
          <a:p>
            <a:pPr indent="0" marL="0">
              <a:buNone/>
            </a:pPr>
            <a:r>
              <a:rPr lang="en-US" sz="1300" b="1" dirty="0">
                <a:solidFill>
                  <a:srgbClr val="1D5FCC"/>
                </a:solidFill>
                <a:latin typeface="Arial" pitchFamily="34" charset="0"/>
                <a:ea typeface="Arial" pitchFamily="34" charset="-122"/>
                <a:cs typeface="Arial" pitchFamily="34" charset="-120"/>
              </a:rPr>
              <a:t>Decisions required</a:t>
            </a:r>
            <a:endParaRPr lang="en-US" sz="1300" dirty="0"/>
          </a:p>
        </p:txBody>
      </p:sp>
      <p:sp>
        <p:nvSpPr>
          <p:cNvPr id="31" name="Text 29"/>
          <p:cNvSpPr/>
          <p:nvPr/>
        </p:nvSpPr>
        <p:spPr>
          <a:xfrm>
            <a:off x="444398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Approve the pilot extension to the East region (EUR 2.1M)</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Decide parts pricing for standard contracts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Confirm the internal announcement date for the program (W38)</a:t>
            </a:r>
            <a:endParaRPr lang="en-US" sz="1100" dirty="0"/>
          </a:p>
        </p:txBody>
      </p:sp>
      <p:sp>
        <p:nvSpPr>
          <p:cNvPr id="32" name="Shape 30"/>
          <p:cNvSpPr/>
          <p:nvPr/>
        </p:nvSpPr>
        <p:spPr>
          <a:xfrm>
            <a:off x="809244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Shape 31"/>
          <p:cNvSpPr/>
          <p:nvPr/>
        </p:nvSpPr>
        <p:spPr>
          <a:xfrm>
            <a:off x="8238744" y="3314700"/>
            <a:ext cx="502920" cy="64008"/>
          </a:xfrm>
          <a:prstGeom prst="roundRect">
            <a:avLst>
              <a:gd name="adj" fmla="val 50000"/>
            </a:avLst>
          </a:prstGeom>
          <a:solidFill>
            <a:srgbClr val="C62828"/>
          </a:solidFill>
          <a:ln/>
        </p:spPr>
      </p:sp>
      <p:sp>
        <p:nvSpPr>
          <p:cNvPr id="34" name="Text 32"/>
          <p:cNvSpPr/>
          <p:nvPr/>
        </p:nvSpPr>
        <p:spPr>
          <a:xfrm>
            <a:off x="8238744" y="3387852"/>
            <a:ext cx="3273552" cy="256032"/>
          </a:xfrm>
          <a:prstGeom prst="rect">
            <a:avLst/>
          </a:prstGeom>
          <a:noFill/>
          <a:ln/>
        </p:spPr>
        <p:txBody>
          <a:bodyPr wrap="square" lIns="0" tIns="0" rIns="0" bIns="0" rtlCol="0" anchor="ctr"/>
          <a:lstStyle/>
          <a:p>
            <a:pPr indent="0" marL="0">
              <a:buNone/>
            </a:pPr>
            <a:r>
              <a:rPr lang="en-US" sz="1300" b="1" dirty="0">
                <a:solidFill>
                  <a:srgbClr val="C62828"/>
                </a:solidFill>
                <a:latin typeface="Arial" pitchFamily="34" charset="0"/>
                <a:ea typeface="Arial" pitchFamily="34" charset="-122"/>
                <a:cs typeface="Arial" pitchFamily="34" charset="-120"/>
              </a:rPr>
              <a:t>Key risks</a:t>
            </a:r>
            <a:endParaRPr lang="en-US" sz="1300" dirty="0"/>
          </a:p>
        </p:txBody>
      </p:sp>
      <p:sp>
        <p:nvSpPr>
          <p:cNvPr id="35" name="Text 33"/>
          <p:cNvSpPr/>
          <p:nvPr/>
        </p:nvSpPr>
        <p:spPr>
          <a:xfrm>
            <a:off x="823874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Senior attrition: 4 departures in Q2, retention plan to be reinforced</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Platform dependence: partner SLA under review</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Training delay: 12 trained out of 18 planned at W28</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CUSTOMER FINDINGS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42 customer interviews converge: uptime outweighs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April-June 2026;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15</a:t>
            </a:r>
            <a:endParaRPr lang="en-US" sz="850" dirty="0"/>
          </a:p>
        </p:txBody>
      </p:sp>
      <p:sp>
        <p:nvSpPr>
          <p:cNvPr id="8" name="Shape 6"/>
          <p:cNvSpPr/>
          <p:nvPr/>
        </p:nvSpPr>
        <p:spPr>
          <a:xfrm>
            <a:off x="502920" y="1737360"/>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2266188"/>
            <a:ext cx="347472" cy="347472"/>
          </a:xfrm>
          <a:prstGeom prst="ellipse">
            <a:avLst/>
          </a:prstGeom>
          <a:solidFill>
            <a:srgbClr val="1D5FCC"/>
          </a:solidFill>
          <a:ln/>
        </p:spPr>
      </p:sp>
      <p:sp>
        <p:nvSpPr>
          <p:cNvPr id="10" name="Text 8"/>
          <p:cNvSpPr/>
          <p:nvPr/>
        </p:nvSpPr>
        <p:spPr>
          <a:xfrm>
            <a:off x="649224" y="226618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01</a:t>
            </a:r>
            <a:endParaRPr lang="en-US" sz="1100" dirty="0"/>
          </a:p>
        </p:txBody>
      </p:sp>
      <p:sp>
        <p:nvSpPr>
          <p:cNvPr id="11" name="Text 9"/>
          <p:cNvSpPr/>
          <p:nvPr/>
        </p:nvSpPr>
        <p:spPr>
          <a:xfrm>
            <a:off x="1161288" y="1828800"/>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Production downtime costs more than the contract</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An unplanned stoppage costs a median EUR 34k per day; the premium contract costs EUR 3.3k per year.</a:t>
            </a:r>
            <a:endParaRPr lang="en-US" sz="1250" dirty="0"/>
          </a:p>
        </p:txBody>
      </p:sp>
      <p:sp>
        <p:nvSpPr>
          <p:cNvPr id="12" name="Shape 10"/>
          <p:cNvSpPr/>
          <p:nvPr/>
        </p:nvSpPr>
        <p:spPr>
          <a:xfrm>
            <a:off x="9098280" y="2055876"/>
            <a:ext cx="1115568" cy="768096"/>
          </a:xfrm>
          <a:prstGeom prst="rect">
            <a:avLst/>
          </a:prstGeom>
          <a:solidFill>
            <a:srgbClr val="FFFFFF"/>
          </a:solidFill>
          <a:ln w="9525">
            <a:solidFill>
              <a:srgbClr val="CFCFCF"/>
            </a:solidFill>
            <a:prstDash val="solid"/>
          </a:ln>
        </p:spPr>
      </p:sp>
      <p:sp>
        <p:nvSpPr>
          <p:cNvPr id="13" name="Text 11"/>
          <p:cNvSpPr/>
          <p:nvPr/>
        </p:nvSpPr>
        <p:spPr>
          <a:xfrm>
            <a:off x="909828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EUR 34k</a:t>
            </a:r>
            <a:endParaRPr lang="en-US" sz="1600" dirty="0"/>
          </a:p>
        </p:txBody>
      </p:sp>
      <p:sp>
        <p:nvSpPr>
          <p:cNvPr id="14" name="Text 12"/>
          <p:cNvSpPr/>
          <p:nvPr/>
        </p:nvSpPr>
        <p:spPr>
          <a:xfrm>
            <a:off x="909828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cost per day of downtime</a:t>
            </a:r>
            <a:endParaRPr lang="en-US" sz="850" dirty="0"/>
          </a:p>
        </p:txBody>
      </p:sp>
      <p:sp>
        <p:nvSpPr>
          <p:cNvPr id="15" name="Shape 13"/>
          <p:cNvSpPr/>
          <p:nvPr/>
        </p:nvSpPr>
        <p:spPr>
          <a:xfrm>
            <a:off x="10332720" y="2055876"/>
            <a:ext cx="1115568" cy="768096"/>
          </a:xfrm>
          <a:prstGeom prst="rect">
            <a:avLst/>
          </a:prstGeom>
          <a:solidFill>
            <a:srgbClr val="FFFFFF"/>
          </a:solidFill>
          <a:ln w="9525">
            <a:solidFill>
              <a:srgbClr val="CFCFCF"/>
            </a:solidFill>
            <a:prstDash val="solid"/>
          </a:ln>
        </p:spPr>
      </p:sp>
      <p:sp>
        <p:nvSpPr>
          <p:cNvPr id="16" name="Text 14"/>
          <p:cNvSpPr/>
          <p:nvPr/>
        </p:nvSpPr>
        <p:spPr>
          <a:xfrm>
            <a:off x="1033272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a:t>
            </a:r>
            <a:endParaRPr lang="en-US" sz="1600" dirty="0"/>
          </a:p>
        </p:txBody>
      </p:sp>
      <p:sp>
        <p:nvSpPr>
          <p:cNvPr id="17" name="Text 15"/>
          <p:cNvSpPr/>
          <p:nvPr/>
        </p:nvSpPr>
        <p:spPr>
          <a:xfrm>
            <a:off x="1033272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uptime first</a:t>
            </a:r>
            <a:endParaRPr lang="en-US" sz="850" dirty="0"/>
          </a:p>
        </p:txBody>
      </p:sp>
      <p:sp>
        <p:nvSpPr>
          <p:cNvPr id="18" name="Shape 16"/>
          <p:cNvSpPr/>
          <p:nvPr/>
        </p:nvSpPr>
        <p:spPr>
          <a:xfrm>
            <a:off x="502920" y="3343656"/>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9" name="Shape 17"/>
          <p:cNvSpPr/>
          <p:nvPr/>
        </p:nvSpPr>
        <p:spPr>
          <a:xfrm>
            <a:off x="649224" y="3872484"/>
            <a:ext cx="347472" cy="347472"/>
          </a:xfrm>
          <a:prstGeom prst="ellipse">
            <a:avLst/>
          </a:prstGeom>
          <a:solidFill>
            <a:srgbClr val="1D5FCC"/>
          </a:solidFill>
          <a:ln/>
        </p:spPr>
      </p:sp>
      <p:sp>
        <p:nvSpPr>
          <p:cNvPr id="20" name="Text 18"/>
          <p:cNvSpPr/>
          <p:nvPr/>
        </p:nvSpPr>
        <p:spPr>
          <a:xfrm>
            <a:off x="649224"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02</a:t>
            </a:r>
            <a:endParaRPr lang="en-US" sz="1100" dirty="0"/>
          </a:p>
        </p:txBody>
      </p:sp>
      <p:sp>
        <p:nvSpPr>
          <p:cNvPr id="21" name="Text 19"/>
          <p:cNvSpPr/>
          <p:nvPr/>
        </p:nvSpPr>
        <p:spPr>
          <a:xfrm>
            <a:off x="1161288" y="3435096"/>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Trust in predictive maintenance already exists</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Connected customers accept sharing usage data as long as the benefit is contractualized.</a:t>
            </a:r>
            <a:endParaRPr lang="en-US" sz="1250" dirty="0"/>
          </a:p>
        </p:txBody>
      </p:sp>
      <p:sp>
        <p:nvSpPr>
          <p:cNvPr id="22" name="Shape 20"/>
          <p:cNvSpPr/>
          <p:nvPr/>
        </p:nvSpPr>
        <p:spPr>
          <a:xfrm>
            <a:off x="9098280" y="3662172"/>
            <a:ext cx="1115568" cy="768096"/>
          </a:xfrm>
          <a:prstGeom prst="rect">
            <a:avLst/>
          </a:prstGeom>
          <a:solidFill>
            <a:srgbClr val="FFFFFF"/>
          </a:solidFill>
          <a:ln w="9525">
            <a:solidFill>
              <a:srgbClr val="CFCFCF"/>
            </a:solidFill>
            <a:prstDash val="solid"/>
          </a:ln>
        </p:spPr>
      </p:sp>
      <p:sp>
        <p:nvSpPr>
          <p:cNvPr id="23" name="Text 21"/>
          <p:cNvSpPr/>
          <p:nvPr/>
        </p:nvSpPr>
        <p:spPr>
          <a:xfrm>
            <a:off x="909828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74%</a:t>
            </a:r>
            <a:endParaRPr lang="en-US" sz="1600" dirty="0"/>
          </a:p>
        </p:txBody>
      </p:sp>
      <p:sp>
        <p:nvSpPr>
          <p:cNvPr id="24" name="Text 22"/>
          <p:cNvSpPr/>
          <p:nvPr/>
        </p:nvSpPr>
        <p:spPr>
          <a:xfrm>
            <a:off x="909828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willing to share</a:t>
            </a:r>
            <a:endParaRPr lang="en-US" sz="850" dirty="0"/>
          </a:p>
        </p:txBody>
      </p:sp>
      <p:sp>
        <p:nvSpPr>
          <p:cNvPr id="25" name="Shape 23"/>
          <p:cNvSpPr/>
          <p:nvPr/>
        </p:nvSpPr>
        <p:spPr>
          <a:xfrm>
            <a:off x="10332720" y="3662172"/>
            <a:ext cx="1115568" cy="768096"/>
          </a:xfrm>
          <a:prstGeom prst="rect">
            <a:avLst/>
          </a:prstGeom>
          <a:solidFill>
            <a:srgbClr val="FFFFFF"/>
          </a:solidFill>
          <a:ln w="9525">
            <a:solidFill>
              <a:srgbClr val="CFCFCF"/>
            </a:solidFill>
            <a:prstDash val="solid"/>
          </a:ln>
        </p:spPr>
      </p:sp>
      <p:sp>
        <p:nvSpPr>
          <p:cNvPr id="26" name="Text 24"/>
          <p:cNvSpPr/>
          <p:nvPr/>
        </p:nvSpPr>
        <p:spPr>
          <a:xfrm>
            <a:off x="1033272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+8-12%</a:t>
            </a:r>
            <a:endParaRPr lang="en-US" sz="1600" dirty="0"/>
          </a:p>
        </p:txBody>
      </p:sp>
      <p:sp>
        <p:nvSpPr>
          <p:cNvPr id="27" name="Text 25"/>
          <p:cNvSpPr/>
          <p:nvPr/>
        </p:nvSpPr>
        <p:spPr>
          <a:xfrm>
            <a:off x="1033272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accepted premium</a:t>
            </a:r>
            <a:endParaRPr lang="en-US" sz="850" dirty="0"/>
          </a:p>
        </p:txBody>
      </p:sp>
      <p:sp>
        <p:nvSpPr>
          <p:cNvPr id="28" name="Shape 26"/>
          <p:cNvSpPr/>
          <p:nvPr/>
        </p:nvSpPr>
        <p:spPr>
          <a:xfrm>
            <a:off x="502920" y="4949952"/>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649224" y="5478780"/>
            <a:ext cx="347472" cy="347472"/>
          </a:xfrm>
          <a:prstGeom prst="ellipse">
            <a:avLst/>
          </a:prstGeom>
          <a:solidFill>
            <a:srgbClr val="1D5FCC"/>
          </a:solidFill>
          <a:ln/>
        </p:spPr>
      </p:sp>
      <p:sp>
        <p:nvSpPr>
          <p:cNvPr id="30" name="Text 28"/>
          <p:cNvSpPr/>
          <p:nvPr/>
        </p:nvSpPr>
        <p:spPr>
          <a:xfrm>
            <a:off x="649224" y="54787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03</a:t>
            </a:r>
            <a:endParaRPr lang="en-US" sz="1100" dirty="0"/>
          </a:p>
        </p:txBody>
      </p:sp>
      <p:sp>
        <p:nvSpPr>
          <p:cNvPr id="31" name="Text 29"/>
          <p:cNvSpPr/>
          <p:nvPr/>
        </p:nvSpPr>
        <p:spPr>
          <a:xfrm>
            <a:off x="1161288" y="5041392"/>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Independents win on proximity, not quality</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Choosing an independent maintainer is a choice of perceived responsiveness: exactly Meridio's field advantage.</a:t>
            </a:r>
            <a:endParaRPr lang="en-US" sz="1250" dirty="0"/>
          </a:p>
        </p:txBody>
      </p:sp>
      <p:sp>
        <p:nvSpPr>
          <p:cNvPr id="32" name="Shape 30"/>
          <p:cNvSpPr/>
          <p:nvPr/>
        </p:nvSpPr>
        <p:spPr>
          <a:xfrm>
            <a:off x="9098280" y="5268468"/>
            <a:ext cx="1115568" cy="768096"/>
          </a:xfrm>
          <a:prstGeom prst="rect">
            <a:avLst/>
          </a:prstGeom>
          <a:solidFill>
            <a:srgbClr val="FFFFFF"/>
          </a:solidFill>
          <a:ln w="9525">
            <a:solidFill>
              <a:srgbClr val="CFCFCF"/>
            </a:solidFill>
            <a:prstDash val="solid"/>
          </a:ln>
        </p:spPr>
      </p:sp>
      <p:sp>
        <p:nvSpPr>
          <p:cNvPr id="33" name="Text 31"/>
          <p:cNvSpPr/>
          <p:nvPr/>
        </p:nvSpPr>
        <p:spPr>
          <a:xfrm>
            <a:off x="909828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61%</a:t>
            </a:r>
            <a:endParaRPr lang="en-US" sz="1600" dirty="0"/>
          </a:p>
        </p:txBody>
      </p:sp>
      <p:sp>
        <p:nvSpPr>
          <p:cNvPr id="34" name="Text 32"/>
          <p:cNvSpPr/>
          <p:nvPr/>
        </p:nvSpPr>
        <p:spPr>
          <a:xfrm>
            <a:off x="909828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responsiveness</a:t>
            </a:r>
            <a:endParaRPr lang="en-US" sz="850" dirty="0"/>
          </a:p>
        </p:txBody>
      </p:sp>
      <p:sp>
        <p:nvSpPr>
          <p:cNvPr id="35" name="Shape 33"/>
          <p:cNvSpPr/>
          <p:nvPr/>
        </p:nvSpPr>
        <p:spPr>
          <a:xfrm>
            <a:off x="10332720" y="5268468"/>
            <a:ext cx="1115568" cy="768096"/>
          </a:xfrm>
          <a:prstGeom prst="rect">
            <a:avLst/>
          </a:prstGeom>
          <a:solidFill>
            <a:srgbClr val="FFFFFF"/>
          </a:solidFill>
          <a:ln w="9525">
            <a:solidFill>
              <a:srgbClr val="CFCFCF"/>
            </a:solidFill>
            <a:prstDash val="solid"/>
          </a:ln>
        </p:spPr>
      </p:sp>
      <p:sp>
        <p:nvSpPr>
          <p:cNvPr id="36" name="Text 34"/>
          <p:cNvSpPr/>
          <p:nvPr/>
        </p:nvSpPr>
        <p:spPr>
          <a:xfrm>
            <a:off x="1033272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2 hrs</a:t>
            </a:r>
            <a:endParaRPr lang="en-US" sz="1600" dirty="0"/>
          </a:p>
        </p:txBody>
      </p:sp>
      <p:sp>
        <p:nvSpPr>
          <p:cNvPr id="37" name="Text 35"/>
          <p:cNvSpPr/>
          <p:nvPr/>
        </p:nvSpPr>
        <p:spPr>
          <a:xfrm>
            <a:off x="1033272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median Meridio lead time</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TRADE-OFFS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trade-offs structure the September committee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16</a:t>
            </a:r>
            <a:endParaRPr lang="en-US" sz="850" dirty="0"/>
          </a:p>
        </p:txBody>
      </p:sp>
      <p:sp>
        <p:nvSpPr>
          <p:cNvPr id="8" name="Shape 6"/>
          <p:cNvSpPr/>
          <p:nvPr/>
        </p:nvSpPr>
        <p:spPr>
          <a:xfrm>
            <a:off x="502920"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1883664"/>
            <a:ext cx="457200" cy="237744"/>
          </a:xfrm>
          <a:prstGeom prst="roundRect">
            <a:avLst>
              <a:gd name="adj" fmla="val 50000"/>
            </a:avLst>
          </a:prstGeom>
          <a:solidFill>
            <a:srgbClr val="1D5FCC"/>
          </a:solidFill>
          <a:ln/>
        </p:spPr>
      </p:sp>
      <p:sp>
        <p:nvSpPr>
          <p:cNvPr id="10" name="Text 8"/>
          <p:cNvSpPr/>
          <p:nvPr/>
        </p:nvSpPr>
        <p:spPr>
          <a:xfrm>
            <a:off x="649224"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D1</a:t>
            </a:r>
            <a:endParaRPr lang="en-US" sz="950" dirty="0"/>
          </a:p>
        </p:txBody>
      </p:sp>
      <p:sp>
        <p:nvSpPr>
          <p:cNvPr id="11" name="Text 9"/>
          <p:cNvSpPr/>
          <p:nvPr/>
        </p:nvSpPr>
        <p:spPr>
          <a:xfrm>
            <a:off x="1216152"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M&amp;A scope</a:t>
            </a:r>
            <a:endParaRPr lang="en-US" sz="1250" dirty="0"/>
          </a:p>
        </p:txBody>
      </p:sp>
      <p:sp>
        <p:nvSpPr>
          <p:cNvPr id="12" name="Text 10"/>
          <p:cNvSpPr/>
          <p:nvPr/>
        </p:nvSpPr>
        <p:spPr>
          <a:xfrm>
            <a:off x="649224"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Novaserv offer expires September 30; a second player (Techniparc) is being approached by a fund.</a:t>
            </a:r>
            <a:endParaRPr lang="en-US" sz="1050" dirty="0"/>
          </a:p>
        </p:txBody>
      </p:sp>
      <p:sp>
        <p:nvSpPr>
          <p:cNvPr id="13" name="Text 11"/>
          <p:cNvSpPr/>
          <p:nvPr/>
        </p:nvSpPr>
        <p:spPr>
          <a:xfrm>
            <a:off x="649224"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Firm offer at 9.5x EBITDA maximum, 60-day exclusivity.</a:t>
            </a:r>
            <a:endParaRPr lang="en-US" sz="1050" dirty="0"/>
          </a:p>
        </p:txBody>
      </p:sp>
      <p:sp>
        <p:nvSpPr>
          <p:cNvPr id="14" name="Text 12"/>
          <p:cNvSpPr/>
          <p:nvPr/>
        </p:nvSpPr>
        <p:spPr>
          <a:xfrm>
            <a:off x="649224"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Likely loss of the target to the fund; the alternative is 18 months slower.</a:t>
            </a:r>
            <a:endParaRPr lang="en-US" sz="1050" dirty="0"/>
          </a:p>
        </p:txBody>
      </p:sp>
      <p:sp>
        <p:nvSpPr>
          <p:cNvPr id="15" name="Shape 13"/>
          <p:cNvSpPr/>
          <p:nvPr/>
        </p:nvSpPr>
        <p:spPr>
          <a:xfrm>
            <a:off x="3342132"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Shape 14"/>
          <p:cNvSpPr/>
          <p:nvPr/>
        </p:nvSpPr>
        <p:spPr>
          <a:xfrm>
            <a:off x="3488436" y="1883664"/>
            <a:ext cx="457200" cy="237744"/>
          </a:xfrm>
          <a:prstGeom prst="roundRect">
            <a:avLst>
              <a:gd name="adj" fmla="val 50000"/>
            </a:avLst>
          </a:prstGeom>
          <a:solidFill>
            <a:srgbClr val="1D5FCC"/>
          </a:solidFill>
          <a:ln/>
        </p:spPr>
      </p:sp>
      <p:sp>
        <p:nvSpPr>
          <p:cNvPr id="17" name="Text 15"/>
          <p:cNvSpPr/>
          <p:nvPr/>
        </p:nvSpPr>
        <p:spPr>
          <a:xfrm>
            <a:off x="3488436"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D2</a:t>
            </a:r>
            <a:endParaRPr lang="en-US" sz="950" dirty="0"/>
          </a:p>
        </p:txBody>
      </p:sp>
      <p:sp>
        <p:nvSpPr>
          <p:cNvPr id="18" name="Text 16"/>
          <p:cNvSpPr/>
          <p:nvPr/>
        </p:nvSpPr>
        <p:spPr>
          <a:xfrm>
            <a:off x="4055364"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Roll-out pace</a:t>
            </a:r>
            <a:endParaRPr lang="en-US" sz="1250" dirty="0"/>
          </a:p>
        </p:txBody>
      </p:sp>
      <p:sp>
        <p:nvSpPr>
          <p:cNvPr id="19" name="Text 17"/>
          <p:cNvSpPr/>
          <p:nvPr/>
        </p:nvSpPr>
        <p:spPr>
          <a:xfrm>
            <a:off x="3488436"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pilot supports a roll-out in 18 or 24 months depending on training capacity.</a:t>
            </a:r>
            <a:endParaRPr lang="en-US" sz="1050" dirty="0"/>
          </a:p>
        </p:txBody>
      </p:sp>
      <p:sp>
        <p:nvSpPr>
          <p:cNvPr id="20" name="Text 18"/>
          <p:cNvSpPr/>
          <p:nvPr/>
        </p:nvSpPr>
        <p:spPr>
          <a:xfrm>
            <a:off x="3488436"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24 months: align the waves with the existing training cohorts.</a:t>
            </a:r>
            <a:endParaRPr lang="en-US" sz="1050" dirty="0"/>
          </a:p>
        </p:txBody>
      </p:sp>
      <p:sp>
        <p:nvSpPr>
          <p:cNvPr id="21" name="Text 19"/>
          <p:cNvSpPr/>
          <p:nvPr/>
        </p:nvSpPr>
        <p:spPr>
          <a:xfrm>
            <a:off x="3488436"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Default decision = 24 months, but without securing external trainers.</a:t>
            </a:r>
            <a:endParaRPr lang="en-US" sz="1050" dirty="0"/>
          </a:p>
        </p:txBody>
      </p:sp>
      <p:sp>
        <p:nvSpPr>
          <p:cNvPr id="22" name="Shape 20"/>
          <p:cNvSpPr/>
          <p:nvPr/>
        </p:nvSpPr>
        <p:spPr>
          <a:xfrm>
            <a:off x="6181344"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3" name="Shape 21"/>
          <p:cNvSpPr/>
          <p:nvPr/>
        </p:nvSpPr>
        <p:spPr>
          <a:xfrm>
            <a:off x="6327648" y="1883664"/>
            <a:ext cx="457200" cy="237744"/>
          </a:xfrm>
          <a:prstGeom prst="roundRect">
            <a:avLst>
              <a:gd name="adj" fmla="val 50000"/>
            </a:avLst>
          </a:prstGeom>
          <a:solidFill>
            <a:srgbClr val="1D5FCC"/>
          </a:solidFill>
          <a:ln/>
        </p:spPr>
      </p:sp>
      <p:sp>
        <p:nvSpPr>
          <p:cNvPr id="24" name="Text 22"/>
          <p:cNvSpPr/>
          <p:nvPr/>
        </p:nvSpPr>
        <p:spPr>
          <a:xfrm>
            <a:off x="6327648"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D3</a:t>
            </a:r>
            <a:endParaRPr lang="en-US" sz="950" dirty="0"/>
          </a:p>
        </p:txBody>
      </p:sp>
      <p:sp>
        <p:nvSpPr>
          <p:cNvPr id="25" name="Text 23"/>
          <p:cNvSpPr/>
          <p:nvPr/>
        </p:nvSpPr>
        <p:spPr>
          <a:xfrm>
            <a:off x="6894576"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Linked pricing</a:t>
            </a:r>
            <a:endParaRPr lang="en-US" sz="1250" dirty="0"/>
          </a:p>
        </p:txBody>
      </p:sp>
      <p:sp>
        <p:nvSpPr>
          <p:cNvPr id="26" name="Text 24"/>
          <p:cNvSpPr/>
          <p:nvPr/>
        </p:nvSpPr>
        <p:spPr>
          <a:xfrm>
            <a:off x="6327648"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equipment discount conditional on a 5-year contract cannibalizes 4 points of new-sales margin.</a:t>
            </a:r>
            <a:endParaRPr lang="en-US" sz="1050" dirty="0"/>
          </a:p>
        </p:txBody>
      </p:sp>
      <p:sp>
        <p:nvSpPr>
          <p:cNvPr id="27" name="Text 25"/>
          <p:cNvSpPr/>
          <p:nvPr/>
        </p:nvSpPr>
        <p:spPr>
          <a:xfrm>
            <a:off x="6327648"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Accept the cannibalization: the contract NPV covers 2.6x the discount.</a:t>
            </a:r>
            <a:endParaRPr lang="en-US" sz="1050" dirty="0"/>
          </a:p>
        </p:txBody>
      </p:sp>
      <p:sp>
        <p:nvSpPr>
          <p:cNvPr id="28" name="Text 26"/>
          <p:cNvSpPr/>
          <p:nvPr/>
        </p:nvSpPr>
        <p:spPr>
          <a:xfrm>
            <a:off x="6327648"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Sales reps will sell equipment without attach, reproducing the current leakage.</a:t>
            </a:r>
            <a:endParaRPr lang="en-US" sz="1050" dirty="0"/>
          </a:p>
        </p:txBody>
      </p:sp>
      <p:sp>
        <p:nvSpPr>
          <p:cNvPr id="29" name="Shape 27"/>
          <p:cNvSpPr/>
          <p:nvPr/>
        </p:nvSpPr>
        <p:spPr>
          <a:xfrm>
            <a:off x="9020556"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0" name="Shape 28"/>
          <p:cNvSpPr/>
          <p:nvPr/>
        </p:nvSpPr>
        <p:spPr>
          <a:xfrm>
            <a:off x="9166860" y="1883664"/>
            <a:ext cx="457200" cy="237744"/>
          </a:xfrm>
          <a:prstGeom prst="roundRect">
            <a:avLst>
              <a:gd name="adj" fmla="val 50000"/>
            </a:avLst>
          </a:prstGeom>
          <a:solidFill>
            <a:srgbClr val="1D5FCC"/>
          </a:solidFill>
          <a:ln/>
        </p:spPr>
      </p:sp>
      <p:sp>
        <p:nvSpPr>
          <p:cNvPr id="31" name="Text 29"/>
          <p:cNvSpPr/>
          <p:nvPr/>
        </p:nvSpPr>
        <p:spPr>
          <a:xfrm>
            <a:off x="9166860"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D4</a:t>
            </a:r>
            <a:endParaRPr lang="en-US" sz="950" dirty="0"/>
          </a:p>
        </p:txBody>
      </p:sp>
      <p:sp>
        <p:nvSpPr>
          <p:cNvPr id="32" name="Text 30"/>
          <p:cNvSpPr/>
          <p:nvPr/>
        </p:nvSpPr>
        <p:spPr>
          <a:xfrm>
            <a:off x="9733788"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Program governance</a:t>
            </a:r>
            <a:endParaRPr lang="en-US" sz="1250" dirty="0"/>
          </a:p>
        </p:txBody>
      </p:sp>
      <p:sp>
        <p:nvSpPr>
          <p:cNvPr id="33" name="Text 31"/>
          <p:cNvSpPr/>
          <p:nvPr/>
        </p:nvSpPr>
        <p:spPr>
          <a:xfrm>
            <a:off x="9166860"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program spans five departments; current steering is handled part-time by Strategy.</a:t>
            </a:r>
            <a:endParaRPr lang="en-US" sz="1050" dirty="0"/>
          </a:p>
        </p:txBody>
      </p:sp>
      <p:sp>
        <p:nvSpPr>
          <p:cNvPr id="34" name="Text 32"/>
          <p:cNvSpPr/>
          <p:nvPr/>
        </p:nvSpPr>
        <p:spPr>
          <a:xfrm>
            <a:off x="9166860"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ExCo sponsor dedicated at 50% + a 4-person PMO.</a:t>
            </a:r>
            <a:endParaRPr lang="en-US" sz="1050" dirty="0"/>
          </a:p>
        </p:txBody>
      </p:sp>
      <p:sp>
        <p:nvSpPr>
          <p:cNvPr id="35" name="Text 33"/>
          <p:cNvSpPr/>
          <p:nvPr/>
        </p:nvSpPr>
        <p:spPr>
          <a:xfrm>
            <a:off x="9166860"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Each department optimizes locally; the M12 timeline becomes untenable.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FIRST 100 DAYS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first 100 days secure the acquisition, the teams and the pilot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Checkpoint: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100-day exit milestone: pilot attach rate of 20% or more, otherwise review the investment case.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17</a:t>
            </a:r>
            <a:endParaRPr lang="en-US" sz="850" dirty="0"/>
          </a:p>
        </p:txBody>
      </p:sp>
      <p:sp>
        <p:nvSpPr>
          <p:cNvPr id="11" name="Shape 9"/>
          <p:cNvSpPr/>
          <p:nvPr/>
        </p:nvSpPr>
        <p:spPr>
          <a:xfrm>
            <a:off x="502920" y="1737360"/>
            <a:ext cx="3584448" cy="548640"/>
          </a:xfrm>
          <a:prstGeom prst="rect">
            <a:avLst/>
          </a:prstGeom>
          <a:solidFill>
            <a:srgbClr val="2E7CF6"/>
          </a:solidFill>
          <a:ln/>
        </p:spPr>
      </p:sp>
      <p:sp>
        <p:nvSpPr>
          <p:cNvPr id="12" name="Text 10"/>
          <p:cNvSpPr/>
          <p:nvPr/>
        </p:nvSpPr>
        <p:spPr>
          <a:xfrm>
            <a:off x="630936"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Mobilize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0-30</a:t>
            </a:r>
            <a:endParaRPr lang="en-US" sz="1250" dirty="0"/>
          </a:p>
        </p:txBody>
      </p:sp>
      <p:sp>
        <p:nvSpPr>
          <p:cNvPr id="13" name="Shape 11"/>
          <p:cNvSpPr/>
          <p:nvPr/>
        </p:nvSpPr>
        <p:spPr>
          <a:xfrm>
            <a:off x="502920" y="2414016"/>
            <a:ext cx="3584448" cy="1002792"/>
          </a:xfrm>
          <a:prstGeom prst="rect">
            <a:avLst/>
          </a:prstGeom>
          <a:solidFill>
            <a:srgbClr val="FFFFFF"/>
          </a:solidFill>
          <a:ln w="9525">
            <a:solidFill>
              <a:srgbClr val="CFCFCF"/>
            </a:solidFill>
            <a:prstDash val="solid"/>
          </a:ln>
        </p:spPr>
      </p:sp>
      <p:sp>
        <p:nvSpPr>
          <p:cNvPr id="14" name="Text 12"/>
          <p:cNvSpPr/>
          <p:nvPr/>
        </p:nvSpPr>
        <p:spPr>
          <a:xfrm>
            <a:off x="612648"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letter of intent</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bank mandated, data room open</a:t>
            </a:r>
            <a:endParaRPr lang="en-US" sz="1100" dirty="0"/>
          </a:p>
        </p:txBody>
      </p:sp>
      <p:sp>
        <p:nvSpPr>
          <p:cNvPr id="15" name="Shape 13"/>
          <p:cNvSpPr/>
          <p:nvPr/>
        </p:nvSpPr>
        <p:spPr>
          <a:xfrm>
            <a:off x="502920" y="3526536"/>
            <a:ext cx="3584448" cy="1002792"/>
          </a:xfrm>
          <a:prstGeom prst="rect">
            <a:avLst/>
          </a:prstGeom>
          <a:solidFill>
            <a:srgbClr val="FFFFFF"/>
          </a:solidFill>
          <a:ln w="9525">
            <a:solidFill>
              <a:srgbClr val="CFCFCF"/>
            </a:solidFill>
            <a:prstDash val="solid"/>
          </a:ln>
        </p:spPr>
      </p:sp>
      <p:sp>
        <p:nvSpPr>
          <p:cNvPr id="16" name="Text 14"/>
          <p:cNvSpPr/>
          <p:nvPr/>
        </p:nvSpPr>
        <p:spPr>
          <a:xfrm>
            <a:off x="612648"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Retention plan signed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18 senior technicians targeted</a:t>
            </a:r>
            <a:endParaRPr lang="en-US" sz="1100" dirty="0"/>
          </a:p>
        </p:txBody>
      </p:sp>
      <p:sp>
        <p:nvSpPr>
          <p:cNvPr id="17" name="Shape 15"/>
          <p:cNvSpPr/>
          <p:nvPr/>
        </p:nvSpPr>
        <p:spPr>
          <a:xfrm>
            <a:off x="502920" y="4639056"/>
            <a:ext cx="3584448" cy="1002792"/>
          </a:xfrm>
          <a:prstGeom prst="rect">
            <a:avLst/>
          </a:prstGeom>
          <a:solidFill>
            <a:srgbClr val="FFFFFF"/>
          </a:solidFill>
          <a:ln w="9525">
            <a:solidFill>
              <a:srgbClr val="CFCFCF"/>
            </a:solidFill>
            <a:prstDash val="solid"/>
          </a:ln>
        </p:spPr>
      </p:sp>
      <p:sp>
        <p:nvSpPr>
          <p:cNvPr id="18" name="Text 16"/>
          <p:cNvSpPr/>
          <p:nvPr/>
        </p:nvSpPr>
        <p:spPr>
          <a:xfrm>
            <a:off x="612648"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Program team appointed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sponsor + PMO + 5 leads</a:t>
            </a:r>
            <a:endParaRPr lang="en-US" sz="1100" dirty="0"/>
          </a:p>
        </p:txBody>
      </p:sp>
      <p:sp>
        <p:nvSpPr>
          <p:cNvPr id="19" name="Shape 17"/>
          <p:cNvSpPr/>
          <p:nvPr/>
        </p:nvSpPr>
        <p:spPr>
          <a:xfrm>
            <a:off x="4288536" y="1737360"/>
            <a:ext cx="3584448" cy="548640"/>
          </a:xfrm>
          <a:prstGeom prst="rect">
            <a:avLst/>
          </a:prstGeom>
          <a:solidFill>
            <a:srgbClr val="4D90F7"/>
          </a:solidFill>
          <a:ln/>
        </p:spPr>
      </p:sp>
      <p:sp>
        <p:nvSpPr>
          <p:cNvPr id="20" name="Text 18"/>
          <p:cNvSpPr/>
          <p:nvPr/>
        </p:nvSpPr>
        <p:spPr>
          <a:xfrm>
            <a:off x="4416552"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Prove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31-60</a:t>
            </a:r>
            <a:endParaRPr lang="en-US" sz="1250" dirty="0"/>
          </a:p>
        </p:txBody>
      </p:sp>
      <p:sp>
        <p:nvSpPr>
          <p:cNvPr id="21" name="Shape 19"/>
          <p:cNvSpPr/>
          <p:nvPr/>
        </p:nvSpPr>
        <p:spPr>
          <a:xfrm>
            <a:off x="4288536" y="2414016"/>
            <a:ext cx="3584448" cy="1002792"/>
          </a:xfrm>
          <a:prstGeom prst="rect">
            <a:avLst/>
          </a:prstGeom>
          <a:solidFill>
            <a:srgbClr val="FFFFFF"/>
          </a:solidFill>
          <a:ln w="9525">
            <a:solidFill>
              <a:srgbClr val="CFCFCF"/>
            </a:solidFill>
            <a:prstDash val="solid"/>
          </a:ln>
        </p:spPr>
      </p:sp>
      <p:sp>
        <p:nvSpPr>
          <p:cNvPr id="22" name="Text 20"/>
          <p:cNvSpPr/>
          <p:nvPr/>
        </p:nvSpPr>
        <p:spPr>
          <a:xfrm>
            <a:off x="4398264"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Premium offer finalized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pricing, SLAs, contract template</a:t>
            </a:r>
            <a:endParaRPr lang="en-US" sz="1100" dirty="0"/>
          </a:p>
        </p:txBody>
      </p:sp>
      <p:sp>
        <p:nvSpPr>
          <p:cNvPr id="23" name="Shape 21"/>
          <p:cNvSpPr/>
          <p:nvPr/>
        </p:nvSpPr>
        <p:spPr>
          <a:xfrm>
            <a:off x="4288536" y="3526536"/>
            <a:ext cx="3584448" cy="1002792"/>
          </a:xfrm>
          <a:prstGeom prst="rect">
            <a:avLst/>
          </a:prstGeom>
          <a:solidFill>
            <a:srgbClr val="FFFFFF"/>
          </a:solidFill>
          <a:ln w="9525">
            <a:solidFill>
              <a:srgbClr val="CFCFCF"/>
            </a:solidFill>
            <a:prstDash val="solid"/>
          </a:ln>
        </p:spPr>
      </p:sp>
      <p:sp>
        <p:nvSpPr>
          <p:cNvPr id="24" name="Text 22"/>
          <p:cNvSpPr/>
          <p:nvPr/>
        </p:nvSpPr>
        <p:spPr>
          <a:xfrm>
            <a:off x="4398264"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North pilot contracted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400 sites, 3 waves</a:t>
            </a:r>
            <a:endParaRPr lang="en-US" sz="1100" dirty="0"/>
          </a:p>
        </p:txBody>
      </p:sp>
      <p:sp>
        <p:nvSpPr>
          <p:cNvPr id="25" name="Shape 23"/>
          <p:cNvSpPr/>
          <p:nvPr/>
        </p:nvSpPr>
        <p:spPr>
          <a:xfrm>
            <a:off x="4288536" y="4639056"/>
            <a:ext cx="3584448" cy="1002792"/>
          </a:xfrm>
          <a:prstGeom prst="rect">
            <a:avLst/>
          </a:prstGeom>
          <a:solidFill>
            <a:srgbClr val="FFFFFF"/>
          </a:solidFill>
          <a:ln w="9525">
            <a:solidFill>
              <a:srgbClr val="CFCFCF"/>
            </a:solidFill>
            <a:prstDash val="solid"/>
          </a:ln>
        </p:spPr>
      </p:sp>
      <p:sp>
        <p:nvSpPr>
          <p:cNvPr id="26" name="Text 24"/>
          <p:cNvSpPr/>
          <p:nvPr/>
        </p:nvSpPr>
        <p:spPr>
          <a:xfrm>
            <a:off x="4398264"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due diligence</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focus on contract retention</a:t>
            </a:r>
            <a:endParaRPr lang="en-US" sz="1100" dirty="0"/>
          </a:p>
        </p:txBody>
      </p:sp>
      <p:sp>
        <p:nvSpPr>
          <p:cNvPr id="27" name="Shape 25"/>
          <p:cNvSpPr/>
          <p:nvPr/>
        </p:nvSpPr>
        <p:spPr>
          <a:xfrm>
            <a:off x="8074152" y="1737360"/>
            <a:ext cx="3584448" cy="548640"/>
          </a:xfrm>
          <a:prstGeom prst="rect">
            <a:avLst/>
          </a:prstGeom>
          <a:solidFill>
            <a:srgbClr val="6DA3F9"/>
          </a:solidFill>
          <a:ln/>
        </p:spPr>
      </p:sp>
      <p:sp>
        <p:nvSpPr>
          <p:cNvPr id="28" name="Text 26"/>
          <p:cNvSpPr/>
          <p:nvPr/>
        </p:nvSpPr>
        <p:spPr>
          <a:xfrm>
            <a:off x="8202168"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Anchor</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61-100</a:t>
            </a:r>
            <a:endParaRPr lang="en-US" sz="1250" dirty="0"/>
          </a:p>
        </p:txBody>
      </p:sp>
      <p:sp>
        <p:nvSpPr>
          <p:cNvPr id="29" name="Shape 27"/>
          <p:cNvSpPr/>
          <p:nvPr/>
        </p:nvSpPr>
        <p:spPr>
          <a:xfrm>
            <a:off x="8074152" y="2414016"/>
            <a:ext cx="3584448" cy="1002792"/>
          </a:xfrm>
          <a:prstGeom prst="rect">
            <a:avLst/>
          </a:prstGeom>
          <a:solidFill>
            <a:srgbClr val="FFFFFF"/>
          </a:solidFill>
          <a:ln w="9525">
            <a:solidFill>
              <a:srgbClr val="CFCFCF"/>
            </a:solidFill>
            <a:prstDash val="solid"/>
          </a:ln>
        </p:spPr>
      </p:sp>
      <p:sp>
        <p:nvSpPr>
          <p:cNvPr id="30" name="Text 28"/>
          <p:cNvSpPr/>
          <p:nvPr/>
        </p:nvSpPr>
        <p:spPr>
          <a:xfrm>
            <a:off x="8183880"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signing</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closing targeted at M5</a:t>
            </a:r>
            <a:endParaRPr lang="en-US" sz="1100" dirty="0"/>
          </a:p>
        </p:txBody>
      </p:sp>
      <p:sp>
        <p:nvSpPr>
          <p:cNvPr id="31" name="Shape 29"/>
          <p:cNvSpPr/>
          <p:nvPr/>
        </p:nvSpPr>
        <p:spPr>
          <a:xfrm>
            <a:off x="8074152" y="3526536"/>
            <a:ext cx="3584448" cy="1002792"/>
          </a:xfrm>
          <a:prstGeom prst="rect">
            <a:avLst/>
          </a:prstGeom>
          <a:solidFill>
            <a:srgbClr val="FFFFFF"/>
          </a:solidFill>
          <a:ln w="9525">
            <a:solidFill>
              <a:srgbClr val="CFCFCF"/>
            </a:solidFill>
            <a:prstDash val="solid"/>
          </a:ln>
        </p:spPr>
      </p:sp>
      <p:sp>
        <p:nvSpPr>
          <p:cNvPr id="32" name="Text 30"/>
          <p:cNvSpPr/>
          <p:nvPr/>
        </p:nvSpPr>
        <p:spPr>
          <a:xfrm>
            <a:off x="8183880"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First 100 pilot contracts</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attach rate measured</a:t>
            </a:r>
            <a:endParaRPr lang="en-US" sz="1100" dirty="0"/>
          </a:p>
        </p:txBody>
      </p:sp>
      <p:sp>
        <p:nvSpPr>
          <p:cNvPr id="33" name="Shape 31"/>
          <p:cNvSpPr/>
          <p:nvPr/>
        </p:nvSpPr>
        <p:spPr>
          <a:xfrm>
            <a:off x="8074152" y="4639056"/>
            <a:ext cx="3584448" cy="1002792"/>
          </a:xfrm>
          <a:prstGeom prst="rect">
            <a:avLst/>
          </a:prstGeom>
          <a:solidFill>
            <a:srgbClr val="FFFFFF"/>
          </a:solidFill>
          <a:ln w="9525">
            <a:solidFill>
              <a:srgbClr val="CFCFCF"/>
            </a:solidFill>
            <a:prstDash val="solid"/>
          </a:ln>
        </p:spPr>
      </p:sp>
      <p:sp>
        <p:nvSpPr>
          <p:cNvPr id="34" name="Text 32"/>
          <p:cNvSpPr/>
          <p:nvPr/>
        </p:nvSpPr>
        <p:spPr>
          <a:xfrm>
            <a:off x="8183880"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Training plan launched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first cohort of 40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OPERATING MODEL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operating model is organized around installed-base data</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18</a:t>
            </a:r>
            <a:endParaRPr lang="en-US" sz="850" dirty="0"/>
          </a:p>
        </p:txBody>
      </p:sp>
      <p:sp>
        <p:nvSpPr>
          <p:cNvPr id="8" name="Shape 6"/>
          <p:cNvSpPr/>
          <p:nvPr/>
        </p:nvSpPr>
        <p:spPr>
          <a:xfrm>
            <a:off x="50292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Ambition</a:t>
            </a:r>
            <a:endParaRPr lang="en-US" sz="1200" dirty="0"/>
          </a:p>
        </p:txBody>
      </p:sp>
      <p:sp>
        <p:nvSpPr>
          <p:cNvPr id="10" name="Shape 8"/>
          <p:cNvSpPr/>
          <p:nvPr/>
        </p:nvSpPr>
        <p:spPr>
          <a:xfrm>
            <a:off x="630936" y="2139696"/>
            <a:ext cx="365760" cy="22860"/>
          </a:xfrm>
          <a:prstGeom prst="rect">
            <a:avLst/>
          </a:prstGeom>
          <a:solidFill>
            <a:srgbClr val="2E7CF6"/>
          </a:solidFill>
          <a:ln/>
        </p:spPr>
      </p:sp>
      <p:sp>
        <p:nvSpPr>
          <p:cNvPr id="11" name="Text 9"/>
          <p:cNvSpPr/>
          <p:nvPr/>
        </p:nvSpPr>
        <p:spPr>
          <a:xfrm>
            <a:off x="63093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35% services mix by 2029, 34% group margin, French leader in industrial predictive maintenance.</a:t>
            </a:r>
            <a:endParaRPr lang="en-US" sz="1050" dirty="0"/>
          </a:p>
        </p:txBody>
      </p:sp>
      <p:sp>
        <p:nvSpPr>
          <p:cNvPr id="12" name="Shape 10"/>
          <p:cNvSpPr/>
          <p:nvPr/>
        </p:nvSpPr>
        <p:spPr>
          <a:xfrm>
            <a:off x="428244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441045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Offer</a:t>
            </a:r>
            <a:endParaRPr lang="en-US" sz="1200" dirty="0"/>
          </a:p>
        </p:txBody>
      </p:sp>
      <p:sp>
        <p:nvSpPr>
          <p:cNvPr id="14" name="Shape 12"/>
          <p:cNvSpPr/>
          <p:nvPr/>
        </p:nvSpPr>
        <p:spPr>
          <a:xfrm>
            <a:off x="4410456" y="2139696"/>
            <a:ext cx="365760" cy="22860"/>
          </a:xfrm>
          <a:prstGeom prst="rect">
            <a:avLst/>
          </a:prstGeom>
          <a:solidFill>
            <a:srgbClr val="2E7CF6"/>
          </a:solidFill>
          <a:ln/>
        </p:spPr>
      </p:sp>
      <p:sp>
        <p:nvSpPr>
          <p:cNvPr id="15" name="Text 13"/>
          <p:cNvSpPr/>
          <p:nvPr/>
        </p:nvSpPr>
        <p:spPr>
          <a:xfrm>
            <a:off x="441045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Three tiers: standard contract, predictive premium, regulatory audit &amp; training.</a:t>
            </a:r>
            <a:endParaRPr lang="en-US" sz="1050" dirty="0"/>
          </a:p>
        </p:txBody>
      </p:sp>
      <p:sp>
        <p:nvSpPr>
          <p:cNvPr id="16" name="Shape 14"/>
          <p:cNvSpPr/>
          <p:nvPr/>
        </p:nvSpPr>
        <p:spPr>
          <a:xfrm>
            <a:off x="806196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818997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Sales</a:t>
            </a:r>
            <a:endParaRPr lang="en-US" sz="1200" dirty="0"/>
          </a:p>
        </p:txBody>
      </p:sp>
      <p:sp>
        <p:nvSpPr>
          <p:cNvPr id="18" name="Shape 16"/>
          <p:cNvSpPr/>
          <p:nvPr/>
        </p:nvSpPr>
        <p:spPr>
          <a:xfrm>
            <a:off x="8189976" y="2139696"/>
            <a:ext cx="365760" cy="22860"/>
          </a:xfrm>
          <a:prstGeom prst="rect">
            <a:avLst/>
          </a:prstGeom>
          <a:solidFill>
            <a:srgbClr val="2E7CF6"/>
          </a:solidFill>
          <a:ln/>
        </p:spPr>
      </p:sp>
      <p:sp>
        <p:nvSpPr>
          <p:cNvPr id="19" name="Text 17"/>
          <p:cNvSpPr/>
          <p:nvPr/>
        </p:nvSpPr>
        <p:spPr>
          <a:xfrm>
            <a:off x="818997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Dedicated installed-base force (24 people), compensation tied to attach and renewal.</a:t>
            </a:r>
            <a:endParaRPr lang="en-US" sz="1050" dirty="0"/>
          </a:p>
        </p:txBody>
      </p:sp>
      <p:sp>
        <p:nvSpPr>
          <p:cNvPr id="20" name="Shape 18"/>
          <p:cNvSpPr/>
          <p:nvPr/>
        </p:nvSpPr>
        <p:spPr>
          <a:xfrm>
            <a:off x="50292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63093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Operations</a:t>
            </a:r>
            <a:endParaRPr lang="en-US" sz="1200" dirty="0"/>
          </a:p>
        </p:txBody>
      </p:sp>
      <p:sp>
        <p:nvSpPr>
          <p:cNvPr id="22" name="Shape 20"/>
          <p:cNvSpPr/>
          <p:nvPr/>
        </p:nvSpPr>
        <p:spPr>
          <a:xfrm>
            <a:off x="630936" y="3739896"/>
            <a:ext cx="365760" cy="22860"/>
          </a:xfrm>
          <a:prstGeom prst="rect">
            <a:avLst/>
          </a:prstGeom>
          <a:solidFill>
            <a:srgbClr val="2E7CF6"/>
          </a:solidFill>
          <a:ln/>
        </p:spPr>
      </p:sp>
      <p:sp>
        <p:nvSpPr>
          <p:cNvPr id="23" name="Text 21"/>
          <p:cNvSpPr/>
          <p:nvPr/>
        </p:nvSpPr>
        <p:spPr>
          <a:xfrm>
            <a:off x="63093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Centralized intervention planning, forward stock in 12 regional hubs.</a:t>
            </a:r>
            <a:endParaRPr lang="en-US" sz="1050" dirty="0"/>
          </a:p>
        </p:txBody>
      </p:sp>
      <p:sp>
        <p:nvSpPr>
          <p:cNvPr id="24" name="SOGRAD~346FD1~154493~90"/>
          <p:cNvSpPr/>
          <p:nvPr/>
        </p:nvSpPr>
        <p:spPr>
          <a:xfrm>
            <a:off x="4282440" y="3337560"/>
            <a:ext cx="3596640" cy="1417320"/>
          </a:xfrm>
          <a:prstGeom prst="roundRect">
            <a:avLst>
              <a:gd name="adj" fmla="val 3871"/>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Text 23"/>
          <p:cNvSpPr/>
          <p:nvPr/>
        </p:nvSpPr>
        <p:spPr>
          <a:xfrm>
            <a:off x="4410456" y="3465576"/>
            <a:ext cx="3340608" cy="23774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Installed-base data</a:t>
            </a:r>
            <a:endParaRPr lang="en-US" sz="1200" dirty="0"/>
          </a:p>
        </p:txBody>
      </p:sp>
      <p:sp>
        <p:nvSpPr>
          <p:cNvPr id="26" name="Shape 24"/>
          <p:cNvSpPr/>
          <p:nvPr/>
        </p:nvSpPr>
        <p:spPr>
          <a:xfrm>
            <a:off x="4410456" y="3739896"/>
            <a:ext cx="365760" cy="22860"/>
          </a:xfrm>
          <a:prstGeom prst="rect">
            <a:avLst/>
          </a:prstGeom>
          <a:solidFill>
            <a:srgbClr val="5B9CFF"/>
          </a:solidFill>
          <a:ln/>
        </p:spPr>
      </p:sp>
      <p:sp>
        <p:nvSpPr>
          <p:cNvPr id="27" name="Text 25"/>
          <p:cNvSpPr/>
          <p:nvPr/>
        </p:nvSpPr>
        <p:spPr>
          <a:xfrm>
            <a:off x="441045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E2E8ED"/>
                </a:solidFill>
                <a:latin typeface="Arial" pitchFamily="34" charset="0"/>
                <a:ea typeface="Arial" pitchFamily="34" charset="-122"/>
                <a:cs typeface="Arial" pitchFamily="34" charset="-120"/>
              </a:rPr>
              <a:t>11 years of history, 6,800 connected sites: the engine of predictive maintenance and pricing.</a:t>
            </a:r>
            <a:endParaRPr lang="en-US" sz="1050" dirty="0"/>
          </a:p>
        </p:txBody>
      </p:sp>
      <p:sp>
        <p:nvSpPr>
          <p:cNvPr id="28" name="Shape 26"/>
          <p:cNvSpPr/>
          <p:nvPr/>
        </p:nvSpPr>
        <p:spPr>
          <a:xfrm>
            <a:off x="806196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Text 27"/>
          <p:cNvSpPr/>
          <p:nvPr/>
        </p:nvSpPr>
        <p:spPr>
          <a:xfrm>
            <a:off x="818997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Technology</a:t>
            </a:r>
            <a:endParaRPr lang="en-US" sz="1200" dirty="0"/>
          </a:p>
        </p:txBody>
      </p:sp>
      <p:sp>
        <p:nvSpPr>
          <p:cNvPr id="30" name="Shape 28"/>
          <p:cNvSpPr/>
          <p:nvPr/>
        </p:nvSpPr>
        <p:spPr>
          <a:xfrm>
            <a:off x="8189976" y="3739896"/>
            <a:ext cx="365760" cy="22860"/>
          </a:xfrm>
          <a:prstGeom prst="rect">
            <a:avLst/>
          </a:prstGeom>
          <a:solidFill>
            <a:srgbClr val="2E7CF6"/>
          </a:solidFill>
          <a:ln/>
        </p:spPr>
      </p:sp>
      <p:sp>
        <p:nvSpPr>
          <p:cNvPr id="31" name="Text 29"/>
          <p:cNvSpPr/>
          <p:nvPr/>
        </p:nvSpPr>
        <p:spPr>
          <a:xfrm>
            <a:off x="818997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Partner platform (JV), ERP integration in 3 waves, no heavy proprietary development.</a:t>
            </a:r>
            <a:endParaRPr lang="en-US" sz="1050" dirty="0"/>
          </a:p>
        </p:txBody>
      </p:sp>
      <p:sp>
        <p:nvSpPr>
          <p:cNvPr id="32" name="Shape 30"/>
          <p:cNvSpPr/>
          <p:nvPr/>
        </p:nvSpPr>
        <p:spPr>
          <a:xfrm>
            <a:off x="50292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Text 31"/>
          <p:cNvSpPr/>
          <p:nvPr/>
        </p:nvSpPr>
        <p:spPr>
          <a:xfrm>
            <a:off x="63093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Talent</a:t>
            </a:r>
            <a:endParaRPr lang="en-US" sz="1200" dirty="0"/>
          </a:p>
        </p:txBody>
      </p:sp>
      <p:sp>
        <p:nvSpPr>
          <p:cNvPr id="34" name="Shape 32"/>
          <p:cNvSpPr/>
          <p:nvPr/>
        </p:nvSpPr>
        <p:spPr>
          <a:xfrm>
            <a:off x="630936" y="5340096"/>
            <a:ext cx="365760" cy="22860"/>
          </a:xfrm>
          <a:prstGeom prst="rect">
            <a:avLst/>
          </a:prstGeom>
          <a:solidFill>
            <a:srgbClr val="2E7CF6"/>
          </a:solidFill>
          <a:ln/>
        </p:spPr>
      </p:sp>
      <p:sp>
        <p:nvSpPr>
          <p:cNvPr id="35" name="Text 33"/>
          <p:cNvSpPr/>
          <p:nvPr/>
        </p:nvSpPr>
        <p:spPr>
          <a:xfrm>
            <a:off x="63093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300 technicians trained in predictive maintenance, expert track created, certification bonus.</a:t>
            </a:r>
            <a:endParaRPr lang="en-US" sz="1050" dirty="0"/>
          </a:p>
        </p:txBody>
      </p:sp>
      <p:sp>
        <p:nvSpPr>
          <p:cNvPr id="36" name="Shape 34"/>
          <p:cNvSpPr/>
          <p:nvPr/>
        </p:nvSpPr>
        <p:spPr>
          <a:xfrm>
            <a:off x="428244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7" name="Text 35"/>
          <p:cNvSpPr/>
          <p:nvPr/>
        </p:nvSpPr>
        <p:spPr>
          <a:xfrm>
            <a:off x="441045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Governance</a:t>
            </a:r>
            <a:endParaRPr lang="en-US" sz="1200" dirty="0"/>
          </a:p>
        </p:txBody>
      </p:sp>
      <p:sp>
        <p:nvSpPr>
          <p:cNvPr id="38" name="Shape 36"/>
          <p:cNvSpPr/>
          <p:nvPr/>
        </p:nvSpPr>
        <p:spPr>
          <a:xfrm>
            <a:off x="4410456" y="5340096"/>
            <a:ext cx="365760" cy="22860"/>
          </a:xfrm>
          <a:prstGeom prst="rect">
            <a:avLst/>
          </a:prstGeom>
          <a:solidFill>
            <a:srgbClr val="2E7CF6"/>
          </a:solidFill>
          <a:ln/>
        </p:spPr>
      </p:sp>
      <p:sp>
        <p:nvSpPr>
          <p:cNvPr id="39" name="Text 37"/>
          <p:cNvSpPr/>
          <p:nvPr/>
        </p:nvSpPr>
        <p:spPr>
          <a:xfrm>
            <a:off x="441045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ExCo sponsor, monthly SteerCo, quarterly value review on 5 KPIs.</a:t>
            </a:r>
            <a:endParaRPr lang="en-US" sz="1050" dirty="0"/>
          </a:p>
        </p:txBody>
      </p:sp>
      <p:sp>
        <p:nvSpPr>
          <p:cNvPr id="40" name="Shape 38"/>
          <p:cNvSpPr/>
          <p:nvPr/>
        </p:nvSpPr>
        <p:spPr>
          <a:xfrm>
            <a:off x="806196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1" name="Text 39"/>
          <p:cNvSpPr/>
          <p:nvPr/>
        </p:nvSpPr>
        <p:spPr>
          <a:xfrm>
            <a:off x="818997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Performance</a:t>
            </a:r>
            <a:endParaRPr lang="en-US" sz="1200" dirty="0"/>
          </a:p>
        </p:txBody>
      </p:sp>
      <p:sp>
        <p:nvSpPr>
          <p:cNvPr id="42" name="Shape 40"/>
          <p:cNvSpPr/>
          <p:nvPr/>
        </p:nvSpPr>
        <p:spPr>
          <a:xfrm>
            <a:off x="8189976" y="5340096"/>
            <a:ext cx="365760" cy="22860"/>
          </a:xfrm>
          <a:prstGeom prst="rect">
            <a:avLst/>
          </a:prstGeom>
          <a:solidFill>
            <a:srgbClr val="2E7CF6"/>
          </a:solidFill>
          <a:ln/>
        </p:spPr>
      </p:sp>
      <p:sp>
        <p:nvSpPr>
          <p:cNvPr id="43" name="Text 41"/>
          <p:cNvSpPr/>
          <p:nvPr/>
        </p:nvSpPr>
        <p:spPr>
          <a:xfrm>
            <a:off x="818997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Attach rate, margin per contract, base uptime, NPS, parts capture.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CUSTOMER JOURNEY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journey engages the customer from installation, not after the first failure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Logic: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Each step of the journey feeds the data that makes the next step more profitable.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19</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55680" cy="914400"/>
        </p:xfrm>
        <a:graphic>
          <a:graphicData uri="http://schemas.openxmlformats.org/drawingml/2006/table">
            <a:tbl>
              <a:tblPr/>
              <a:tblGrid>
                <a:gridCol w="1784909"/>
                <a:gridCol w="2342693"/>
                <a:gridCol w="2342693"/>
                <a:gridCol w="2342693"/>
                <a:gridCol w="2342693"/>
              </a:tblGrid>
              <a:tr h="780898">
                <a:tc>
                  <a:txBody>
                    <a:bodyPr/>
                    <a:lstStyle/>
                    <a:p>
                      <a:pPr algn="l" indent="0" marL="0">
                        <a:buNone/>
                      </a:pP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Installation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Commissioning</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Operation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Renewal</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Customer</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Chooses the linked equipment + contract offer</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Activates connected monitoring with the technician</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Receives alerts and uptime reports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Renews based on the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Front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Sells the discount conditional on the 5-year contract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D+30 calibration visit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Annual on-site review with quantified results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Proposes the premium upgrade 6 months before term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Back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Registers the site and its alert thresholds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Connects the sensors to the platform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predictive interventions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Prepares the automated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Data &amp; systems</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Site created in the installed-base repository</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Sensor feed active, 30-day baseline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Predictive model: 90-day alerts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Versioned site health score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PROGRAM AT A GLANCE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One program, five moving parts, a single north-star metric</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20</a:t>
            </a:r>
            <a:endParaRPr lang="en-US" sz="850" dirty="0"/>
          </a:p>
        </p:txBody>
      </p:sp>
      <p:sp>
        <p:nvSpPr>
          <p:cNvPr id="8" name="Shape 6"/>
          <p:cNvSpPr/>
          <p:nvPr/>
        </p:nvSpPr>
        <p:spPr>
          <a:xfrm>
            <a:off x="502920" y="1737360"/>
            <a:ext cx="3956858" cy="4617720"/>
          </a:xfrm>
          <a:prstGeom prst="roundRect">
            <a:avLst>
              <a:gd name="adj" fmla="val 1387"/>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04088" y="1938528"/>
            <a:ext cx="3554522" cy="548640"/>
          </a:xfrm>
          <a:prstGeom prst="rect">
            <a:avLst/>
          </a:prstGeom>
          <a:noFill/>
          <a:ln/>
        </p:spPr>
        <p:txBody>
          <a:bodyPr wrap="square" lIns="0" tIns="0" rIns="0" bIns="0" rtlCol="0" anchor="t"/>
          <a:lstStyle/>
          <a:p>
            <a:pPr indent="0" marL="0">
              <a:lnSpc>
                <a:spcPct val="105000"/>
              </a:lnSpc>
              <a:buNone/>
            </a:pPr>
            <a:r>
              <a:rPr lang="en-US" sz="1600" b="1" dirty="0">
                <a:solidFill>
                  <a:srgbClr val="1D5FCC"/>
                </a:solidFill>
                <a:latin typeface="Arial" pitchFamily="34" charset="0"/>
                <a:ea typeface="Arial" pitchFamily="34" charset="-122"/>
                <a:cs typeface="Arial" pitchFamily="34" charset="-120"/>
              </a:rPr>
              <a:t>EUR 100M of annual revenue is capturable on the existing base</a:t>
            </a:r>
            <a:endParaRPr lang="en-US" sz="1600" dirty="0"/>
          </a:p>
        </p:txBody>
      </p:sp>
      <p:sp>
        <p:nvSpPr>
          <p:cNvPr id="10" name="Text 8"/>
          <p:cNvSpPr/>
          <p:nvPr/>
        </p:nvSpPr>
        <p:spPr>
          <a:xfrm>
            <a:off x="704088" y="2578608"/>
            <a:ext cx="3554522" cy="35753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Standard contracts, predictive premium, parts and training: four pockets, all built on assets already paid for. The north-star metric is the contract attach rate: the pilot measured 26% against a 14% break-even.</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Everything in this program either raises the attach rate or raises the value of an attached contract.</a:t>
            </a:r>
            <a:endParaRPr lang="en-US" sz="1200" dirty="0"/>
          </a:p>
        </p:txBody>
      </p:sp>
      <p:sp>
        <p:nvSpPr>
          <p:cNvPr id="11" name="Shape 9"/>
          <p:cNvSpPr/>
          <p:nvPr/>
        </p:nvSpPr>
        <p:spPr>
          <a:xfrm>
            <a:off x="4734098"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862114"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Pilot</a:t>
            </a:r>
            <a:endParaRPr lang="en-US" sz="1250" dirty="0"/>
          </a:p>
        </p:txBody>
      </p:sp>
      <p:sp>
        <p:nvSpPr>
          <p:cNvPr id="13" name="Text 11"/>
          <p:cNvSpPr/>
          <p:nvPr/>
        </p:nvSpPr>
        <p:spPr>
          <a:xfrm>
            <a:off x="7016773"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26%</a:t>
            </a:r>
            <a:endParaRPr lang="en-US" sz="1600" dirty="0"/>
          </a:p>
        </p:txBody>
      </p:sp>
      <p:sp>
        <p:nvSpPr>
          <p:cNvPr id="14" name="Text 12"/>
          <p:cNvSpPr/>
          <p:nvPr/>
        </p:nvSpPr>
        <p:spPr>
          <a:xfrm>
            <a:off x="4862114"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412 sites equipped in the North region.</a:t>
            </a:r>
            <a:endParaRPr lang="en-US" sz="1200" dirty="0"/>
          </a:p>
        </p:txBody>
      </p:sp>
      <p:sp>
        <p:nvSpPr>
          <p:cNvPr id="15" name="Shape 13"/>
          <p:cNvSpPr/>
          <p:nvPr/>
        </p:nvSpPr>
        <p:spPr>
          <a:xfrm>
            <a:off x="8287789"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8415805"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M&amp;A</a:t>
            </a:r>
            <a:endParaRPr lang="en-US" sz="1250" dirty="0"/>
          </a:p>
        </p:txBody>
      </p:sp>
      <p:sp>
        <p:nvSpPr>
          <p:cNvPr id="17" name="Text 15"/>
          <p:cNvSpPr/>
          <p:nvPr/>
        </p:nvSpPr>
        <p:spPr>
          <a:xfrm>
            <a:off x="10570464"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9.5x</a:t>
            </a:r>
            <a:endParaRPr lang="en-US" sz="1600" dirty="0"/>
          </a:p>
        </p:txBody>
      </p:sp>
      <p:sp>
        <p:nvSpPr>
          <p:cNvPr id="18" name="Text 16"/>
          <p:cNvSpPr/>
          <p:nvPr/>
        </p:nvSpPr>
        <p:spPr>
          <a:xfrm>
            <a:off x="8415805"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2,100 contracts, 60 technicians.</a:t>
            </a:r>
            <a:endParaRPr lang="en-US" sz="1200" dirty="0"/>
          </a:p>
        </p:txBody>
      </p:sp>
      <p:sp>
        <p:nvSpPr>
          <p:cNvPr id="19" name="Shape 17"/>
          <p:cNvSpPr/>
          <p:nvPr/>
        </p:nvSpPr>
        <p:spPr>
          <a:xfrm>
            <a:off x="4734098"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Text 18"/>
          <p:cNvSpPr/>
          <p:nvPr/>
        </p:nvSpPr>
        <p:spPr>
          <a:xfrm>
            <a:off x="4862114"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People</a:t>
            </a:r>
            <a:endParaRPr lang="en-US" sz="1250" dirty="0"/>
          </a:p>
        </p:txBody>
      </p:sp>
      <p:sp>
        <p:nvSpPr>
          <p:cNvPr id="21" name="Text 19"/>
          <p:cNvSpPr/>
          <p:nvPr/>
        </p:nvSpPr>
        <p:spPr>
          <a:xfrm>
            <a:off x="7016773"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300</a:t>
            </a:r>
            <a:endParaRPr lang="en-US" sz="1600" dirty="0"/>
          </a:p>
        </p:txBody>
      </p:sp>
      <p:sp>
        <p:nvSpPr>
          <p:cNvPr id="22" name="Text 20"/>
          <p:cNvSpPr/>
          <p:nvPr/>
        </p:nvSpPr>
        <p:spPr>
          <a:xfrm>
            <a:off x="4862114"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Predictive-maintenance training track.</a:t>
            </a:r>
            <a:endParaRPr lang="en-US" sz="1200" dirty="0"/>
          </a:p>
        </p:txBody>
      </p:sp>
      <p:sp>
        <p:nvSpPr>
          <p:cNvPr id="23" name="Shape 21"/>
          <p:cNvSpPr/>
          <p:nvPr/>
        </p:nvSpPr>
        <p:spPr>
          <a:xfrm>
            <a:off x="8287789"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4" name="Text 22"/>
          <p:cNvSpPr/>
          <p:nvPr/>
        </p:nvSpPr>
        <p:spPr>
          <a:xfrm>
            <a:off x="8415805"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Platform</a:t>
            </a:r>
            <a:endParaRPr lang="en-US" sz="1250" dirty="0"/>
          </a:p>
        </p:txBody>
      </p:sp>
      <p:sp>
        <p:nvSpPr>
          <p:cNvPr id="25" name="Text 23"/>
          <p:cNvSpPr/>
          <p:nvPr/>
        </p:nvSpPr>
        <p:spPr>
          <a:xfrm>
            <a:off x="10570464"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12 mo</a:t>
            </a:r>
            <a:endParaRPr lang="en-US" sz="1600" dirty="0"/>
          </a:p>
        </p:txBody>
      </p:sp>
      <p:sp>
        <p:nvSpPr>
          <p:cNvPr id="26" name="Text 24"/>
          <p:cNvSpPr/>
          <p:nvPr/>
        </p:nvSpPr>
        <p:spPr>
          <a:xfrm>
            <a:off x="8415805"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Partner JV, ERP integration in 3 waves.</a:t>
            </a:r>
            <a:endParaRPr lang="en-US" sz="1200" dirty="0"/>
          </a:p>
        </p:txBody>
      </p:sp>
      <p:sp>
        <p:nvSpPr>
          <p:cNvPr id="27" name="Shape 25"/>
          <p:cNvSpPr/>
          <p:nvPr/>
        </p:nvSpPr>
        <p:spPr>
          <a:xfrm>
            <a:off x="4734098" y="4937760"/>
            <a:ext cx="692450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Text 26"/>
          <p:cNvSpPr/>
          <p:nvPr/>
        </p:nvSpPr>
        <p:spPr>
          <a:xfrm>
            <a:off x="4862114" y="5065776"/>
            <a:ext cx="5662630"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Finance</a:t>
            </a:r>
            <a:endParaRPr lang="en-US" sz="1250" dirty="0"/>
          </a:p>
        </p:txBody>
      </p:sp>
      <p:sp>
        <p:nvSpPr>
          <p:cNvPr id="29" name="Text 27"/>
          <p:cNvSpPr/>
          <p:nvPr/>
        </p:nvSpPr>
        <p:spPr>
          <a:xfrm>
            <a:off x="10570464" y="50292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152</a:t>
            </a:r>
            <a:endParaRPr lang="en-US" sz="1600" dirty="0"/>
          </a:p>
        </p:txBody>
      </p:sp>
      <p:sp>
        <p:nvSpPr>
          <p:cNvPr id="30" name="Text 28"/>
          <p:cNvSpPr/>
          <p:nvPr/>
        </p:nvSpPr>
        <p:spPr>
          <a:xfrm>
            <a:off x="4862114" y="5394960"/>
            <a:ext cx="6668470"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EBITDA doubles in the base case.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2468880"/>
            <a:ext cx="5486400" cy="365760"/>
          </a:xfrm>
          <a:prstGeom prst="rect">
            <a:avLst/>
          </a:prstGeom>
          <a:noFill/>
          <a:ln/>
        </p:spPr>
        <p:txBody>
          <a:bodyPr wrap="square" lIns="0" tIns="0" rIns="0" bIns="0" rtlCol="0" anchor="ctr"/>
          <a:lstStyle/>
          <a:p>
            <a:pPr indent="0" marL="0">
              <a:buNone/>
            </a:pPr>
            <a:r>
              <a:rPr lang="en-US" sz="1300" b="1" spc="300" kern="0" dirty="0">
                <a:solidFill>
                  <a:srgbClr val="5B9CFF"/>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749808" y="2880360"/>
            <a:ext cx="10607040" cy="1097280"/>
          </a:xfrm>
          <a:prstGeom prst="rect">
            <a:avLst/>
          </a:prstGeom>
          <a:noFill/>
          <a:ln/>
        </p:spPr>
        <p:txBody>
          <a:bodyPr wrap="square" lIns="0" tIns="0" rIns="0" bIns="0" rtlCol="0" anchor="ctr"/>
          <a:lstStyle/>
          <a:p>
            <a:pPr indent="0" marL="0">
              <a:lnSpc>
                <a:spcPct val="100000"/>
              </a:lnSpc>
              <a:buNone/>
            </a:pPr>
            <a:r>
              <a:rPr lang="en-US" sz="3600" b="1" dirty="0">
                <a:solidFill>
                  <a:srgbClr val="F2F4F2"/>
                </a:solidFill>
                <a:latin typeface="Arial" pitchFamily="34" charset="0"/>
                <a:ea typeface="Arial" pitchFamily="34" charset="-122"/>
                <a:cs typeface="Arial" pitchFamily="34" charset="-120"/>
              </a:rPr>
              <a:t>Exhibit gallery</a:t>
            </a:r>
            <a:endParaRPr lang="en-US" sz="3600" dirty="0"/>
          </a:p>
        </p:txBody>
      </p:sp>
      <p:sp>
        <p:nvSpPr>
          <p:cNvPr id="4" name="Shape 2"/>
          <p:cNvSpPr/>
          <p:nvPr/>
        </p:nvSpPr>
        <p:spPr>
          <a:xfrm>
            <a:off x="777240" y="4023360"/>
            <a:ext cx="1828800" cy="45720"/>
          </a:xfrm>
          <a:prstGeom prst="rect">
            <a:avLst/>
          </a:prstGeom>
          <a:solidFill>
            <a:srgbClr val="5B9CFF"/>
          </a:solidFill>
          <a:ln/>
        </p:spPr>
      </p:sp>
      <p:sp>
        <p:nvSpPr>
          <p:cNvPr id="5" name="Text 3"/>
          <p:cNvSpPr/>
          <p:nvPr/>
        </p:nvSpPr>
        <p:spPr>
          <a:xfrm>
            <a:off x="777240" y="4251960"/>
            <a:ext cx="9601200" cy="914400"/>
          </a:xfrm>
          <a:prstGeom prst="rect">
            <a:avLst/>
          </a:prstGeom>
          <a:noFill/>
          <a:ln/>
        </p:spPr>
        <p:txBody>
          <a:bodyPr wrap="square" lIns="0" tIns="0" rIns="0" bIns="0" rtlCol="0" anchor="ctr"/>
          <a:lstStyle/>
          <a:p>
            <a:pPr indent="0" marL="0">
              <a:lnSpc>
                <a:spcPct val="120000"/>
              </a:lnSpc>
              <a:buNone/>
            </a:pPr>
            <a:r>
              <a:rPr lang="en-US" sz="1500" dirty="0">
                <a:solidFill>
                  <a:srgbClr val="9AA6B2"/>
                </a:solidFill>
                <a:latin typeface="Arial" pitchFamily="34" charset="0"/>
                <a:ea typeface="Arial" pitchFamily="34" charset="-122"/>
                <a:cs typeface="Arial" pitchFamily="34" charset="-120"/>
              </a:rPr>
              <a:t>The same case, told through every exhibit family of the kit: native charts, SVG exhibits, craft primitives, dark KPI strip.</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Standard contracts hold the largest capturable pocket, and Meridio outscores rivals on every capability but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Doughnut (share of a whole) and radar (multi-criteria profile), both native pptxgenjs charts.</a:t>
            </a:r>
            <a:endParaRPr lang="en-US" sz="1350" dirty="0"/>
          </a:p>
        </p:txBody>
      </p:sp>
      <p:sp>
        <p:nvSpPr>
          <p:cNvPr id="6" name="Text 4"/>
          <p:cNvSpPr/>
          <p:nvPr/>
        </p:nvSpPr>
        <p:spPr>
          <a:xfrm>
            <a:off x="502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Capturable revenue by pocket, EUR M/yr</a:t>
            </a:r>
            <a:endParaRPr lang="en-US" sz="1000" dirty="0"/>
          </a:p>
        </p:txBody>
      </p:sp>
      <p:graphicFrame>
        <p:nvGraphicFramePr>
          <p:cNvPr id="7" name="Chart 0" descr=""/>
          <p:cNvGraphicFramePr/>
          <p:nvPr/>
        </p:nvGraphicFramePr>
        <p:xfrm>
          <a:off x="502920" y="2331720"/>
          <a:ext cx="5166360"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217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Capability profile vs best competitor, 0-5 scale</a:t>
            </a:r>
            <a:endParaRPr lang="en-US" sz="1000" dirty="0"/>
          </a:p>
        </p:txBody>
      </p:sp>
      <p:graphicFrame>
        <p:nvGraphicFramePr>
          <p:cNvPr id="9" name="Chart 1" descr=""/>
          <p:cNvGraphicFramePr/>
          <p:nvPr/>
        </p:nvGraphicFramePr>
        <p:xfrm>
          <a:off x="6217920" y="2331720"/>
          <a:ext cx="5257800" cy="3127248"/>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Revenue grows moderately while the services mix does the heavy lifting, and no rival combines coverage with digital reach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Combo chart (two magnitudes, secondary axis) and positioning map (named quadrants, named points).</a:t>
            </a:r>
            <a:endParaRPr lang="en-US" sz="1350" dirty="0"/>
          </a:p>
        </p:txBody>
      </p:sp>
      <p:sp>
        <p:nvSpPr>
          <p:cNvPr id="6" name="Text 4"/>
          <p:cNvSpPr/>
          <p:nvPr/>
        </p:nvSpPr>
        <p:spPr>
          <a:xfrm>
            <a:off x="502920" y="1993392"/>
            <a:ext cx="5820262"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Revenue (EUR M, bars) and services mix (%, line), 2025-2029E</a:t>
            </a:r>
            <a:endParaRPr lang="en-US" sz="1000" dirty="0"/>
          </a:p>
        </p:txBody>
      </p:sp>
      <p:graphicFrame>
        <p:nvGraphicFramePr>
          <p:cNvPr id="7" name="Chart 0" descr=""/>
          <p:cNvGraphicFramePr/>
          <p:nvPr/>
        </p:nvGraphicFramePr>
        <p:xfrm>
          <a:off x="502920" y="2331720"/>
          <a:ext cx="5591662"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597502" y="1993392"/>
            <a:ext cx="506109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Competitive positioning, 2026</a:t>
            </a:r>
            <a:endParaRPr lang="en-US" sz="1000" dirty="0"/>
          </a:p>
        </p:txBody>
      </p:sp>
      <p:sp>
        <p:nvSpPr>
          <p:cNvPr id="9" name="Shape 6"/>
          <p:cNvSpPr/>
          <p:nvPr/>
        </p:nvSpPr>
        <p:spPr>
          <a:xfrm>
            <a:off x="7054702" y="2377440"/>
            <a:ext cx="4466738" cy="2624328"/>
          </a:xfrm>
          <a:prstGeom prst="rect">
            <a:avLst/>
          </a:prstGeom>
          <a:solidFill>
            <a:srgbClr val="FBFCFD"/>
          </a:solidFill>
          <a:ln w="12700">
            <a:solidFill>
              <a:srgbClr val="CFCFCF"/>
            </a:solidFill>
            <a:prstDash val="solid"/>
          </a:ln>
        </p:spPr>
      </p:sp>
      <p:sp>
        <p:nvSpPr>
          <p:cNvPr id="10" name="Shape 7"/>
          <p:cNvSpPr/>
          <p:nvPr/>
        </p:nvSpPr>
        <p:spPr>
          <a:xfrm>
            <a:off x="9288071" y="2377440"/>
            <a:ext cx="0" cy="2624328"/>
          </a:xfrm>
          <a:prstGeom prst="line">
            <a:avLst/>
          </a:prstGeom>
          <a:noFill/>
          <a:ln w="9525">
            <a:solidFill>
              <a:srgbClr val="CFCFCF"/>
            </a:solidFill>
            <a:prstDash val="dash"/>
          </a:ln>
        </p:spPr>
      </p:sp>
      <p:sp>
        <p:nvSpPr>
          <p:cNvPr id="11" name="Shape 8"/>
          <p:cNvSpPr/>
          <p:nvPr/>
        </p:nvSpPr>
        <p:spPr>
          <a:xfrm>
            <a:off x="7054702" y="3689604"/>
            <a:ext cx="4466738" cy="0"/>
          </a:xfrm>
          <a:prstGeom prst="line">
            <a:avLst/>
          </a:prstGeom>
          <a:noFill/>
          <a:ln w="9525">
            <a:solidFill>
              <a:srgbClr val="CFCFCF"/>
            </a:solidFill>
            <a:prstDash val="dash"/>
          </a:ln>
        </p:spPr>
      </p:sp>
      <p:sp>
        <p:nvSpPr>
          <p:cNvPr id="12" name="Text 9"/>
          <p:cNvSpPr/>
          <p:nvPr/>
        </p:nvSpPr>
        <p:spPr>
          <a:xfrm>
            <a:off x="7146142"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Local champions</a:t>
            </a:r>
            <a:endParaRPr lang="en-US" sz="900" dirty="0"/>
          </a:p>
        </p:txBody>
      </p:sp>
      <p:sp>
        <p:nvSpPr>
          <p:cNvPr id="13" name="Text 10"/>
          <p:cNvSpPr/>
          <p:nvPr/>
        </p:nvSpPr>
        <p:spPr>
          <a:xfrm>
            <a:off x="9288071"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Winners</a:t>
            </a:r>
            <a:endParaRPr lang="en-US" sz="900" dirty="0"/>
          </a:p>
        </p:txBody>
      </p:sp>
      <p:sp>
        <p:nvSpPr>
          <p:cNvPr id="14" name="Text 11"/>
          <p:cNvSpPr/>
          <p:nvPr/>
        </p:nvSpPr>
        <p:spPr>
          <a:xfrm>
            <a:off x="7146142"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Niche players</a:t>
            </a:r>
            <a:endParaRPr lang="en-US" sz="900" dirty="0"/>
          </a:p>
        </p:txBody>
      </p:sp>
      <p:sp>
        <p:nvSpPr>
          <p:cNvPr id="15" name="Text 12"/>
          <p:cNvSpPr/>
          <p:nvPr/>
        </p:nvSpPr>
        <p:spPr>
          <a:xfrm>
            <a:off x="9288071"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Digital attackers</a:t>
            </a:r>
            <a:endParaRPr lang="en-US" sz="900" dirty="0"/>
          </a:p>
        </p:txBody>
      </p:sp>
      <p:sp>
        <p:nvSpPr>
          <p:cNvPr id="16" name="Text 13"/>
          <p:cNvSpPr/>
          <p:nvPr/>
        </p:nvSpPr>
        <p:spPr>
          <a:xfrm>
            <a:off x="7054702" y="5056632"/>
            <a:ext cx="446673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Digital &amp; predictive capability</a:t>
            </a:r>
            <a:endParaRPr lang="en-US" sz="1000" dirty="0"/>
          </a:p>
        </p:txBody>
      </p:sp>
      <p:sp>
        <p:nvSpPr>
          <p:cNvPr id="17" name="Text 14"/>
          <p:cNvSpPr/>
          <p:nvPr/>
        </p:nvSpPr>
        <p:spPr>
          <a:xfrm rot="16200000">
            <a:off x="5449930" y="3552444"/>
            <a:ext cx="262432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Field coverage</a:t>
            </a:r>
            <a:endParaRPr lang="en-US" sz="1000" dirty="0"/>
          </a:p>
        </p:txBody>
      </p:sp>
      <p:sp>
        <p:nvSpPr>
          <p:cNvPr id="18" name="Shape 15"/>
          <p:cNvSpPr/>
          <p:nvPr/>
        </p:nvSpPr>
        <p:spPr>
          <a:xfrm>
            <a:off x="9643305" y="2915839"/>
            <a:ext cx="182880" cy="182880"/>
          </a:xfrm>
          <a:prstGeom prst="ellipse">
            <a:avLst/>
          </a:prstGeom>
          <a:solidFill>
            <a:srgbClr val="2E7CF6"/>
          </a:solidFill>
          <a:ln w="12700">
            <a:solidFill>
              <a:srgbClr val="1D5FCC"/>
            </a:solidFill>
            <a:prstDash val="solid"/>
          </a:ln>
        </p:spPr>
      </p:sp>
      <p:sp>
        <p:nvSpPr>
          <p:cNvPr id="19" name="Text 16"/>
          <p:cNvSpPr/>
          <p:nvPr/>
        </p:nvSpPr>
        <p:spPr>
          <a:xfrm>
            <a:off x="9862761" y="2879263"/>
            <a:ext cx="1463040" cy="219456"/>
          </a:xfrm>
          <a:prstGeom prst="rect">
            <a:avLst/>
          </a:prstGeom>
          <a:noFill/>
          <a:ln/>
        </p:spPr>
        <p:txBody>
          <a:bodyPr wrap="square" lIns="0" tIns="0" rIns="0" bIns="0" rtlCol="0" anchor="ctr"/>
          <a:lstStyle/>
          <a:p>
            <a:pPr indent="0" marL="0">
              <a:buNone/>
            </a:pPr>
            <a:r>
              <a:rPr lang="en-US" sz="950" b="1" dirty="0">
                <a:solidFill>
                  <a:srgbClr val="1D5FCC"/>
                </a:solidFill>
                <a:latin typeface="Arial" pitchFamily="34" charset="0"/>
                <a:ea typeface="Arial" pitchFamily="34" charset="-122"/>
                <a:cs typeface="Arial" pitchFamily="34" charset="-120"/>
              </a:rPr>
              <a:t>Meridio</a:t>
            </a:r>
            <a:endParaRPr lang="en-US" sz="950" dirty="0"/>
          </a:p>
        </p:txBody>
      </p:sp>
      <p:sp>
        <p:nvSpPr>
          <p:cNvPr id="20" name="Shape 17"/>
          <p:cNvSpPr/>
          <p:nvPr/>
        </p:nvSpPr>
        <p:spPr>
          <a:xfrm>
            <a:off x="7767275" y="3283245"/>
            <a:ext cx="182880" cy="182880"/>
          </a:xfrm>
          <a:prstGeom prst="ellipse">
            <a:avLst/>
          </a:prstGeom>
          <a:solidFill>
            <a:srgbClr val="8CB7FA"/>
          </a:solidFill>
          <a:ln w="12700">
            <a:solidFill>
              <a:srgbClr val="2E7CF6"/>
            </a:solidFill>
            <a:prstDash val="solid"/>
          </a:ln>
        </p:spPr>
      </p:sp>
      <p:sp>
        <p:nvSpPr>
          <p:cNvPr id="21" name="Text 18"/>
          <p:cNvSpPr/>
          <p:nvPr/>
        </p:nvSpPr>
        <p:spPr>
          <a:xfrm>
            <a:off x="7986731" y="3246669"/>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Indep. networks</a:t>
            </a:r>
            <a:endParaRPr lang="en-US" sz="950" dirty="0"/>
          </a:p>
        </p:txBody>
      </p:sp>
      <p:sp>
        <p:nvSpPr>
          <p:cNvPr id="22" name="Shape 19"/>
          <p:cNvSpPr/>
          <p:nvPr/>
        </p:nvSpPr>
        <p:spPr>
          <a:xfrm>
            <a:off x="9419968" y="3913083"/>
            <a:ext cx="182880" cy="182880"/>
          </a:xfrm>
          <a:prstGeom prst="ellipse">
            <a:avLst/>
          </a:prstGeom>
          <a:solidFill>
            <a:srgbClr val="8CB7FA"/>
          </a:solidFill>
          <a:ln w="12700">
            <a:solidFill>
              <a:srgbClr val="2E7CF6"/>
            </a:solidFill>
            <a:prstDash val="solid"/>
          </a:ln>
        </p:spPr>
      </p:sp>
      <p:sp>
        <p:nvSpPr>
          <p:cNvPr id="23" name="Text 20"/>
          <p:cNvSpPr/>
          <p:nvPr/>
        </p:nvSpPr>
        <p:spPr>
          <a:xfrm>
            <a:off x="9639424" y="3876507"/>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Techniparc</a:t>
            </a:r>
            <a:endParaRPr lang="en-US" sz="950" dirty="0"/>
          </a:p>
        </p:txBody>
      </p:sp>
      <p:sp>
        <p:nvSpPr>
          <p:cNvPr id="24" name="Shape 21"/>
          <p:cNvSpPr/>
          <p:nvPr/>
        </p:nvSpPr>
        <p:spPr>
          <a:xfrm>
            <a:off x="10625987" y="4332976"/>
            <a:ext cx="182880" cy="182880"/>
          </a:xfrm>
          <a:prstGeom prst="ellipse">
            <a:avLst/>
          </a:prstGeom>
          <a:solidFill>
            <a:srgbClr val="8CB7FA"/>
          </a:solidFill>
          <a:ln w="12700">
            <a:solidFill>
              <a:srgbClr val="2E7CF6"/>
            </a:solidFill>
            <a:prstDash val="solid"/>
          </a:ln>
        </p:spPr>
      </p:sp>
      <p:sp>
        <p:nvSpPr>
          <p:cNvPr id="25" name="Text 22"/>
          <p:cNvSpPr/>
          <p:nvPr/>
        </p:nvSpPr>
        <p:spPr>
          <a:xfrm>
            <a:off x="10845443" y="4296400"/>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IoT entrants</a:t>
            </a:r>
            <a:endParaRPr lang="en-US" sz="950" dirty="0"/>
          </a:p>
        </p:txBody>
      </p:sp>
      <p:sp>
        <p:nvSpPr>
          <p:cNvPr id="26" name="Text 2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7" name="Text 2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COMPARISONS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Group margin gains six points by 2029, driven by three operational shifts on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Slope chart (two periods) and dumbbell (today vs target) — native shapes, every dot and label stays editable.</a:t>
            </a:r>
            <a:endParaRPr lang="en-US" sz="1350" dirty="0"/>
          </a:p>
        </p:txBody>
      </p:sp>
      <p:sp>
        <p:nvSpPr>
          <p:cNvPr id="6" name="Text 4"/>
          <p:cNvSpPr/>
          <p:nvPr/>
        </p:nvSpPr>
        <p:spPr>
          <a:xfrm>
            <a:off x="502920" y="1993392"/>
            <a:ext cx="518160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Margin by segment, %, 2025 vs 2029E</a:t>
            </a:r>
            <a:endParaRPr lang="en-US" sz="1000" dirty="0"/>
          </a:p>
        </p:txBody>
      </p:sp>
      <p:sp>
        <p:nvSpPr>
          <p:cNvPr id="7" name="Text 5"/>
          <p:cNvSpPr/>
          <p:nvPr/>
        </p:nvSpPr>
        <p:spPr>
          <a:xfrm>
            <a:off x="1188720" y="2377440"/>
            <a:ext cx="1463040" cy="27432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2025</a:t>
            </a:r>
            <a:endParaRPr lang="en-US" sz="1300" dirty="0"/>
          </a:p>
        </p:txBody>
      </p:sp>
      <p:sp>
        <p:nvSpPr>
          <p:cNvPr id="8" name="Text 6"/>
          <p:cNvSpPr/>
          <p:nvPr/>
        </p:nvSpPr>
        <p:spPr>
          <a:xfrm>
            <a:off x="3352800" y="2377440"/>
            <a:ext cx="1463040" cy="27432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2029E</a:t>
            </a:r>
            <a:endParaRPr lang="en-US" sz="1300" dirty="0"/>
          </a:p>
        </p:txBody>
      </p:sp>
      <p:sp>
        <p:nvSpPr>
          <p:cNvPr id="9" name="Shape 7"/>
          <p:cNvSpPr/>
          <p:nvPr/>
        </p:nvSpPr>
        <p:spPr>
          <a:xfrm>
            <a:off x="1920240" y="2779776"/>
            <a:ext cx="0" cy="2505456"/>
          </a:xfrm>
          <a:prstGeom prst="line">
            <a:avLst/>
          </a:prstGeom>
          <a:noFill/>
          <a:ln w="19050">
            <a:solidFill>
              <a:srgbClr val="E4E8ED"/>
            </a:solidFill>
            <a:prstDash val="solid"/>
          </a:ln>
        </p:spPr>
      </p:sp>
      <p:sp>
        <p:nvSpPr>
          <p:cNvPr id="10" name="Shape 8"/>
          <p:cNvSpPr/>
          <p:nvPr/>
        </p:nvSpPr>
        <p:spPr>
          <a:xfrm>
            <a:off x="4084320" y="2779776"/>
            <a:ext cx="0" cy="2505456"/>
          </a:xfrm>
          <a:prstGeom prst="line">
            <a:avLst/>
          </a:prstGeom>
          <a:noFill/>
          <a:ln w="19050">
            <a:solidFill>
              <a:srgbClr val="E4E8ED"/>
            </a:solidFill>
            <a:prstDash val="solid"/>
          </a:ln>
        </p:spPr>
      </p:sp>
      <p:sp>
        <p:nvSpPr>
          <p:cNvPr id="11" name="Shape 9"/>
          <p:cNvSpPr/>
          <p:nvPr/>
        </p:nvSpPr>
        <p:spPr>
          <a:xfrm flipV="1">
            <a:off x="1920240" y="2834640"/>
            <a:ext cx="2164080" cy="165223"/>
          </a:xfrm>
          <a:prstGeom prst="line">
            <a:avLst/>
          </a:prstGeom>
          <a:noFill/>
          <a:ln w="22225">
            <a:solidFill>
              <a:srgbClr val="C2CAD3"/>
            </a:solidFill>
            <a:prstDash val="solid"/>
          </a:ln>
        </p:spPr>
      </p:sp>
      <p:sp>
        <p:nvSpPr>
          <p:cNvPr id="12" name="Shape 10"/>
          <p:cNvSpPr/>
          <p:nvPr/>
        </p:nvSpPr>
        <p:spPr>
          <a:xfrm>
            <a:off x="1874520" y="2954143"/>
            <a:ext cx="91440" cy="91440"/>
          </a:xfrm>
          <a:prstGeom prst="ellipse">
            <a:avLst/>
          </a:prstGeom>
          <a:solidFill>
            <a:srgbClr val="C2CAD3"/>
          </a:solidFill>
          <a:ln/>
        </p:spPr>
      </p:sp>
      <p:sp>
        <p:nvSpPr>
          <p:cNvPr id="13" name="Shape 11"/>
          <p:cNvSpPr/>
          <p:nvPr/>
        </p:nvSpPr>
        <p:spPr>
          <a:xfrm>
            <a:off x="4038600" y="2788920"/>
            <a:ext cx="91440" cy="91440"/>
          </a:xfrm>
          <a:prstGeom prst="ellipse">
            <a:avLst/>
          </a:prstGeom>
          <a:solidFill>
            <a:srgbClr val="C2CAD3"/>
          </a:solidFill>
          <a:ln/>
        </p:spPr>
      </p:sp>
      <p:sp>
        <p:nvSpPr>
          <p:cNvPr id="14" name="Text 12"/>
          <p:cNvSpPr/>
          <p:nvPr/>
        </p:nvSpPr>
        <p:spPr>
          <a:xfrm>
            <a:off x="438912" y="2890135"/>
            <a:ext cx="1371600" cy="237744"/>
          </a:xfrm>
          <a:prstGeom prst="rect">
            <a:avLst/>
          </a:prstGeom>
          <a:noFill/>
          <a:ln/>
        </p:spPr>
        <p:txBody>
          <a:bodyPr wrap="square" lIns="0" tIns="0" rIns="0" bIns="0" rtlCol="0" anchor="ctr"/>
          <a:lstStyle/>
          <a:p>
            <a:pPr algn="r" indent="0" marL="0">
              <a:buNone/>
            </a:pPr>
            <a:r>
              <a:rPr lang="en-US" sz="1050" dirty="0">
                <a:solidFill>
                  <a:srgbClr val="595959"/>
                </a:solidFill>
                <a:latin typeface="Arial" pitchFamily="34" charset="0"/>
                <a:ea typeface="Arial" pitchFamily="34" charset="-122"/>
                <a:cs typeface="Arial" pitchFamily="34" charset="-120"/>
              </a:rPr>
              <a:t>Services  46</a:t>
            </a:r>
            <a:endParaRPr lang="en-US" sz="1050" dirty="0"/>
          </a:p>
        </p:txBody>
      </p:sp>
      <p:sp>
        <p:nvSpPr>
          <p:cNvPr id="15" name="Text 13"/>
          <p:cNvSpPr/>
          <p:nvPr/>
        </p:nvSpPr>
        <p:spPr>
          <a:xfrm>
            <a:off x="4194048" y="2724912"/>
            <a:ext cx="1371600" cy="237744"/>
          </a:xfrm>
          <a:prstGeom prst="rect">
            <a:avLst/>
          </a:prstGeom>
          <a:noFill/>
          <a:ln/>
        </p:spPr>
        <p:txBody>
          <a:bodyPr wrap="square" lIns="0" tIns="0" rIns="0" bIns="0" rtlCol="0" anchor="ctr"/>
          <a:lstStyle/>
          <a:p>
            <a:pPr algn="l" indent="0" marL="0">
              <a:buNone/>
            </a:pPr>
            <a:r>
              <a:rPr lang="en-US" sz="1050" dirty="0">
                <a:solidFill>
                  <a:srgbClr val="595959"/>
                </a:solidFill>
                <a:latin typeface="Arial" pitchFamily="34" charset="0"/>
                <a:ea typeface="Arial" pitchFamily="34" charset="-122"/>
                <a:cs typeface="Arial" pitchFamily="34" charset="-120"/>
              </a:rPr>
              <a:t>48  Services</a:t>
            </a:r>
            <a:endParaRPr lang="en-US" sz="1050" dirty="0"/>
          </a:p>
        </p:txBody>
      </p:sp>
      <p:sp>
        <p:nvSpPr>
          <p:cNvPr id="16" name="Shape 14"/>
          <p:cNvSpPr/>
          <p:nvPr/>
        </p:nvSpPr>
        <p:spPr>
          <a:xfrm flipV="1">
            <a:off x="1920240" y="3991198"/>
            <a:ext cx="2164080" cy="495668"/>
          </a:xfrm>
          <a:prstGeom prst="line">
            <a:avLst/>
          </a:prstGeom>
          <a:noFill/>
          <a:ln w="34925">
            <a:solidFill>
              <a:srgbClr val="2E7CF6"/>
            </a:solidFill>
            <a:prstDash val="solid"/>
          </a:ln>
        </p:spPr>
      </p:sp>
      <p:sp>
        <p:nvSpPr>
          <p:cNvPr id="17" name="Shape 15"/>
          <p:cNvSpPr/>
          <p:nvPr/>
        </p:nvSpPr>
        <p:spPr>
          <a:xfrm>
            <a:off x="1874520" y="4441146"/>
            <a:ext cx="91440" cy="91440"/>
          </a:xfrm>
          <a:prstGeom prst="ellipse">
            <a:avLst/>
          </a:prstGeom>
          <a:solidFill>
            <a:srgbClr val="2E7CF6"/>
          </a:solidFill>
          <a:ln/>
        </p:spPr>
      </p:sp>
      <p:sp>
        <p:nvSpPr>
          <p:cNvPr id="18" name="Shape 16"/>
          <p:cNvSpPr/>
          <p:nvPr/>
        </p:nvSpPr>
        <p:spPr>
          <a:xfrm>
            <a:off x="4038600" y="3945478"/>
            <a:ext cx="91440" cy="91440"/>
          </a:xfrm>
          <a:prstGeom prst="ellipse">
            <a:avLst/>
          </a:prstGeom>
          <a:solidFill>
            <a:srgbClr val="2E7CF6"/>
          </a:solidFill>
          <a:ln/>
        </p:spPr>
      </p:sp>
      <p:sp>
        <p:nvSpPr>
          <p:cNvPr id="19" name="Text 17"/>
          <p:cNvSpPr/>
          <p:nvPr/>
        </p:nvSpPr>
        <p:spPr>
          <a:xfrm>
            <a:off x="438912" y="4377138"/>
            <a:ext cx="1371600" cy="237744"/>
          </a:xfrm>
          <a:prstGeom prst="rect">
            <a:avLst/>
          </a:prstGeom>
          <a:noFill/>
          <a:ln/>
        </p:spPr>
        <p:txBody>
          <a:bodyPr wrap="square" lIns="0" tIns="0" rIns="0" bIns="0" rtlCol="0" anchor="ctr"/>
          <a:lstStyle/>
          <a:p>
            <a:pPr algn="r" indent="0" marL="0">
              <a:buNone/>
            </a:pPr>
            <a:r>
              <a:rPr lang="en-US" sz="1050" b="1" dirty="0">
                <a:solidFill>
                  <a:srgbClr val="1A1A1A"/>
                </a:solidFill>
                <a:latin typeface="Arial" pitchFamily="34" charset="0"/>
                <a:ea typeface="Arial" pitchFamily="34" charset="-122"/>
                <a:cs typeface="Arial" pitchFamily="34" charset="-120"/>
              </a:rPr>
              <a:t>Group  28</a:t>
            </a:r>
            <a:endParaRPr lang="en-US" sz="1050" dirty="0"/>
          </a:p>
        </p:txBody>
      </p:sp>
      <p:sp>
        <p:nvSpPr>
          <p:cNvPr id="20" name="Text 18"/>
          <p:cNvSpPr/>
          <p:nvPr/>
        </p:nvSpPr>
        <p:spPr>
          <a:xfrm>
            <a:off x="4194048" y="3881470"/>
            <a:ext cx="1371600" cy="237744"/>
          </a:xfrm>
          <a:prstGeom prst="rect">
            <a:avLst/>
          </a:prstGeom>
          <a:noFill/>
          <a:ln/>
        </p:spPr>
        <p:txBody>
          <a:bodyPr wrap="square" lIns="0" tIns="0" rIns="0" bIns="0" rtlCol="0" anchor="ctr"/>
          <a:lstStyle/>
          <a:p>
            <a:pPr algn="l" indent="0" marL="0">
              <a:buNone/>
            </a:pPr>
            <a:r>
              <a:rPr lang="en-US" sz="1050" b="1" dirty="0">
                <a:solidFill>
                  <a:srgbClr val="1A1A1A"/>
                </a:solidFill>
                <a:latin typeface="Arial" pitchFamily="34" charset="0"/>
                <a:ea typeface="Arial" pitchFamily="34" charset="-122"/>
                <a:cs typeface="Arial" pitchFamily="34" charset="-120"/>
              </a:rPr>
              <a:t>34  Group</a:t>
            </a:r>
            <a:endParaRPr lang="en-US" sz="1050" dirty="0"/>
          </a:p>
        </p:txBody>
      </p:sp>
      <p:sp>
        <p:nvSpPr>
          <p:cNvPr id="21" name="Shape 19"/>
          <p:cNvSpPr/>
          <p:nvPr/>
        </p:nvSpPr>
        <p:spPr>
          <a:xfrm>
            <a:off x="1920240" y="5147757"/>
            <a:ext cx="2164080" cy="82611"/>
          </a:xfrm>
          <a:prstGeom prst="line">
            <a:avLst/>
          </a:prstGeom>
          <a:noFill/>
          <a:ln w="22225">
            <a:solidFill>
              <a:srgbClr val="C2CAD3"/>
            </a:solidFill>
            <a:prstDash val="solid"/>
          </a:ln>
        </p:spPr>
      </p:sp>
      <p:sp>
        <p:nvSpPr>
          <p:cNvPr id="22" name="Shape 20"/>
          <p:cNvSpPr/>
          <p:nvPr/>
        </p:nvSpPr>
        <p:spPr>
          <a:xfrm>
            <a:off x="1874520" y="5102037"/>
            <a:ext cx="91440" cy="91440"/>
          </a:xfrm>
          <a:prstGeom prst="ellipse">
            <a:avLst/>
          </a:prstGeom>
          <a:solidFill>
            <a:srgbClr val="C2CAD3"/>
          </a:solidFill>
          <a:ln/>
        </p:spPr>
      </p:sp>
      <p:sp>
        <p:nvSpPr>
          <p:cNvPr id="23" name="Shape 21"/>
          <p:cNvSpPr/>
          <p:nvPr/>
        </p:nvSpPr>
        <p:spPr>
          <a:xfrm>
            <a:off x="4038600" y="5184648"/>
            <a:ext cx="91440" cy="91440"/>
          </a:xfrm>
          <a:prstGeom prst="ellipse">
            <a:avLst/>
          </a:prstGeom>
          <a:solidFill>
            <a:srgbClr val="C2CAD3"/>
          </a:solidFill>
          <a:ln/>
        </p:spPr>
      </p:sp>
      <p:sp>
        <p:nvSpPr>
          <p:cNvPr id="24" name="Text 22"/>
          <p:cNvSpPr/>
          <p:nvPr/>
        </p:nvSpPr>
        <p:spPr>
          <a:xfrm>
            <a:off x="438912" y="5038029"/>
            <a:ext cx="1371600" cy="237744"/>
          </a:xfrm>
          <a:prstGeom prst="rect">
            <a:avLst/>
          </a:prstGeom>
          <a:noFill/>
          <a:ln/>
        </p:spPr>
        <p:txBody>
          <a:bodyPr wrap="square" lIns="0" tIns="0" rIns="0" bIns="0" rtlCol="0" anchor="ctr"/>
          <a:lstStyle/>
          <a:p>
            <a:pPr algn="r" indent="0" marL="0">
              <a:buNone/>
            </a:pPr>
            <a:r>
              <a:rPr lang="en-US" sz="1050" dirty="0">
                <a:solidFill>
                  <a:srgbClr val="595959"/>
                </a:solidFill>
                <a:latin typeface="Arial" pitchFamily="34" charset="0"/>
                <a:ea typeface="Arial" pitchFamily="34" charset="-122"/>
                <a:cs typeface="Arial" pitchFamily="34" charset="-120"/>
              </a:rPr>
              <a:t>Equipment  20</a:t>
            </a:r>
            <a:endParaRPr lang="en-US" sz="1050" dirty="0"/>
          </a:p>
        </p:txBody>
      </p:sp>
      <p:sp>
        <p:nvSpPr>
          <p:cNvPr id="25" name="Text 23"/>
          <p:cNvSpPr/>
          <p:nvPr/>
        </p:nvSpPr>
        <p:spPr>
          <a:xfrm>
            <a:off x="4194048" y="5120640"/>
            <a:ext cx="1371600" cy="237744"/>
          </a:xfrm>
          <a:prstGeom prst="rect">
            <a:avLst/>
          </a:prstGeom>
          <a:noFill/>
          <a:ln/>
        </p:spPr>
        <p:txBody>
          <a:bodyPr wrap="square" lIns="0" tIns="0" rIns="0" bIns="0" rtlCol="0" anchor="ctr"/>
          <a:lstStyle/>
          <a:p>
            <a:pPr algn="l" indent="0" marL="0">
              <a:buNone/>
            </a:pPr>
            <a:r>
              <a:rPr lang="en-US" sz="1050" dirty="0">
                <a:solidFill>
                  <a:srgbClr val="595959"/>
                </a:solidFill>
                <a:latin typeface="Arial" pitchFamily="34" charset="0"/>
                <a:ea typeface="Arial" pitchFamily="34" charset="-122"/>
                <a:cs typeface="Arial" pitchFamily="34" charset="-120"/>
              </a:rPr>
              <a:t>19  Equipment</a:t>
            </a:r>
            <a:endParaRPr lang="en-US" sz="1050" dirty="0"/>
          </a:p>
        </p:txBody>
      </p:sp>
      <p:sp>
        <p:nvSpPr>
          <p:cNvPr id="26" name="Text 24"/>
          <p:cNvSpPr/>
          <p:nvPr/>
        </p:nvSpPr>
        <p:spPr>
          <a:xfrm>
            <a:off x="5958840" y="1993392"/>
            <a:ext cx="56997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Operational levers, today vs 2029 target</a:t>
            </a:r>
            <a:endParaRPr lang="en-US" sz="1000" dirty="0"/>
          </a:p>
        </p:txBody>
      </p:sp>
      <p:sp>
        <p:nvSpPr>
          <p:cNvPr id="27" name="Text 25"/>
          <p:cNvSpPr/>
          <p:nvPr/>
        </p:nvSpPr>
        <p:spPr>
          <a:xfrm>
            <a:off x="7696200" y="2423160"/>
            <a:ext cx="3870960" cy="256032"/>
          </a:xfrm>
          <a:prstGeom prst="rect">
            <a:avLst/>
          </a:prstGeom>
          <a:noFill/>
          <a:ln/>
        </p:spPr>
        <p:txBody>
          <a:bodyPr wrap="square" lIns="0" tIns="0" rIns="0" bIns="0" rtlCol="0" anchor="ctr"/>
          <a:lstStyle/>
          <a:p>
            <a:pPr indent="0" marL="0">
              <a:buNone/>
            </a:pPr>
            <a:r>
              <a:rPr lang="en-US" sz="1050" dirty="0">
                <a:solidFill>
                  <a:srgbClr val="C2CAD3"/>
                </a:solidFill>
                <a:latin typeface="Arial" pitchFamily="34" charset="0"/>
                <a:ea typeface="Arial" pitchFamily="34" charset="-122"/>
                <a:cs typeface="Arial" pitchFamily="34" charset="-120"/>
              </a:rPr>
              <a:t>● </a:t>
            </a:r>
            <a:pPr indent="0" marL="0">
              <a:buNone/>
            </a:pPr>
            <a:r>
              <a:rPr lang="en-US" sz="1050" b="1" dirty="0">
                <a:solidFill>
                  <a:srgbClr val="595959"/>
                </a:solidFill>
                <a:latin typeface="Arial" pitchFamily="34" charset="0"/>
                <a:ea typeface="Arial" pitchFamily="34" charset="-122"/>
                <a:cs typeface="Arial" pitchFamily="34" charset="-120"/>
              </a:rPr>
              <a:t>Today    </a:t>
            </a:r>
            <a:pPr indent="0" marL="0">
              <a:buNone/>
            </a:pPr>
            <a:r>
              <a:rPr lang="en-US" sz="1050" dirty="0">
                <a:solidFill>
                  <a:srgbClr val="2E7CF6"/>
                </a:solidFill>
                <a:latin typeface="Arial" pitchFamily="34" charset="0"/>
                <a:ea typeface="Arial" pitchFamily="34" charset="-122"/>
                <a:cs typeface="Arial" pitchFamily="34" charset="-120"/>
              </a:rPr>
              <a:t>● </a:t>
            </a:r>
            <a:pPr indent="0" marL="0">
              <a:buNone/>
            </a:pPr>
            <a:r>
              <a:rPr lang="en-US" sz="1050" b="1" dirty="0">
                <a:solidFill>
                  <a:srgbClr val="1D5FCC"/>
                </a:solidFill>
                <a:latin typeface="Arial" pitchFamily="34" charset="0"/>
                <a:ea typeface="Arial" pitchFamily="34" charset="-122"/>
                <a:cs typeface="Arial" pitchFamily="34" charset="-120"/>
              </a:rPr>
              <a:t>2029 target</a:t>
            </a:r>
            <a:endParaRPr lang="en-US" sz="1050" dirty="0"/>
          </a:p>
        </p:txBody>
      </p:sp>
      <p:sp>
        <p:nvSpPr>
          <p:cNvPr id="28" name="Text 26"/>
          <p:cNvSpPr/>
          <p:nvPr/>
        </p:nvSpPr>
        <p:spPr>
          <a:xfrm>
            <a:off x="5958840" y="3130296"/>
            <a:ext cx="1627632" cy="256032"/>
          </a:xfrm>
          <a:prstGeom prst="rect">
            <a:avLst/>
          </a:prstGeom>
          <a:noFill/>
          <a:ln/>
        </p:spPr>
        <p:txBody>
          <a:bodyPr wrap="square" lIns="0" tIns="0" rIns="0" bIns="0" rtlCol="0" anchor="ctr"/>
          <a:lstStyle/>
          <a:p>
            <a:pPr algn="r" indent="0" marL="0">
              <a:buNone/>
            </a:pPr>
            <a:r>
              <a:rPr lang="en-US" sz="1050" b="1" dirty="0">
                <a:solidFill>
                  <a:srgbClr val="1A1A1A"/>
                </a:solidFill>
                <a:latin typeface="Arial" pitchFamily="34" charset="0"/>
                <a:ea typeface="Arial" pitchFamily="34" charset="-122"/>
                <a:cs typeface="Arial" pitchFamily="34" charset="-120"/>
              </a:rPr>
              <a:t>Parts capture %</a:t>
            </a:r>
            <a:endParaRPr lang="en-US" sz="1050" dirty="0"/>
          </a:p>
        </p:txBody>
      </p:sp>
      <p:sp>
        <p:nvSpPr>
          <p:cNvPr id="29" name="Shape 27"/>
          <p:cNvSpPr/>
          <p:nvPr/>
        </p:nvSpPr>
        <p:spPr>
          <a:xfrm>
            <a:off x="8856303" y="3249168"/>
            <a:ext cx="1085257" cy="0"/>
          </a:xfrm>
          <a:prstGeom prst="line">
            <a:avLst/>
          </a:prstGeom>
          <a:noFill/>
          <a:ln w="44450">
            <a:solidFill>
              <a:srgbClr val="DCE1E7"/>
            </a:solidFill>
            <a:prstDash val="solid"/>
          </a:ln>
        </p:spPr>
      </p:sp>
      <p:sp>
        <p:nvSpPr>
          <p:cNvPr id="30" name="Shape 28"/>
          <p:cNvSpPr/>
          <p:nvPr/>
        </p:nvSpPr>
        <p:spPr>
          <a:xfrm>
            <a:off x="8783151" y="3176016"/>
            <a:ext cx="146304" cy="146304"/>
          </a:xfrm>
          <a:prstGeom prst="ellipse">
            <a:avLst/>
          </a:prstGeom>
          <a:solidFill>
            <a:srgbClr val="C2CAD3"/>
          </a:solidFill>
          <a:ln/>
        </p:spPr>
      </p:sp>
      <p:sp>
        <p:nvSpPr>
          <p:cNvPr id="31" name="Shape 29"/>
          <p:cNvSpPr/>
          <p:nvPr/>
        </p:nvSpPr>
        <p:spPr>
          <a:xfrm>
            <a:off x="9868408" y="3176016"/>
            <a:ext cx="146304" cy="146304"/>
          </a:xfrm>
          <a:prstGeom prst="ellipse">
            <a:avLst/>
          </a:prstGeom>
          <a:solidFill>
            <a:srgbClr val="2E7CF6"/>
          </a:solidFill>
          <a:ln/>
        </p:spPr>
      </p:sp>
      <p:sp>
        <p:nvSpPr>
          <p:cNvPr id="32" name="Text 30"/>
          <p:cNvSpPr/>
          <p:nvPr/>
        </p:nvSpPr>
        <p:spPr>
          <a:xfrm>
            <a:off x="10051288" y="3130296"/>
            <a:ext cx="640080" cy="256032"/>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60</a:t>
            </a:r>
            <a:endParaRPr lang="en-US" sz="1050" dirty="0"/>
          </a:p>
        </p:txBody>
      </p:sp>
      <p:sp>
        <p:nvSpPr>
          <p:cNvPr id="33" name="Text 31"/>
          <p:cNvSpPr/>
          <p:nvPr/>
        </p:nvSpPr>
        <p:spPr>
          <a:xfrm>
            <a:off x="5958840" y="3867912"/>
            <a:ext cx="1627632" cy="256032"/>
          </a:xfrm>
          <a:prstGeom prst="rect">
            <a:avLst/>
          </a:prstGeom>
          <a:noFill/>
          <a:ln/>
        </p:spPr>
        <p:txBody>
          <a:bodyPr wrap="square" lIns="0" tIns="0" rIns="0" bIns="0" rtlCol="0" anchor="ctr"/>
          <a:lstStyle/>
          <a:p>
            <a:pPr algn="r" indent="0" marL="0">
              <a:buNone/>
            </a:pPr>
            <a:r>
              <a:rPr lang="en-US" sz="1050" b="1" dirty="0">
                <a:solidFill>
                  <a:srgbClr val="1A1A1A"/>
                </a:solidFill>
                <a:latin typeface="Arial" pitchFamily="34" charset="0"/>
                <a:ea typeface="Arial" pitchFamily="34" charset="-122"/>
                <a:cs typeface="Arial" pitchFamily="34" charset="-120"/>
              </a:rPr>
              <a:t>Contract attach %</a:t>
            </a:r>
            <a:endParaRPr lang="en-US" sz="1050" dirty="0"/>
          </a:p>
        </p:txBody>
      </p:sp>
      <p:sp>
        <p:nvSpPr>
          <p:cNvPr id="34" name="Shape 32"/>
          <p:cNvSpPr/>
          <p:nvPr/>
        </p:nvSpPr>
        <p:spPr>
          <a:xfrm>
            <a:off x="8145272" y="3986784"/>
            <a:ext cx="523917" cy="0"/>
          </a:xfrm>
          <a:prstGeom prst="line">
            <a:avLst/>
          </a:prstGeom>
          <a:noFill/>
          <a:ln w="44450">
            <a:solidFill>
              <a:srgbClr val="DCE1E7"/>
            </a:solidFill>
            <a:prstDash val="solid"/>
          </a:ln>
        </p:spPr>
      </p:sp>
      <p:sp>
        <p:nvSpPr>
          <p:cNvPr id="35" name="Shape 33"/>
          <p:cNvSpPr/>
          <p:nvPr/>
        </p:nvSpPr>
        <p:spPr>
          <a:xfrm>
            <a:off x="8072120" y="3913632"/>
            <a:ext cx="146304" cy="146304"/>
          </a:xfrm>
          <a:prstGeom prst="ellipse">
            <a:avLst/>
          </a:prstGeom>
          <a:solidFill>
            <a:srgbClr val="C2CAD3"/>
          </a:solidFill>
          <a:ln/>
        </p:spPr>
      </p:sp>
      <p:sp>
        <p:nvSpPr>
          <p:cNvPr id="36" name="Shape 34"/>
          <p:cNvSpPr/>
          <p:nvPr/>
        </p:nvSpPr>
        <p:spPr>
          <a:xfrm>
            <a:off x="8596037" y="3913632"/>
            <a:ext cx="146304" cy="146304"/>
          </a:xfrm>
          <a:prstGeom prst="ellipse">
            <a:avLst/>
          </a:prstGeom>
          <a:solidFill>
            <a:srgbClr val="2E7CF6"/>
          </a:solidFill>
          <a:ln/>
        </p:spPr>
      </p:sp>
      <p:sp>
        <p:nvSpPr>
          <p:cNvPr id="37" name="Text 35"/>
          <p:cNvSpPr/>
          <p:nvPr/>
        </p:nvSpPr>
        <p:spPr>
          <a:xfrm>
            <a:off x="8778917" y="3867912"/>
            <a:ext cx="640080" cy="256032"/>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26</a:t>
            </a:r>
            <a:endParaRPr lang="en-US" sz="1050" dirty="0"/>
          </a:p>
        </p:txBody>
      </p:sp>
      <p:sp>
        <p:nvSpPr>
          <p:cNvPr id="38" name="Text 36"/>
          <p:cNvSpPr/>
          <p:nvPr/>
        </p:nvSpPr>
        <p:spPr>
          <a:xfrm>
            <a:off x="5958840" y="4605528"/>
            <a:ext cx="1627632" cy="256032"/>
          </a:xfrm>
          <a:prstGeom prst="rect">
            <a:avLst/>
          </a:prstGeom>
          <a:noFill/>
          <a:ln/>
        </p:spPr>
        <p:txBody>
          <a:bodyPr wrap="square" lIns="0" tIns="0" rIns="0" bIns="0" rtlCol="0" anchor="ctr"/>
          <a:lstStyle/>
          <a:p>
            <a:pPr algn="r" indent="0" marL="0">
              <a:buNone/>
            </a:pPr>
            <a:r>
              <a:rPr lang="en-US" sz="1050" b="1" dirty="0">
                <a:solidFill>
                  <a:srgbClr val="1A1A1A"/>
                </a:solidFill>
                <a:latin typeface="Arial" pitchFamily="34" charset="0"/>
                <a:ea typeface="Arial" pitchFamily="34" charset="-122"/>
                <a:cs typeface="Arial" pitchFamily="34" charset="-120"/>
              </a:rPr>
              <a:t>Tech utilization %</a:t>
            </a:r>
            <a:endParaRPr lang="en-US" sz="1050" dirty="0"/>
          </a:p>
        </p:txBody>
      </p:sp>
      <p:sp>
        <p:nvSpPr>
          <p:cNvPr id="39" name="Shape 37"/>
          <p:cNvSpPr/>
          <p:nvPr/>
        </p:nvSpPr>
        <p:spPr>
          <a:xfrm>
            <a:off x="9978983" y="4724400"/>
            <a:ext cx="636185" cy="0"/>
          </a:xfrm>
          <a:prstGeom prst="line">
            <a:avLst/>
          </a:prstGeom>
          <a:noFill/>
          <a:ln w="44450">
            <a:solidFill>
              <a:srgbClr val="DCE1E7"/>
            </a:solidFill>
            <a:prstDash val="solid"/>
          </a:ln>
        </p:spPr>
      </p:sp>
      <p:sp>
        <p:nvSpPr>
          <p:cNvPr id="40" name="Shape 38"/>
          <p:cNvSpPr/>
          <p:nvPr/>
        </p:nvSpPr>
        <p:spPr>
          <a:xfrm>
            <a:off x="9905831" y="4651248"/>
            <a:ext cx="146304" cy="146304"/>
          </a:xfrm>
          <a:prstGeom prst="ellipse">
            <a:avLst/>
          </a:prstGeom>
          <a:solidFill>
            <a:srgbClr val="C2CAD3"/>
          </a:solidFill>
          <a:ln/>
        </p:spPr>
      </p:sp>
      <p:sp>
        <p:nvSpPr>
          <p:cNvPr id="41" name="Shape 39"/>
          <p:cNvSpPr/>
          <p:nvPr/>
        </p:nvSpPr>
        <p:spPr>
          <a:xfrm>
            <a:off x="10542016" y="4651248"/>
            <a:ext cx="146304" cy="146304"/>
          </a:xfrm>
          <a:prstGeom prst="ellipse">
            <a:avLst/>
          </a:prstGeom>
          <a:solidFill>
            <a:srgbClr val="2E7CF6"/>
          </a:solidFill>
          <a:ln/>
        </p:spPr>
      </p:sp>
      <p:sp>
        <p:nvSpPr>
          <p:cNvPr id="42" name="Text 40"/>
          <p:cNvSpPr/>
          <p:nvPr/>
        </p:nvSpPr>
        <p:spPr>
          <a:xfrm>
            <a:off x="10724896" y="4605528"/>
            <a:ext cx="640080" cy="256032"/>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78</a:t>
            </a:r>
            <a:endParaRPr lang="en-US" sz="1050" dirty="0"/>
          </a:p>
        </p:txBody>
      </p:sp>
      <p:sp>
        <p:nvSpPr>
          <p:cNvPr id="43" name="Text 41"/>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44" name="Text 42"/>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reach 35% of a richer mix, while parts capture and the premium sweet spot remain wide open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Marimekko (two-dimensional mix), waffle (memorable proportion) and Venn — native shapes, fully editable.</a:t>
            </a:r>
            <a:endParaRPr lang="en-US" sz="1350" dirty="0"/>
          </a:p>
        </p:txBody>
      </p:sp>
      <p:sp>
        <p:nvSpPr>
          <p:cNvPr id="6" name="Text 4"/>
          <p:cNvSpPr/>
          <p:nvPr/>
        </p:nvSpPr>
        <p:spPr>
          <a:xfrm>
            <a:off x="502920" y="1993392"/>
            <a:ext cx="3431689"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2029E revenue mix</a:t>
            </a:r>
            <a:endParaRPr lang="en-US" sz="1000" dirty="0"/>
          </a:p>
        </p:txBody>
      </p:sp>
      <p:sp>
        <p:nvSpPr>
          <p:cNvPr id="7" name="Shape 5"/>
          <p:cNvSpPr/>
          <p:nvPr/>
        </p:nvSpPr>
        <p:spPr>
          <a:xfrm>
            <a:off x="502920" y="2423160"/>
            <a:ext cx="2034459" cy="1410005"/>
          </a:xfrm>
          <a:prstGeom prst="rect">
            <a:avLst/>
          </a:prstGeom>
          <a:solidFill>
            <a:srgbClr val="2E7CF6"/>
          </a:solidFill>
          <a:ln w="12700">
            <a:solidFill>
              <a:srgbClr val="FFFFFF"/>
            </a:solidFill>
            <a:prstDash val="solid"/>
          </a:ln>
        </p:spPr>
      </p:sp>
      <p:sp>
        <p:nvSpPr>
          <p:cNvPr id="8" name="Text 6"/>
          <p:cNvSpPr/>
          <p:nvPr/>
        </p:nvSpPr>
        <p:spPr>
          <a:xfrm>
            <a:off x="502920" y="3009290"/>
            <a:ext cx="2034459"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60%</a:t>
            </a:r>
            <a:endParaRPr lang="en-US" sz="1000" dirty="0"/>
          </a:p>
        </p:txBody>
      </p:sp>
      <p:sp>
        <p:nvSpPr>
          <p:cNvPr id="9" name="Shape 7"/>
          <p:cNvSpPr/>
          <p:nvPr/>
        </p:nvSpPr>
        <p:spPr>
          <a:xfrm>
            <a:off x="502920" y="3833165"/>
            <a:ext cx="2034459" cy="940003"/>
          </a:xfrm>
          <a:prstGeom prst="rect">
            <a:avLst/>
          </a:prstGeom>
          <a:solidFill>
            <a:srgbClr val="AFC9F0"/>
          </a:solidFill>
          <a:ln w="12700">
            <a:solidFill>
              <a:srgbClr val="FFFFFF"/>
            </a:solidFill>
            <a:prstDash val="solid"/>
          </a:ln>
        </p:spPr>
      </p:sp>
      <p:sp>
        <p:nvSpPr>
          <p:cNvPr id="10" name="Text 8"/>
          <p:cNvSpPr/>
          <p:nvPr/>
        </p:nvSpPr>
        <p:spPr>
          <a:xfrm>
            <a:off x="502920" y="4184294"/>
            <a:ext cx="2034459"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40%</a:t>
            </a:r>
            <a:endParaRPr lang="en-US" sz="1000" dirty="0"/>
          </a:p>
        </p:txBody>
      </p:sp>
      <p:sp>
        <p:nvSpPr>
          <p:cNvPr id="11" name="Text 9"/>
          <p:cNvSpPr/>
          <p:nvPr/>
        </p:nvSpPr>
        <p:spPr>
          <a:xfrm>
            <a:off x="365760" y="4846320"/>
            <a:ext cx="2308779" cy="274320"/>
          </a:xfrm>
          <a:prstGeom prst="rect">
            <a:avLst/>
          </a:prstGeom>
          <a:noFill/>
          <a:ln/>
        </p:spPr>
        <p:txBody>
          <a:bodyPr wrap="square" lIns="0" tIns="0" rIns="0" bIns="0" rtlCol="0" anchor="ctr"/>
          <a:lstStyle/>
          <a:p>
            <a:pPr algn="ctr" indent="0" marL="0">
              <a:buNone/>
            </a:pPr>
            <a:r>
              <a:rPr lang="en-US" sz="1050" b="1" dirty="0">
                <a:solidFill>
                  <a:srgbClr val="1A1A1A"/>
                </a:solidFill>
                <a:latin typeface="Arial" pitchFamily="34" charset="0"/>
                <a:ea typeface="Arial" pitchFamily="34" charset="-122"/>
                <a:cs typeface="Arial" pitchFamily="34" charset="-120"/>
              </a:rPr>
              <a:t>Equipment (65%)</a:t>
            </a:r>
            <a:endParaRPr lang="en-US" sz="1050" dirty="0"/>
          </a:p>
        </p:txBody>
      </p:sp>
      <p:sp>
        <p:nvSpPr>
          <p:cNvPr id="12" name="Shape 10"/>
          <p:cNvSpPr/>
          <p:nvPr/>
        </p:nvSpPr>
        <p:spPr>
          <a:xfrm>
            <a:off x="2610531" y="2423160"/>
            <a:ext cx="1095478" cy="1057504"/>
          </a:xfrm>
          <a:prstGeom prst="rect">
            <a:avLst/>
          </a:prstGeom>
          <a:solidFill>
            <a:srgbClr val="2E7CF6"/>
          </a:solidFill>
          <a:ln w="12700">
            <a:solidFill>
              <a:srgbClr val="FFFFFF"/>
            </a:solidFill>
            <a:prstDash val="solid"/>
          </a:ln>
        </p:spPr>
      </p:sp>
      <p:sp>
        <p:nvSpPr>
          <p:cNvPr id="13" name="Text 11"/>
          <p:cNvSpPr/>
          <p:nvPr/>
        </p:nvSpPr>
        <p:spPr>
          <a:xfrm>
            <a:off x="2610531" y="2833040"/>
            <a:ext cx="1095478"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45%</a:t>
            </a:r>
            <a:endParaRPr lang="en-US" sz="1000" dirty="0"/>
          </a:p>
        </p:txBody>
      </p:sp>
      <p:sp>
        <p:nvSpPr>
          <p:cNvPr id="14" name="Shape 12"/>
          <p:cNvSpPr/>
          <p:nvPr/>
        </p:nvSpPr>
        <p:spPr>
          <a:xfrm>
            <a:off x="2610531" y="3480664"/>
            <a:ext cx="1095478" cy="822503"/>
          </a:xfrm>
          <a:prstGeom prst="rect">
            <a:avLst/>
          </a:prstGeom>
          <a:solidFill>
            <a:srgbClr val="5AA0FF"/>
          </a:solidFill>
          <a:ln w="12700">
            <a:solidFill>
              <a:srgbClr val="FFFFFF"/>
            </a:solidFill>
            <a:prstDash val="solid"/>
          </a:ln>
        </p:spPr>
      </p:sp>
      <p:sp>
        <p:nvSpPr>
          <p:cNvPr id="15" name="Text 13"/>
          <p:cNvSpPr/>
          <p:nvPr/>
        </p:nvSpPr>
        <p:spPr>
          <a:xfrm>
            <a:off x="2610531" y="3773043"/>
            <a:ext cx="1095478"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35%</a:t>
            </a:r>
            <a:endParaRPr lang="en-US" sz="1000" dirty="0"/>
          </a:p>
        </p:txBody>
      </p:sp>
      <p:sp>
        <p:nvSpPr>
          <p:cNvPr id="16" name="Shape 14"/>
          <p:cNvSpPr/>
          <p:nvPr/>
        </p:nvSpPr>
        <p:spPr>
          <a:xfrm>
            <a:off x="2610531" y="4303166"/>
            <a:ext cx="1095478" cy="470002"/>
          </a:xfrm>
          <a:prstGeom prst="rect">
            <a:avLst/>
          </a:prstGeom>
          <a:solidFill>
            <a:srgbClr val="AFC9F0"/>
          </a:solidFill>
          <a:ln w="12700">
            <a:solidFill>
              <a:srgbClr val="FFFFFF"/>
            </a:solidFill>
            <a:prstDash val="solid"/>
          </a:ln>
        </p:spPr>
      </p:sp>
      <p:sp>
        <p:nvSpPr>
          <p:cNvPr id="17" name="Text 15"/>
          <p:cNvSpPr/>
          <p:nvPr/>
        </p:nvSpPr>
        <p:spPr>
          <a:xfrm>
            <a:off x="2610531" y="4419295"/>
            <a:ext cx="1095478"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20%</a:t>
            </a:r>
            <a:endParaRPr lang="en-US" sz="1000" dirty="0"/>
          </a:p>
        </p:txBody>
      </p:sp>
      <p:sp>
        <p:nvSpPr>
          <p:cNvPr id="18" name="Text 16"/>
          <p:cNvSpPr/>
          <p:nvPr/>
        </p:nvSpPr>
        <p:spPr>
          <a:xfrm>
            <a:off x="2473371" y="4846320"/>
            <a:ext cx="1369798" cy="274320"/>
          </a:xfrm>
          <a:prstGeom prst="rect">
            <a:avLst/>
          </a:prstGeom>
          <a:noFill/>
          <a:ln/>
        </p:spPr>
        <p:txBody>
          <a:bodyPr wrap="square" lIns="0" tIns="0" rIns="0" bIns="0" rtlCol="0" anchor="ctr"/>
          <a:lstStyle/>
          <a:p>
            <a:pPr algn="ctr" indent="0" marL="0">
              <a:buNone/>
            </a:pPr>
            <a:r>
              <a:rPr lang="en-US" sz="1050" b="1" dirty="0">
                <a:solidFill>
                  <a:srgbClr val="1A1A1A"/>
                </a:solidFill>
                <a:latin typeface="Arial" pitchFamily="34" charset="0"/>
                <a:ea typeface="Arial" pitchFamily="34" charset="-122"/>
                <a:cs typeface="Arial" pitchFamily="34" charset="-120"/>
              </a:rPr>
              <a:t>Services (35%)</a:t>
            </a:r>
            <a:endParaRPr lang="en-US" sz="1050" dirty="0"/>
          </a:p>
        </p:txBody>
      </p:sp>
      <p:sp>
        <p:nvSpPr>
          <p:cNvPr id="19" name="Text 17"/>
          <p:cNvSpPr/>
          <p:nvPr/>
        </p:nvSpPr>
        <p:spPr>
          <a:xfrm>
            <a:off x="4208929" y="1993392"/>
            <a:ext cx="4055633"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Parts spend captured</a:t>
            </a:r>
            <a:endParaRPr lang="en-US" sz="1000" dirty="0"/>
          </a:p>
        </p:txBody>
      </p:sp>
      <p:sp>
        <p:nvSpPr>
          <p:cNvPr id="20" name="Shape 18"/>
          <p:cNvSpPr/>
          <p:nvPr/>
        </p:nvSpPr>
        <p:spPr>
          <a:xfrm>
            <a:off x="4208929" y="2514600"/>
            <a:ext cx="178785" cy="178785"/>
          </a:xfrm>
          <a:prstGeom prst="roundRect">
            <a:avLst>
              <a:gd name="adj" fmla="val 18000"/>
            </a:avLst>
          </a:prstGeom>
          <a:solidFill>
            <a:srgbClr val="E9EDF2"/>
          </a:solidFill>
          <a:ln/>
        </p:spPr>
      </p:sp>
      <p:sp>
        <p:nvSpPr>
          <p:cNvPr id="21" name="Shape 19"/>
          <p:cNvSpPr/>
          <p:nvPr/>
        </p:nvSpPr>
        <p:spPr>
          <a:xfrm>
            <a:off x="4426960" y="2514600"/>
            <a:ext cx="178785" cy="178785"/>
          </a:xfrm>
          <a:prstGeom prst="roundRect">
            <a:avLst>
              <a:gd name="adj" fmla="val 18000"/>
            </a:avLst>
          </a:prstGeom>
          <a:solidFill>
            <a:srgbClr val="E9EDF2"/>
          </a:solidFill>
          <a:ln/>
        </p:spPr>
      </p:sp>
      <p:sp>
        <p:nvSpPr>
          <p:cNvPr id="22" name="Shape 20"/>
          <p:cNvSpPr/>
          <p:nvPr/>
        </p:nvSpPr>
        <p:spPr>
          <a:xfrm>
            <a:off x="4644991" y="2514600"/>
            <a:ext cx="178785" cy="178785"/>
          </a:xfrm>
          <a:prstGeom prst="roundRect">
            <a:avLst>
              <a:gd name="adj" fmla="val 18000"/>
            </a:avLst>
          </a:prstGeom>
          <a:solidFill>
            <a:srgbClr val="E9EDF2"/>
          </a:solidFill>
          <a:ln/>
        </p:spPr>
      </p:sp>
      <p:sp>
        <p:nvSpPr>
          <p:cNvPr id="23" name="Shape 21"/>
          <p:cNvSpPr/>
          <p:nvPr/>
        </p:nvSpPr>
        <p:spPr>
          <a:xfrm>
            <a:off x="4863021" y="2514600"/>
            <a:ext cx="178785" cy="178785"/>
          </a:xfrm>
          <a:prstGeom prst="roundRect">
            <a:avLst>
              <a:gd name="adj" fmla="val 18000"/>
            </a:avLst>
          </a:prstGeom>
          <a:solidFill>
            <a:srgbClr val="E9EDF2"/>
          </a:solidFill>
          <a:ln/>
        </p:spPr>
      </p:sp>
      <p:sp>
        <p:nvSpPr>
          <p:cNvPr id="24" name="Shape 22"/>
          <p:cNvSpPr/>
          <p:nvPr/>
        </p:nvSpPr>
        <p:spPr>
          <a:xfrm>
            <a:off x="5081052" y="2514600"/>
            <a:ext cx="178785" cy="178785"/>
          </a:xfrm>
          <a:prstGeom prst="roundRect">
            <a:avLst>
              <a:gd name="adj" fmla="val 18000"/>
            </a:avLst>
          </a:prstGeom>
          <a:solidFill>
            <a:srgbClr val="E9EDF2"/>
          </a:solidFill>
          <a:ln/>
        </p:spPr>
      </p:sp>
      <p:sp>
        <p:nvSpPr>
          <p:cNvPr id="25" name="Shape 23"/>
          <p:cNvSpPr/>
          <p:nvPr/>
        </p:nvSpPr>
        <p:spPr>
          <a:xfrm>
            <a:off x="5299082" y="2514600"/>
            <a:ext cx="178785" cy="178785"/>
          </a:xfrm>
          <a:prstGeom prst="roundRect">
            <a:avLst>
              <a:gd name="adj" fmla="val 18000"/>
            </a:avLst>
          </a:prstGeom>
          <a:solidFill>
            <a:srgbClr val="E9EDF2"/>
          </a:solidFill>
          <a:ln/>
        </p:spPr>
      </p:sp>
      <p:sp>
        <p:nvSpPr>
          <p:cNvPr id="26" name="Shape 24"/>
          <p:cNvSpPr/>
          <p:nvPr/>
        </p:nvSpPr>
        <p:spPr>
          <a:xfrm>
            <a:off x="5517113" y="2514600"/>
            <a:ext cx="178785" cy="178785"/>
          </a:xfrm>
          <a:prstGeom prst="roundRect">
            <a:avLst>
              <a:gd name="adj" fmla="val 18000"/>
            </a:avLst>
          </a:prstGeom>
          <a:solidFill>
            <a:srgbClr val="E9EDF2"/>
          </a:solidFill>
          <a:ln/>
        </p:spPr>
      </p:sp>
      <p:sp>
        <p:nvSpPr>
          <p:cNvPr id="27" name="Shape 25"/>
          <p:cNvSpPr/>
          <p:nvPr/>
        </p:nvSpPr>
        <p:spPr>
          <a:xfrm>
            <a:off x="5735144" y="2514600"/>
            <a:ext cx="178785" cy="178785"/>
          </a:xfrm>
          <a:prstGeom prst="roundRect">
            <a:avLst>
              <a:gd name="adj" fmla="val 18000"/>
            </a:avLst>
          </a:prstGeom>
          <a:solidFill>
            <a:srgbClr val="E9EDF2"/>
          </a:solidFill>
          <a:ln/>
        </p:spPr>
      </p:sp>
      <p:sp>
        <p:nvSpPr>
          <p:cNvPr id="28" name="Shape 26"/>
          <p:cNvSpPr/>
          <p:nvPr/>
        </p:nvSpPr>
        <p:spPr>
          <a:xfrm>
            <a:off x="5953174" y="2514600"/>
            <a:ext cx="178785" cy="178785"/>
          </a:xfrm>
          <a:prstGeom prst="roundRect">
            <a:avLst>
              <a:gd name="adj" fmla="val 18000"/>
            </a:avLst>
          </a:prstGeom>
          <a:solidFill>
            <a:srgbClr val="E9EDF2"/>
          </a:solidFill>
          <a:ln/>
        </p:spPr>
      </p:sp>
      <p:sp>
        <p:nvSpPr>
          <p:cNvPr id="29" name="Shape 27"/>
          <p:cNvSpPr/>
          <p:nvPr/>
        </p:nvSpPr>
        <p:spPr>
          <a:xfrm>
            <a:off x="6171205" y="2514600"/>
            <a:ext cx="178785" cy="178785"/>
          </a:xfrm>
          <a:prstGeom prst="roundRect">
            <a:avLst>
              <a:gd name="adj" fmla="val 18000"/>
            </a:avLst>
          </a:prstGeom>
          <a:solidFill>
            <a:srgbClr val="E9EDF2"/>
          </a:solidFill>
          <a:ln/>
        </p:spPr>
      </p:sp>
      <p:sp>
        <p:nvSpPr>
          <p:cNvPr id="30" name="Shape 28"/>
          <p:cNvSpPr/>
          <p:nvPr/>
        </p:nvSpPr>
        <p:spPr>
          <a:xfrm>
            <a:off x="4208929" y="2732631"/>
            <a:ext cx="178785" cy="178785"/>
          </a:xfrm>
          <a:prstGeom prst="roundRect">
            <a:avLst>
              <a:gd name="adj" fmla="val 18000"/>
            </a:avLst>
          </a:prstGeom>
          <a:solidFill>
            <a:srgbClr val="E9EDF2"/>
          </a:solidFill>
          <a:ln/>
        </p:spPr>
      </p:sp>
      <p:sp>
        <p:nvSpPr>
          <p:cNvPr id="31" name="Shape 29"/>
          <p:cNvSpPr/>
          <p:nvPr/>
        </p:nvSpPr>
        <p:spPr>
          <a:xfrm>
            <a:off x="4426960" y="2732631"/>
            <a:ext cx="178785" cy="178785"/>
          </a:xfrm>
          <a:prstGeom prst="roundRect">
            <a:avLst>
              <a:gd name="adj" fmla="val 18000"/>
            </a:avLst>
          </a:prstGeom>
          <a:solidFill>
            <a:srgbClr val="E9EDF2"/>
          </a:solidFill>
          <a:ln/>
        </p:spPr>
      </p:sp>
      <p:sp>
        <p:nvSpPr>
          <p:cNvPr id="32" name="Shape 30"/>
          <p:cNvSpPr/>
          <p:nvPr/>
        </p:nvSpPr>
        <p:spPr>
          <a:xfrm>
            <a:off x="4644991" y="2732631"/>
            <a:ext cx="178785" cy="178785"/>
          </a:xfrm>
          <a:prstGeom prst="roundRect">
            <a:avLst>
              <a:gd name="adj" fmla="val 18000"/>
            </a:avLst>
          </a:prstGeom>
          <a:solidFill>
            <a:srgbClr val="E9EDF2"/>
          </a:solidFill>
          <a:ln/>
        </p:spPr>
      </p:sp>
      <p:sp>
        <p:nvSpPr>
          <p:cNvPr id="33" name="Shape 31"/>
          <p:cNvSpPr/>
          <p:nvPr/>
        </p:nvSpPr>
        <p:spPr>
          <a:xfrm>
            <a:off x="4863021" y="2732631"/>
            <a:ext cx="178785" cy="178785"/>
          </a:xfrm>
          <a:prstGeom prst="roundRect">
            <a:avLst>
              <a:gd name="adj" fmla="val 18000"/>
            </a:avLst>
          </a:prstGeom>
          <a:solidFill>
            <a:srgbClr val="E9EDF2"/>
          </a:solidFill>
          <a:ln/>
        </p:spPr>
      </p:sp>
      <p:sp>
        <p:nvSpPr>
          <p:cNvPr id="34" name="Shape 32"/>
          <p:cNvSpPr/>
          <p:nvPr/>
        </p:nvSpPr>
        <p:spPr>
          <a:xfrm>
            <a:off x="5081052" y="2732631"/>
            <a:ext cx="178785" cy="178785"/>
          </a:xfrm>
          <a:prstGeom prst="roundRect">
            <a:avLst>
              <a:gd name="adj" fmla="val 18000"/>
            </a:avLst>
          </a:prstGeom>
          <a:solidFill>
            <a:srgbClr val="E9EDF2"/>
          </a:solidFill>
          <a:ln/>
        </p:spPr>
      </p:sp>
      <p:sp>
        <p:nvSpPr>
          <p:cNvPr id="35" name="Shape 33"/>
          <p:cNvSpPr/>
          <p:nvPr/>
        </p:nvSpPr>
        <p:spPr>
          <a:xfrm>
            <a:off x="5299082" y="2732631"/>
            <a:ext cx="178785" cy="178785"/>
          </a:xfrm>
          <a:prstGeom prst="roundRect">
            <a:avLst>
              <a:gd name="adj" fmla="val 18000"/>
            </a:avLst>
          </a:prstGeom>
          <a:solidFill>
            <a:srgbClr val="E9EDF2"/>
          </a:solidFill>
          <a:ln/>
        </p:spPr>
      </p:sp>
      <p:sp>
        <p:nvSpPr>
          <p:cNvPr id="36" name="Shape 34"/>
          <p:cNvSpPr/>
          <p:nvPr/>
        </p:nvSpPr>
        <p:spPr>
          <a:xfrm>
            <a:off x="5517113" y="2732631"/>
            <a:ext cx="178785" cy="178785"/>
          </a:xfrm>
          <a:prstGeom prst="roundRect">
            <a:avLst>
              <a:gd name="adj" fmla="val 18000"/>
            </a:avLst>
          </a:prstGeom>
          <a:solidFill>
            <a:srgbClr val="E9EDF2"/>
          </a:solidFill>
          <a:ln/>
        </p:spPr>
      </p:sp>
      <p:sp>
        <p:nvSpPr>
          <p:cNvPr id="37" name="Shape 35"/>
          <p:cNvSpPr/>
          <p:nvPr/>
        </p:nvSpPr>
        <p:spPr>
          <a:xfrm>
            <a:off x="5735144" y="2732631"/>
            <a:ext cx="178785" cy="178785"/>
          </a:xfrm>
          <a:prstGeom prst="roundRect">
            <a:avLst>
              <a:gd name="adj" fmla="val 18000"/>
            </a:avLst>
          </a:prstGeom>
          <a:solidFill>
            <a:srgbClr val="E9EDF2"/>
          </a:solidFill>
          <a:ln/>
        </p:spPr>
      </p:sp>
      <p:sp>
        <p:nvSpPr>
          <p:cNvPr id="38" name="Shape 36"/>
          <p:cNvSpPr/>
          <p:nvPr/>
        </p:nvSpPr>
        <p:spPr>
          <a:xfrm>
            <a:off x="5953174" y="2732631"/>
            <a:ext cx="178785" cy="178785"/>
          </a:xfrm>
          <a:prstGeom prst="roundRect">
            <a:avLst>
              <a:gd name="adj" fmla="val 18000"/>
            </a:avLst>
          </a:prstGeom>
          <a:solidFill>
            <a:srgbClr val="E9EDF2"/>
          </a:solidFill>
          <a:ln/>
        </p:spPr>
      </p:sp>
      <p:sp>
        <p:nvSpPr>
          <p:cNvPr id="39" name="Shape 37"/>
          <p:cNvSpPr/>
          <p:nvPr/>
        </p:nvSpPr>
        <p:spPr>
          <a:xfrm>
            <a:off x="6171205" y="2732631"/>
            <a:ext cx="178785" cy="178785"/>
          </a:xfrm>
          <a:prstGeom prst="roundRect">
            <a:avLst>
              <a:gd name="adj" fmla="val 18000"/>
            </a:avLst>
          </a:prstGeom>
          <a:solidFill>
            <a:srgbClr val="E9EDF2"/>
          </a:solidFill>
          <a:ln/>
        </p:spPr>
      </p:sp>
      <p:sp>
        <p:nvSpPr>
          <p:cNvPr id="40" name="Shape 38"/>
          <p:cNvSpPr/>
          <p:nvPr/>
        </p:nvSpPr>
        <p:spPr>
          <a:xfrm>
            <a:off x="4208929" y="2950661"/>
            <a:ext cx="178785" cy="178785"/>
          </a:xfrm>
          <a:prstGeom prst="roundRect">
            <a:avLst>
              <a:gd name="adj" fmla="val 18000"/>
            </a:avLst>
          </a:prstGeom>
          <a:solidFill>
            <a:srgbClr val="E9EDF2"/>
          </a:solidFill>
          <a:ln/>
        </p:spPr>
      </p:sp>
      <p:sp>
        <p:nvSpPr>
          <p:cNvPr id="41" name="Shape 39"/>
          <p:cNvSpPr/>
          <p:nvPr/>
        </p:nvSpPr>
        <p:spPr>
          <a:xfrm>
            <a:off x="4426960" y="2950661"/>
            <a:ext cx="178785" cy="178785"/>
          </a:xfrm>
          <a:prstGeom prst="roundRect">
            <a:avLst>
              <a:gd name="adj" fmla="val 18000"/>
            </a:avLst>
          </a:prstGeom>
          <a:solidFill>
            <a:srgbClr val="E9EDF2"/>
          </a:solidFill>
          <a:ln/>
        </p:spPr>
      </p:sp>
      <p:sp>
        <p:nvSpPr>
          <p:cNvPr id="42" name="Shape 40"/>
          <p:cNvSpPr/>
          <p:nvPr/>
        </p:nvSpPr>
        <p:spPr>
          <a:xfrm>
            <a:off x="4644991" y="2950661"/>
            <a:ext cx="178785" cy="178785"/>
          </a:xfrm>
          <a:prstGeom prst="roundRect">
            <a:avLst>
              <a:gd name="adj" fmla="val 18000"/>
            </a:avLst>
          </a:prstGeom>
          <a:solidFill>
            <a:srgbClr val="E9EDF2"/>
          </a:solidFill>
          <a:ln/>
        </p:spPr>
      </p:sp>
      <p:sp>
        <p:nvSpPr>
          <p:cNvPr id="43" name="Shape 41"/>
          <p:cNvSpPr/>
          <p:nvPr/>
        </p:nvSpPr>
        <p:spPr>
          <a:xfrm>
            <a:off x="4863021" y="2950661"/>
            <a:ext cx="178785" cy="178785"/>
          </a:xfrm>
          <a:prstGeom prst="roundRect">
            <a:avLst>
              <a:gd name="adj" fmla="val 18000"/>
            </a:avLst>
          </a:prstGeom>
          <a:solidFill>
            <a:srgbClr val="E9EDF2"/>
          </a:solidFill>
          <a:ln/>
        </p:spPr>
      </p:sp>
      <p:sp>
        <p:nvSpPr>
          <p:cNvPr id="44" name="Shape 42"/>
          <p:cNvSpPr/>
          <p:nvPr/>
        </p:nvSpPr>
        <p:spPr>
          <a:xfrm>
            <a:off x="5081052" y="2950661"/>
            <a:ext cx="178785" cy="178785"/>
          </a:xfrm>
          <a:prstGeom prst="roundRect">
            <a:avLst>
              <a:gd name="adj" fmla="val 18000"/>
            </a:avLst>
          </a:prstGeom>
          <a:solidFill>
            <a:srgbClr val="E9EDF2"/>
          </a:solidFill>
          <a:ln/>
        </p:spPr>
      </p:sp>
      <p:sp>
        <p:nvSpPr>
          <p:cNvPr id="45" name="Shape 43"/>
          <p:cNvSpPr/>
          <p:nvPr/>
        </p:nvSpPr>
        <p:spPr>
          <a:xfrm>
            <a:off x="5299082" y="2950661"/>
            <a:ext cx="178785" cy="178785"/>
          </a:xfrm>
          <a:prstGeom prst="roundRect">
            <a:avLst>
              <a:gd name="adj" fmla="val 18000"/>
            </a:avLst>
          </a:prstGeom>
          <a:solidFill>
            <a:srgbClr val="E9EDF2"/>
          </a:solidFill>
          <a:ln/>
        </p:spPr>
      </p:sp>
      <p:sp>
        <p:nvSpPr>
          <p:cNvPr id="46" name="Shape 44"/>
          <p:cNvSpPr/>
          <p:nvPr/>
        </p:nvSpPr>
        <p:spPr>
          <a:xfrm>
            <a:off x="5517113" y="2950661"/>
            <a:ext cx="178785" cy="178785"/>
          </a:xfrm>
          <a:prstGeom prst="roundRect">
            <a:avLst>
              <a:gd name="adj" fmla="val 18000"/>
            </a:avLst>
          </a:prstGeom>
          <a:solidFill>
            <a:srgbClr val="E9EDF2"/>
          </a:solidFill>
          <a:ln/>
        </p:spPr>
      </p:sp>
      <p:sp>
        <p:nvSpPr>
          <p:cNvPr id="47" name="Shape 45"/>
          <p:cNvSpPr/>
          <p:nvPr/>
        </p:nvSpPr>
        <p:spPr>
          <a:xfrm>
            <a:off x="5735144" y="2950661"/>
            <a:ext cx="178785" cy="178785"/>
          </a:xfrm>
          <a:prstGeom prst="roundRect">
            <a:avLst>
              <a:gd name="adj" fmla="val 18000"/>
            </a:avLst>
          </a:prstGeom>
          <a:solidFill>
            <a:srgbClr val="E9EDF2"/>
          </a:solidFill>
          <a:ln/>
        </p:spPr>
      </p:sp>
      <p:sp>
        <p:nvSpPr>
          <p:cNvPr id="48" name="Shape 46"/>
          <p:cNvSpPr/>
          <p:nvPr/>
        </p:nvSpPr>
        <p:spPr>
          <a:xfrm>
            <a:off x="5953174" y="2950661"/>
            <a:ext cx="178785" cy="178785"/>
          </a:xfrm>
          <a:prstGeom prst="roundRect">
            <a:avLst>
              <a:gd name="adj" fmla="val 18000"/>
            </a:avLst>
          </a:prstGeom>
          <a:solidFill>
            <a:srgbClr val="E9EDF2"/>
          </a:solidFill>
          <a:ln/>
        </p:spPr>
      </p:sp>
      <p:sp>
        <p:nvSpPr>
          <p:cNvPr id="49" name="Shape 47"/>
          <p:cNvSpPr/>
          <p:nvPr/>
        </p:nvSpPr>
        <p:spPr>
          <a:xfrm>
            <a:off x="6171205" y="2950661"/>
            <a:ext cx="178785" cy="178785"/>
          </a:xfrm>
          <a:prstGeom prst="roundRect">
            <a:avLst>
              <a:gd name="adj" fmla="val 18000"/>
            </a:avLst>
          </a:prstGeom>
          <a:solidFill>
            <a:srgbClr val="E9EDF2"/>
          </a:solidFill>
          <a:ln/>
        </p:spPr>
      </p:sp>
      <p:sp>
        <p:nvSpPr>
          <p:cNvPr id="50" name="Shape 48"/>
          <p:cNvSpPr/>
          <p:nvPr/>
        </p:nvSpPr>
        <p:spPr>
          <a:xfrm>
            <a:off x="4208929" y="3168692"/>
            <a:ext cx="178785" cy="178785"/>
          </a:xfrm>
          <a:prstGeom prst="roundRect">
            <a:avLst>
              <a:gd name="adj" fmla="val 18000"/>
            </a:avLst>
          </a:prstGeom>
          <a:solidFill>
            <a:srgbClr val="E9EDF2"/>
          </a:solidFill>
          <a:ln/>
        </p:spPr>
      </p:sp>
      <p:sp>
        <p:nvSpPr>
          <p:cNvPr id="51" name="Shape 49"/>
          <p:cNvSpPr/>
          <p:nvPr/>
        </p:nvSpPr>
        <p:spPr>
          <a:xfrm>
            <a:off x="4426960" y="3168692"/>
            <a:ext cx="178785" cy="178785"/>
          </a:xfrm>
          <a:prstGeom prst="roundRect">
            <a:avLst>
              <a:gd name="adj" fmla="val 18000"/>
            </a:avLst>
          </a:prstGeom>
          <a:solidFill>
            <a:srgbClr val="E9EDF2"/>
          </a:solidFill>
          <a:ln/>
        </p:spPr>
      </p:sp>
      <p:sp>
        <p:nvSpPr>
          <p:cNvPr id="52" name="Shape 50"/>
          <p:cNvSpPr/>
          <p:nvPr/>
        </p:nvSpPr>
        <p:spPr>
          <a:xfrm>
            <a:off x="4644991" y="3168692"/>
            <a:ext cx="178785" cy="178785"/>
          </a:xfrm>
          <a:prstGeom prst="roundRect">
            <a:avLst>
              <a:gd name="adj" fmla="val 18000"/>
            </a:avLst>
          </a:prstGeom>
          <a:solidFill>
            <a:srgbClr val="E9EDF2"/>
          </a:solidFill>
          <a:ln/>
        </p:spPr>
      </p:sp>
      <p:sp>
        <p:nvSpPr>
          <p:cNvPr id="53" name="Shape 51"/>
          <p:cNvSpPr/>
          <p:nvPr/>
        </p:nvSpPr>
        <p:spPr>
          <a:xfrm>
            <a:off x="4863021" y="3168692"/>
            <a:ext cx="178785" cy="178785"/>
          </a:xfrm>
          <a:prstGeom prst="roundRect">
            <a:avLst>
              <a:gd name="adj" fmla="val 18000"/>
            </a:avLst>
          </a:prstGeom>
          <a:solidFill>
            <a:srgbClr val="E9EDF2"/>
          </a:solidFill>
          <a:ln/>
        </p:spPr>
      </p:sp>
      <p:sp>
        <p:nvSpPr>
          <p:cNvPr id="54" name="Shape 52"/>
          <p:cNvSpPr/>
          <p:nvPr/>
        </p:nvSpPr>
        <p:spPr>
          <a:xfrm>
            <a:off x="5081052" y="3168692"/>
            <a:ext cx="178785" cy="178785"/>
          </a:xfrm>
          <a:prstGeom prst="roundRect">
            <a:avLst>
              <a:gd name="adj" fmla="val 18000"/>
            </a:avLst>
          </a:prstGeom>
          <a:solidFill>
            <a:srgbClr val="E9EDF2"/>
          </a:solidFill>
          <a:ln/>
        </p:spPr>
      </p:sp>
      <p:sp>
        <p:nvSpPr>
          <p:cNvPr id="55" name="Shape 53"/>
          <p:cNvSpPr/>
          <p:nvPr/>
        </p:nvSpPr>
        <p:spPr>
          <a:xfrm>
            <a:off x="5299082" y="3168692"/>
            <a:ext cx="178785" cy="178785"/>
          </a:xfrm>
          <a:prstGeom prst="roundRect">
            <a:avLst>
              <a:gd name="adj" fmla="val 18000"/>
            </a:avLst>
          </a:prstGeom>
          <a:solidFill>
            <a:srgbClr val="E9EDF2"/>
          </a:solidFill>
          <a:ln/>
        </p:spPr>
      </p:sp>
      <p:sp>
        <p:nvSpPr>
          <p:cNvPr id="56" name="Shape 54"/>
          <p:cNvSpPr/>
          <p:nvPr/>
        </p:nvSpPr>
        <p:spPr>
          <a:xfrm>
            <a:off x="5517113" y="3168692"/>
            <a:ext cx="178785" cy="178785"/>
          </a:xfrm>
          <a:prstGeom prst="roundRect">
            <a:avLst>
              <a:gd name="adj" fmla="val 18000"/>
            </a:avLst>
          </a:prstGeom>
          <a:solidFill>
            <a:srgbClr val="E9EDF2"/>
          </a:solidFill>
          <a:ln/>
        </p:spPr>
      </p:sp>
      <p:sp>
        <p:nvSpPr>
          <p:cNvPr id="57" name="Shape 55"/>
          <p:cNvSpPr/>
          <p:nvPr/>
        </p:nvSpPr>
        <p:spPr>
          <a:xfrm>
            <a:off x="5735144" y="3168692"/>
            <a:ext cx="178785" cy="178785"/>
          </a:xfrm>
          <a:prstGeom prst="roundRect">
            <a:avLst>
              <a:gd name="adj" fmla="val 18000"/>
            </a:avLst>
          </a:prstGeom>
          <a:solidFill>
            <a:srgbClr val="E9EDF2"/>
          </a:solidFill>
          <a:ln/>
        </p:spPr>
      </p:sp>
      <p:sp>
        <p:nvSpPr>
          <p:cNvPr id="58" name="Shape 56"/>
          <p:cNvSpPr/>
          <p:nvPr/>
        </p:nvSpPr>
        <p:spPr>
          <a:xfrm>
            <a:off x="5953174" y="3168692"/>
            <a:ext cx="178785" cy="178785"/>
          </a:xfrm>
          <a:prstGeom prst="roundRect">
            <a:avLst>
              <a:gd name="adj" fmla="val 18000"/>
            </a:avLst>
          </a:prstGeom>
          <a:solidFill>
            <a:srgbClr val="E9EDF2"/>
          </a:solidFill>
          <a:ln/>
        </p:spPr>
      </p:sp>
      <p:sp>
        <p:nvSpPr>
          <p:cNvPr id="59" name="Shape 57"/>
          <p:cNvSpPr/>
          <p:nvPr/>
        </p:nvSpPr>
        <p:spPr>
          <a:xfrm>
            <a:off x="6171205" y="3168692"/>
            <a:ext cx="178785" cy="178785"/>
          </a:xfrm>
          <a:prstGeom prst="roundRect">
            <a:avLst>
              <a:gd name="adj" fmla="val 18000"/>
            </a:avLst>
          </a:prstGeom>
          <a:solidFill>
            <a:srgbClr val="E9EDF2"/>
          </a:solidFill>
          <a:ln/>
        </p:spPr>
      </p:sp>
      <p:sp>
        <p:nvSpPr>
          <p:cNvPr id="60" name="Shape 58"/>
          <p:cNvSpPr/>
          <p:nvPr/>
        </p:nvSpPr>
        <p:spPr>
          <a:xfrm>
            <a:off x="4208929" y="3386722"/>
            <a:ext cx="178785" cy="178785"/>
          </a:xfrm>
          <a:prstGeom prst="roundRect">
            <a:avLst>
              <a:gd name="adj" fmla="val 18000"/>
            </a:avLst>
          </a:prstGeom>
          <a:solidFill>
            <a:srgbClr val="E9EDF2"/>
          </a:solidFill>
          <a:ln/>
        </p:spPr>
      </p:sp>
      <p:sp>
        <p:nvSpPr>
          <p:cNvPr id="61" name="Shape 59"/>
          <p:cNvSpPr/>
          <p:nvPr/>
        </p:nvSpPr>
        <p:spPr>
          <a:xfrm>
            <a:off x="4426960" y="3386722"/>
            <a:ext cx="178785" cy="178785"/>
          </a:xfrm>
          <a:prstGeom prst="roundRect">
            <a:avLst>
              <a:gd name="adj" fmla="val 18000"/>
            </a:avLst>
          </a:prstGeom>
          <a:solidFill>
            <a:srgbClr val="E9EDF2"/>
          </a:solidFill>
          <a:ln/>
        </p:spPr>
      </p:sp>
      <p:sp>
        <p:nvSpPr>
          <p:cNvPr id="62" name="Shape 60"/>
          <p:cNvSpPr/>
          <p:nvPr/>
        </p:nvSpPr>
        <p:spPr>
          <a:xfrm>
            <a:off x="4644991" y="3386722"/>
            <a:ext cx="178785" cy="178785"/>
          </a:xfrm>
          <a:prstGeom prst="roundRect">
            <a:avLst>
              <a:gd name="adj" fmla="val 18000"/>
            </a:avLst>
          </a:prstGeom>
          <a:solidFill>
            <a:srgbClr val="E9EDF2"/>
          </a:solidFill>
          <a:ln/>
        </p:spPr>
      </p:sp>
      <p:sp>
        <p:nvSpPr>
          <p:cNvPr id="63" name="Shape 61"/>
          <p:cNvSpPr/>
          <p:nvPr/>
        </p:nvSpPr>
        <p:spPr>
          <a:xfrm>
            <a:off x="4863021" y="3386722"/>
            <a:ext cx="178785" cy="178785"/>
          </a:xfrm>
          <a:prstGeom prst="roundRect">
            <a:avLst>
              <a:gd name="adj" fmla="val 18000"/>
            </a:avLst>
          </a:prstGeom>
          <a:solidFill>
            <a:srgbClr val="E9EDF2"/>
          </a:solidFill>
          <a:ln/>
        </p:spPr>
      </p:sp>
      <p:sp>
        <p:nvSpPr>
          <p:cNvPr id="64" name="Shape 62"/>
          <p:cNvSpPr/>
          <p:nvPr/>
        </p:nvSpPr>
        <p:spPr>
          <a:xfrm>
            <a:off x="5081052" y="3386722"/>
            <a:ext cx="178785" cy="178785"/>
          </a:xfrm>
          <a:prstGeom prst="roundRect">
            <a:avLst>
              <a:gd name="adj" fmla="val 18000"/>
            </a:avLst>
          </a:prstGeom>
          <a:solidFill>
            <a:srgbClr val="E9EDF2"/>
          </a:solidFill>
          <a:ln/>
        </p:spPr>
      </p:sp>
      <p:sp>
        <p:nvSpPr>
          <p:cNvPr id="65" name="Shape 63"/>
          <p:cNvSpPr/>
          <p:nvPr/>
        </p:nvSpPr>
        <p:spPr>
          <a:xfrm>
            <a:off x="5299082" y="3386722"/>
            <a:ext cx="178785" cy="178785"/>
          </a:xfrm>
          <a:prstGeom prst="roundRect">
            <a:avLst>
              <a:gd name="adj" fmla="val 18000"/>
            </a:avLst>
          </a:prstGeom>
          <a:solidFill>
            <a:srgbClr val="E9EDF2"/>
          </a:solidFill>
          <a:ln/>
        </p:spPr>
      </p:sp>
      <p:sp>
        <p:nvSpPr>
          <p:cNvPr id="66" name="Shape 64"/>
          <p:cNvSpPr/>
          <p:nvPr/>
        </p:nvSpPr>
        <p:spPr>
          <a:xfrm>
            <a:off x="5517113" y="3386722"/>
            <a:ext cx="178785" cy="178785"/>
          </a:xfrm>
          <a:prstGeom prst="roundRect">
            <a:avLst>
              <a:gd name="adj" fmla="val 18000"/>
            </a:avLst>
          </a:prstGeom>
          <a:solidFill>
            <a:srgbClr val="E9EDF2"/>
          </a:solidFill>
          <a:ln/>
        </p:spPr>
      </p:sp>
      <p:sp>
        <p:nvSpPr>
          <p:cNvPr id="67" name="Shape 65"/>
          <p:cNvSpPr/>
          <p:nvPr/>
        </p:nvSpPr>
        <p:spPr>
          <a:xfrm>
            <a:off x="5735144" y="3386722"/>
            <a:ext cx="178785" cy="178785"/>
          </a:xfrm>
          <a:prstGeom prst="roundRect">
            <a:avLst>
              <a:gd name="adj" fmla="val 18000"/>
            </a:avLst>
          </a:prstGeom>
          <a:solidFill>
            <a:srgbClr val="E9EDF2"/>
          </a:solidFill>
          <a:ln/>
        </p:spPr>
      </p:sp>
      <p:sp>
        <p:nvSpPr>
          <p:cNvPr id="68" name="Shape 66"/>
          <p:cNvSpPr/>
          <p:nvPr/>
        </p:nvSpPr>
        <p:spPr>
          <a:xfrm>
            <a:off x="5953174" y="3386722"/>
            <a:ext cx="178785" cy="178785"/>
          </a:xfrm>
          <a:prstGeom prst="roundRect">
            <a:avLst>
              <a:gd name="adj" fmla="val 18000"/>
            </a:avLst>
          </a:prstGeom>
          <a:solidFill>
            <a:srgbClr val="E9EDF2"/>
          </a:solidFill>
          <a:ln/>
        </p:spPr>
      </p:sp>
      <p:sp>
        <p:nvSpPr>
          <p:cNvPr id="69" name="Shape 67"/>
          <p:cNvSpPr/>
          <p:nvPr/>
        </p:nvSpPr>
        <p:spPr>
          <a:xfrm>
            <a:off x="6171205" y="3386722"/>
            <a:ext cx="178785" cy="178785"/>
          </a:xfrm>
          <a:prstGeom prst="roundRect">
            <a:avLst>
              <a:gd name="adj" fmla="val 18000"/>
            </a:avLst>
          </a:prstGeom>
          <a:solidFill>
            <a:srgbClr val="E9EDF2"/>
          </a:solidFill>
          <a:ln/>
        </p:spPr>
      </p:sp>
      <p:sp>
        <p:nvSpPr>
          <p:cNvPr id="70" name="Shape 68"/>
          <p:cNvSpPr/>
          <p:nvPr/>
        </p:nvSpPr>
        <p:spPr>
          <a:xfrm>
            <a:off x="4208929" y="3604753"/>
            <a:ext cx="178785" cy="178785"/>
          </a:xfrm>
          <a:prstGeom prst="roundRect">
            <a:avLst>
              <a:gd name="adj" fmla="val 18000"/>
            </a:avLst>
          </a:prstGeom>
          <a:solidFill>
            <a:srgbClr val="E9EDF2"/>
          </a:solidFill>
          <a:ln/>
        </p:spPr>
      </p:sp>
      <p:sp>
        <p:nvSpPr>
          <p:cNvPr id="71" name="Shape 69"/>
          <p:cNvSpPr/>
          <p:nvPr/>
        </p:nvSpPr>
        <p:spPr>
          <a:xfrm>
            <a:off x="4426960" y="3604753"/>
            <a:ext cx="178785" cy="178785"/>
          </a:xfrm>
          <a:prstGeom prst="roundRect">
            <a:avLst>
              <a:gd name="adj" fmla="val 18000"/>
            </a:avLst>
          </a:prstGeom>
          <a:solidFill>
            <a:srgbClr val="E9EDF2"/>
          </a:solidFill>
          <a:ln/>
        </p:spPr>
      </p:sp>
      <p:sp>
        <p:nvSpPr>
          <p:cNvPr id="72" name="Shape 70"/>
          <p:cNvSpPr/>
          <p:nvPr/>
        </p:nvSpPr>
        <p:spPr>
          <a:xfrm>
            <a:off x="4644991" y="3604753"/>
            <a:ext cx="178785" cy="178785"/>
          </a:xfrm>
          <a:prstGeom prst="roundRect">
            <a:avLst>
              <a:gd name="adj" fmla="val 18000"/>
            </a:avLst>
          </a:prstGeom>
          <a:solidFill>
            <a:srgbClr val="E9EDF2"/>
          </a:solidFill>
          <a:ln/>
        </p:spPr>
      </p:sp>
      <p:sp>
        <p:nvSpPr>
          <p:cNvPr id="73" name="Shape 71"/>
          <p:cNvSpPr/>
          <p:nvPr/>
        </p:nvSpPr>
        <p:spPr>
          <a:xfrm>
            <a:off x="4863021" y="3604753"/>
            <a:ext cx="178785" cy="178785"/>
          </a:xfrm>
          <a:prstGeom prst="roundRect">
            <a:avLst>
              <a:gd name="adj" fmla="val 18000"/>
            </a:avLst>
          </a:prstGeom>
          <a:solidFill>
            <a:srgbClr val="E9EDF2"/>
          </a:solidFill>
          <a:ln/>
        </p:spPr>
      </p:sp>
      <p:sp>
        <p:nvSpPr>
          <p:cNvPr id="74" name="Shape 72"/>
          <p:cNvSpPr/>
          <p:nvPr/>
        </p:nvSpPr>
        <p:spPr>
          <a:xfrm>
            <a:off x="5081052" y="3604753"/>
            <a:ext cx="178785" cy="178785"/>
          </a:xfrm>
          <a:prstGeom prst="roundRect">
            <a:avLst>
              <a:gd name="adj" fmla="val 18000"/>
            </a:avLst>
          </a:prstGeom>
          <a:solidFill>
            <a:srgbClr val="E9EDF2"/>
          </a:solidFill>
          <a:ln/>
        </p:spPr>
      </p:sp>
      <p:sp>
        <p:nvSpPr>
          <p:cNvPr id="75" name="Shape 73"/>
          <p:cNvSpPr/>
          <p:nvPr/>
        </p:nvSpPr>
        <p:spPr>
          <a:xfrm>
            <a:off x="5299082" y="3604753"/>
            <a:ext cx="178785" cy="178785"/>
          </a:xfrm>
          <a:prstGeom prst="roundRect">
            <a:avLst>
              <a:gd name="adj" fmla="val 18000"/>
            </a:avLst>
          </a:prstGeom>
          <a:solidFill>
            <a:srgbClr val="E9EDF2"/>
          </a:solidFill>
          <a:ln/>
        </p:spPr>
      </p:sp>
      <p:sp>
        <p:nvSpPr>
          <p:cNvPr id="76" name="Shape 74"/>
          <p:cNvSpPr/>
          <p:nvPr/>
        </p:nvSpPr>
        <p:spPr>
          <a:xfrm>
            <a:off x="5517113" y="3604753"/>
            <a:ext cx="178785" cy="178785"/>
          </a:xfrm>
          <a:prstGeom prst="roundRect">
            <a:avLst>
              <a:gd name="adj" fmla="val 18000"/>
            </a:avLst>
          </a:prstGeom>
          <a:solidFill>
            <a:srgbClr val="E9EDF2"/>
          </a:solidFill>
          <a:ln/>
        </p:spPr>
      </p:sp>
      <p:sp>
        <p:nvSpPr>
          <p:cNvPr id="77" name="Shape 75"/>
          <p:cNvSpPr/>
          <p:nvPr/>
        </p:nvSpPr>
        <p:spPr>
          <a:xfrm>
            <a:off x="5735144" y="3604753"/>
            <a:ext cx="178785" cy="178785"/>
          </a:xfrm>
          <a:prstGeom prst="roundRect">
            <a:avLst>
              <a:gd name="adj" fmla="val 18000"/>
            </a:avLst>
          </a:prstGeom>
          <a:solidFill>
            <a:srgbClr val="E9EDF2"/>
          </a:solidFill>
          <a:ln/>
        </p:spPr>
      </p:sp>
      <p:sp>
        <p:nvSpPr>
          <p:cNvPr id="78" name="Shape 76"/>
          <p:cNvSpPr/>
          <p:nvPr/>
        </p:nvSpPr>
        <p:spPr>
          <a:xfrm>
            <a:off x="5953174" y="3604753"/>
            <a:ext cx="178785" cy="178785"/>
          </a:xfrm>
          <a:prstGeom prst="roundRect">
            <a:avLst>
              <a:gd name="adj" fmla="val 18000"/>
            </a:avLst>
          </a:prstGeom>
          <a:solidFill>
            <a:srgbClr val="E9EDF2"/>
          </a:solidFill>
          <a:ln/>
        </p:spPr>
      </p:sp>
      <p:sp>
        <p:nvSpPr>
          <p:cNvPr id="79" name="Shape 77"/>
          <p:cNvSpPr/>
          <p:nvPr/>
        </p:nvSpPr>
        <p:spPr>
          <a:xfrm>
            <a:off x="6171205" y="3604753"/>
            <a:ext cx="178785" cy="178785"/>
          </a:xfrm>
          <a:prstGeom prst="roundRect">
            <a:avLst>
              <a:gd name="adj" fmla="val 18000"/>
            </a:avLst>
          </a:prstGeom>
          <a:solidFill>
            <a:srgbClr val="E9EDF2"/>
          </a:solidFill>
          <a:ln/>
        </p:spPr>
      </p:sp>
      <p:sp>
        <p:nvSpPr>
          <p:cNvPr id="80" name="Shape 78"/>
          <p:cNvSpPr/>
          <p:nvPr/>
        </p:nvSpPr>
        <p:spPr>
          <a:xfrm>
            <a:off x="4208929" y="3822784"/>
            <a:ext cx="178785" cy="178785"/>
          </a:xfrm>
          <a:prstGeom prst="roundRect">
            <a:avLst>
              <a:gd name="adj" fmla="val 18000"/>
            </a:avLst>
          </a:prstGeom>
          <a:solidFill>
            <a:srgbClr val="2E7CF6"/>
          </a:solidFill>
          <a:ln/>
        </p:spPr>
      </p:sp>
      <p:sp>
        <p:nvSpPr>
          <p:cNvPr id="81" name="Shape 79"/>
          <p:cNvSpPr/>
          <p:nvPr/>
        </p:nvSpPr>
        <p:spPr>
          <a:xfrm>
            <a:off x="4426960" y="3822784"/>
            <a:ext cx="178785" cy="178785"/>
          </a:xfrm>
          <a:prstGeom prst="roundRect">
            <a:avLst>
              <a:gd name="adj" fmla="val 18000"/>
            </a:avLst>
          </a:prstGeom>
          <a:solidFill>
            <a:srgbClr val="E9EDF2"/>
          </a:solidFill>
          <a:ln/>
        </p:spPr>
      </p:sp>
      <p:sp>
        <p:nvSpPr>
          <p:cNvPr id="82" name="Shape 80"/>
          <p:cNvSpPr/>
          <p:nvPr/>
        </p:nvSpPr>
        <p:spPr>
          <a:xfrm>
            <a:off x="4644991" y="3822784"/>
            <a:ext cx="178785" cy="178785"/>
          </a:xfrm>
          <a:prstGeom prst="roundRect">
            <a:avLst>
              <a:gd name="adj" fmla="val 18000"/>
            </a:avLst>
          </a:prstGeom>
          <a:solidFill>
            <a:srgbClr val="E9EDF2"/>
          </a:solidFill>
          <a:ln/>
        </p:spPr>
      </p:sp>
      <p:sp>
        <p:nvSpPr>
          <p:cNvPr id="83" name="Shape 81"/>
          <p:cNvSpPr/>
          <p:nvPr/>
        </p:nvSpPr>
        <p:spPr>
          <a:xfrm>
            <a:off x="4863021" y="3822784"/>
            <a:ext cx="178785" cy="178785"/>
          </a:xfrm>
          <a:prstGeom prst="roundRect">
            <a:avLst>
              <a:gd name="adj" fmla="val 18000"/>
            </a:avLst>
          </a:prstGeom>
          <a:solidFill>
            <a:srgbClr val="E9EDF2"/>
          </a:solidFill>
          <a:ln/>
        </p:spPr>
      </p:sp>
      <p:sp>
        <p:nvSpPr>
          <p:cNvPr id="84" name="Shape 82"/>
          <p:cNvSpPr/>
          <p:nvPr/>
        </p:nvSpPr>
        <p:spPr>
          <a:xfrm>
            <a:off x="5081052" y="3822784"/>
            <a:ext cx="178785" cy="178785"/>
          </a:xfrm>
          <a:prstGeom prst="roundRect">
            <a:avLst>
              <a:gd name="adj" fmla="val 18000"/>
            </a:avLst>
          </a:prstGeom>
          <a:solidFill>
            <a:srgbClr val="E9EDF2"/>
          </a:solidFill>
          <a:ln/>
        </p:spPr>
      </p:sp>
      <p:sp>
        <p:nvSpPr>
          <p:cNvPr id="85" name="Shape 83"/>
          <p:cNvSpPr/>
          <p:nvPr/>
        </p:nvSpPr>
        <p:spPr>
          <a:xfrm>
            <a:off x="5299082" y="3822784"/>
            <a:ext cx="178785" cy="178785"/>
          </a:xfrm>
          <a:prstGeom prst="roundRect">
            <a:avLst>
              <a:gd name="adj" fmla="val 18000"/>
            </a:avLst>
          </a:prstGeom>
          <a:solidFill>
            <a:srgbClr val="E9EDF2"/>
          </a:solidFill>
          <a:ln/>
        </p:spPr>
      </p:sp>
      <p:sp>
        <p:nvSpPr>
          <p:cNvPr id="86" name="Shape 84"/>
          <p:cNvSpPr/>
          <p:nvPr/>
        </p:nvSpPr>
        <p:spPr>
          <a:xfrm>
            <a:off x="5517113" y="3822784"/>
            <a:ext cx="178785" cy="178785"/>
          </a:xfrm>
          <a:prstGeom prst="roundRect">
            <a:avLst>
              <a:gd name="adj" fmla="val 18000"/>
            </a:avLst>
          </a:prstGeom>
          <a:solidFill>
            <a:srgbClr val="E9EDF2"/>
          </a:solidFill>
          <a:ln/>
        </p:spPr>
      </p:sp>
      <p:sp>
        <p:nvSpPr>
          <p:cNvPr id="87" name="Shape 85"/>
          <p:cNvSpPr/>
          <p:nvPr/>
        </p:nvSpPr>
        <p:spPr>
          <a:xfrm>
            <a:off x="5735144" y="3822784"/>
            <a:ext cx="178785" cy="178785"/>
          </a:xfrm>
          <a:prstGeom prst="roundRect">
            <a:avLst>
              <a:gd name="adj" fmla="val 18000"/>
            </a:avLst>
          </a:prstGeom>
          <a:solidFill>
            <a:srgbClr val="E9EDF2"/>
          </a:solidFill>
          <a:ln/>
        </p:spPr>
      </p:sp>
      <p:sp>
        <p:nvSpPr>
          <p:cNvPr id="88" name="Shape 86"/>
          <p:cNvSpPr/>
          <p:nvPr/>
        </p:nvSpPr>
        <p:spPr>
          <a:xfrm>
            <a:off x="5953174" y="3822784"/>
            <a:ext cx="178785" cy="178785"/>
          </a:xfrm>
          <a:prstGeom prst="roundRect">
            <a:avLst>
              <a:gd name="adj" fmla="val 18000"/>
            </a:avLst>
          </a:prstGeom>
          <a:solidFill>
            <a:srgbClr val="E9EDF2"/>
          </a:solidFill>
          <a:ln/>
        </p:spPr>
      </p:sp>
      <p:sp>
        <p:nvSpPr>
          <p:cNvPr id="89" name="Shape 87"/>
          <p:cNvSpPr/>
          <p:nvPr/>
        </p:nvSpPr>
        <p:spPr>
          <a:xfrm>
            <a:off x="6171205" y="3822784"/>
            <a:ext cx="178785" cy="178785"/>
          </a:xfrm>
          <a:prstGeom prst="roundRect">
            <a:avLst>
              <a:gd name="adj" fmla="val 18000"/>
            </a:avLst>
          </a:prstGeom>
          <a:solidFill>
            <a:srgbClr val="E9EDF2"/>
          </a:solidFill>
          <a:ln/>
        </p:spPr>
      </p:sp>
      <p:sp>
        <p:nvSpPr>
          <p:cNvPr id="90" name="Shape 88"/>
          <p:cNvSpPr/>
          <p:nvPr/>
        </p:nvSpPr>
        <p:spPr>
          <a:xfrm>
            <a:off x="4208929" y="4040814"/>
            <a:ext cx="178785" cy="178785"/>
          </a:xfrm>
          <a:prstGeom prst="roundRect">
            <a:avLst>
              <a:gd name="adj" fmla="val 18000"/>
            </a:avLst>
          </a:prstGeom>
          <a:solidFill>
            <a:srgbClr val="2E7CF6"/>
          </a:solidFill>
          <a:ln/>
        </p:spPr>
      </p:sp>
      <p:sp>
        <p:nvSpPr>
          <p:cNvPr id="91" name="Shape 89"/>
          <p:cNvSpPr/>
          <p:nvPr/>
        </p:nvSpPr>
        <p:spPr>
          <a:xfrm>
            <a:off x="4426960" y="4040814"/>
            <a:ext cx="178785" cy="178785"/>
          </a:xfrm>
          <a:prstGeom prst="roundRect">
            <a:avLst>
              <a:gd name="adj" fmla="val 18000"/>
            </a:avLst>
          </a:prstGeom>
          <a:solidFill>
            <a:srgbClr val="2E7CF6"/>
          </a:solidFill>
          <a:ln/>
        </p:spPr>
      </p:sp>
      <p:sp>
        <p:nvSpPr>
          <p:cNvPr id="92" name="Shape 90"/>
          <p:cNvSpPr/>
          <p:nvPr/>
        </p:nvSpPr>
        <p:spPr>
          <a:xfrm>
            <a:off x="4644991" y="4040814"/>
            <a:ext cx="178785" cy="178785"/>
          </a:xfrm>
          <a:prstGeom prst="roundRect">
            <a:avLst>
              <a:gd name="adj" fmla="val 18000"/>
            </a:avLst>
          </a:prstGeom>
          <a:solidFill>
            <a:srgbClr val="2E7CF6"/>
          </a:solidFill>
          <a:ln/>
        </p:spPr>
      </p:sp>
      <p:sp>
        <p:nvSpPr>
          <p:cNvPr id="93" name="Shape 91"/>
          <p:cNvSpPr/>
          <p:nvPr/>
        </p:nvSpPr>
        <p:spPr>
          <a:xfrm>
            <a:off x="4863021" y="4040814"/>
            <a:ext cx="178785" cy="178785"/>
          </a:xfrm>
          <a:prstGeom prst="roundRect">
            <a:avLst>
              <a:gd name="adj" fmla="val 18000"/>
            </a:avLst>
          </a:prstGeom>
          <a:solidFill>
            <a:srgbClr val="2E7CF6"/>
          </a:solidFill>
          <a:ln/>
        </p:spPr>
      </p:sp>
      <p:sp>
        <p:nvSpPr>
          <p:cNvPr id="94" name="Shape 92"/>
          <p:cNvSpPr/>
          <p:nvPr/>
        </p:nvSpPr>
        <p:spPr>
          <a:xfrm>
            <a:off x="5081052" y="4040814"/>
            <a:ext cx="178785" cy="178785"/>
          </a:xfrm>
          <a:prstGeom prst="roundRect">
            <a:avLst>
              <a:gd name="adj" fmla="val 18000"/>
            </a:avLst>
          </a:prstGeom>
          <a:solidFill>
            <a:srgbClr val="2E7CF6"/>
          </a:solidFill>
          <a:ln/>
        </p:spPr>
      </p:sp>
      <p:sp>
        <p:nvSpPr>
          <p:cNvPr id="95" name="Shape 93"/>
          <p:cNvSpPr/>
          <p:nvPr/>
        </p:nvSpPr>
        <p:spPr>
          <a:xfrm>
            <a:off x="5299082" y="4040814"/>
            <a:ext cx="178785" cy="178785"/>
          </a:xfrm>
          <a:prstGeom prst="roundRect">
            <a:avLst>
              <a:gd name="adj" fmla="val 18000"/>
            </a:avLst>
          </a:prstGeom>
          <a:solidFill>
            <a:srgbClr val="2E7CF6"/>
          </a:solidFill>
          <a:ln/>
        </p:spPr>
      </p:sp>
      <p:sp>
        <p:nvSpPr>
          <p:cNvPr id="96" name="Shape 94"/>
          <p:cNvSpPr/>
          <p:nvPr/>
        </p:nvSpPr>
        <p:spPr>
          <a:xfrm>
            <a:off x="5517113" y="4040814"/>
            <a:ext cx="178785" cy="178785"/>
          </a:xfrm>
          <a:prstGeom prst="roundRect">
            <a:avLst>
              <a:gd name="adj" fmla="val 18000"/>
            </a:avLst>
          </a:prstGeom>
          <a:solidFill>
            <a:srgbClr val="2E7CF6"/>
          </a:solidFill>
          <a:ln/>
        </p:spPr>
      </p:sp>
      <p:sp>
        <p:nvSpPr>
          <p:cNvPr id="97" name="Shape 95"/>
          <p:cNvSpPr/>
          <p:nvPr/>
        </p:nvSpPr>
        <p:spPr>
          <a:xfrm>
            <a:off x="5735144" y="4040814"/>
            <a:ext cx="178785" cy="178785"/>
          </a:xfrm>
          <a:prstGeom prst="roundRect">
            <a:avLst>
              <a:gd name="adj" fmla="val 18000"/>
            </a:avLst>
          </a:prstGeom>
          <a:solidFill>
            <a:srgbClr val="2E7CF6"/>
          </a:solidFill>
          <a:ln/>
        </p:spPr>
      </p:sp>
      <p:sp>
        <p:nvSpPr>
          <p:cNvPr id="98" name="Shape 96"/>
          <p:cNvSpPr/>
          <p:nvPr/>
        </p:nvSpPr>
        <p:spPr>
          <a:xfrm>
            <a:off x="5953174" y="4040814"/>
            <a:ext cx="178785" cy="178785"/>
          </a:xfrm>
          <a:prstGeom prst="roundRect">
            <a:avLst>
              <a:gd name="adj" fmla="val 18000"/>
            </a:avLst>
          </a:prstGeom>
          <a:solidFill>
            <a:srgbClr val="2E7CF6"/>
          </a:solidFill>
          <a:ln/>
        </p:spPr>
      </p:sp>
      <p:sp>
        <p:nvSpPr>
          <p:cNvPr id="99" name="Shape 97"/>
          <p:cNvSpPr/>
          <p:nvPr/>
        </p:nvSpPr>
        <p:spPr>
          <a:xfrm>
            <a:off x="6171205" y="4040814"/>
            <a:ext cx="178785" cy="178785"/>
          </a:xfrm>
          <a:prstGeom prst="roundRect">
            <a:avLst>
              <a:gd name="adj" fmla="val 18000"/>
            </a:avLst>
          </a:prstGeom>
          <a:solidFill>
            <a:srgbClr val="2E7CF6"/>
          </a:solidFill>
          <a:ln/>
        </p:spPr>
      </p:sp>
      <p:sp>
        <p:nvSpPr>
          <p:cNvPr id="100" name="Shape 98"/>
          <p:cNvSpPr/>
          <p:nvPr/>
        </p:nvSpPr>
        <p:spPr>
          <a:xfrm>
            <a:off x="4208929" y="4258845"/>
            <a:ext cx="178785" cy="178785"/>
          </a:xfrm>
          <a:prstGeom prst="roundRect">
            <a:avLst>
              <a:gd name="adj" fmla="val 18000"/>
            </a:avLst>
          </a:prstGeom>
          <a:solidFill>
            <a:srgbClr val="2E7CF6"/>
          </a:solidFill>
          <a:ln/>
        </p:spPr>
      </p:sp>
      <p:sp>
        <p:nvSpPr>
          <p:cNvPr id="101" name="Shape 99"/>
          <p:cNvSpPr/>
          <p:nvPr/>
        </p:nvSpPr>
        <p:spPr>
          <a:xfrm>
            <a:off x="4426960" y="4258845"/>
            <a:ext cx="178785" cy="178785"/>
          </a:xfrm>
          <a:prstGeom prst="roundRect">
            <a:avLst>
              <a:gd name="adj" fmla="val 18000"/>
            </a:avLst>
          </a:prstGeom>
          <a:solidFill>
            <a:srgbClr val="2E7CF6"/>
          </a:solidFill>
          <a:ln/>
        </p:spPr>
      </p:sp>
      <p:sp>
        <p:nvSpPr>
          <p:cNvPr id="102" name="Shape 100"/>
          <p:cNvSpPr/>
          <p:nvPr/>
        </p:nvSpPr>
        <p:spPr>
          <a:xfrm>
            <a:off x="4644991" y="4258845"/>
            <a:ext cx="178785" cy="178785"/>
          </a:xfrm>
          <a:prstGeom prst="roundRect">
            <a:avLst>
              <a:gd name="adj" fmla="val 18000"/>
            </a:avLst>
          </a:prstGeom>
          <a:solidFill>
            <a:srgbClr val="2E7CF6"/>
          </a:solidFill>
          <a:ln/>
        </p:spPr>
      </p:sp>
      <p:sp>
        <p:nvSpPr>
          <p:cNvPr id="103" name="Shape 101"/>
          <p:cNvSpPr/>
          <p:nvPr/>
        </p:nvSpPr>
        <p:spPr>
          <a:xfrm>
            <a:off x="4863021" y="4258845"/>
            <a:ext cx="178785" cy="178785"/>
          </a:xfrm>
          <a:prstGeom prst="roundRect">
            <a:avLst>
              <a:gd name="adj" fmla="val 18000"/>
            </a:avLst>
          </a:prstGeom>
          <a:solidFill>
            <a:srgbClr val="2E7CF6"/>
          </a:solidFill>
          <a:ln/>
        </p:spPr>
      </p:sp>
      <p:sp>
        <p:nvSpPr>
          <p:cNvPr id="104" name="Shape 102"/>
          <p:cNvSpPr/>
          <p:nvPr/>
        </p:nvSpPr>
        <p:spPr>
          <a:xfrm>
            <a:off x="5081052" y="4258845"/>
            <a:ext cx="178785" cy="178785"/>
          </a:xfrm>
          <a:prstGeom prst="roundRect">
            <a:avLst>
              <a:gd name="adj" fmla="val 18000"/>
            </a:avLst>
          </a:prstGeom>
          <a:solidFill>
            <a:srgbClr val="2E7CF6"/>
          </a:solidFill>
          <a:ln/>
        </p:spPr>
      </p:sp>
      <p:sp>
        <p:nvSpPr>
          <p:cNvPr id="105" name="Shape 103"/>
          <p:cNvSpPr/>
          <p:nvPr/>
        </p:nvSpPr>
        <p:spPr>
          <a:xfrm>
            <a:off x="5299082" y="4258845"/>
            <a:ext cx="178785" cy="178785"/>
          </a:xfrm>
          <a:prstGeom prst="roundRect">
            <a:avLst>
              <a:gd name="adj" fmla="val 18000"/>
            </a:avLst>
          </a:prstGeom>
          <a:solidFill>
            <a:srgbClr val="2E7CF6"/>
          </a:solidFill>
          <a:ln/>
        </p:spPr>
      </p:sp>
      <p:sp>
        <p:nvSpPr>
          <p:cNvPr id="106" name="Shape 104"/>
          <p:cNvSpPr/>
          <p:nvPr/>
        </p:nvSpPr>
        <p:spPr>
          <a:xfrm>
            <a:off x="5517113" y="4258845"/>
            <a:ext cx="178785" cy="178785"/>
          </a:xfrm>
          <a:prstGeom prst="roundRect">
            <a:avLst>
              <a:gd name="adj" fmla="val 18000"/>
            </a:avLst>
          </a:prstGeom>
          <a:solidFill>
            <a:srgbClr val="2E7CF6"/>
          </a:solidFill>
          <a:ln/>
        </p:spPr>
      </p:sp>
      <p:sp>
        <p:nvSpPr>
          <p:cNvPr id="107" name="Shape 105"/>
          <p:cNvSpPr/>
          <p:nvPr/>
        </p:nvSpPr>
        <p:spPr>
          <a:xfrm>
            <a:off x="5735144" y="4258845"/>
            <a:ext cx="178785" cy="178785"/>
          </a:xfrm>
          <a:prstGeom prst="roundRect">
            <a:avLst>
              <a:gd name="adj" fmla="val 18000"/>
            </a:avLst>
          </a:prstGeom>
          <a:solidFill>
            <a:srgbClr val="2E7CF6"/>
          </a:solidFill>
          <a:ln/>
        </p:spPr>
      </p:sp>
      <p:sp>
        <p:nvSpPr>
          <p:cNvPr id="108" name="Shape 106"/>
          <p:cNvSpPr/>
          <p:nvPr/>
        </p:nvSpPr>
        <p:spPr>
          <a:xfrm>
            <a:off x="5953174" y="4258845"/>
            <a:ext cx="178785" cy="178785"/>
          </a:xfrm>
          <a:prstGeom prst="roundRect">
            <a:avLst>
              <a:gd name="adj" fmla="val 18000"/>
            </a:avLst>
          </a:prstGeom>
          <a:solidFill>
            <a:srgbClr val="2E7CF6"/>
          </a:solidFill>
          <a:ln/>
        </p:spPr>
      </p:sp>
      <p:sp>
        <p:nvSpPr>
          <p:cNvPr id="109" name="Shape 107"/>
          <p:cNvSpPr/>
          <p:nvPr/>
        </p:nvSpPr>
        <p:spPr>
          <a:xfrm>
            <a:off x="6171205" y="4258845"/>
            <a:ext cx="178785" cy="178785"/>
          </a:xfrm>
          <a:prstGeom prst="roundRect">
            <a:avLst>
              <a:gd name="adj" fmla="val 18000"/>
            </a:avLst>
          </a:prstGeom>
          <a:solidFill>
            <a:srgbClr val="2E7CF6"/>
          </a:solidFill>
          <a:ln/>
        </p:spPr>
      </p:sp>
      <p:sp>
        <p:nvSpPr>
          <p:cNvPr id="110" name="Shape 108"/>
          <p:cNvSpPr/>
          <p:nvPr/>
        </p:nvSpPr>
        <p:spPr>
          <a:xfrm>
            <a:off x="4208929" y="4476876"/>
            <a:ext cx="178785" cy="178785"/>
          </a:xfrm>
          <a:prstGeom prst="roundRect">
            <a:avLst>
              <a:gd name="adj" fmla="val 18000"/>
            </a:avLst>
          </a:prstGeom>
          <a:solidFill>
            <a:srgbClr val="2E7CF6"/>
          </a:solidFill>
          <a:ln/>
        </p:spPr>
      </p:sp>
      <p:sp>
        <p:nvSpPr>
          <p:cNvPr id="111" name="Shape 109"/>
          <p:cNvSpPr/>
          <p:nvPr/>
        </p:nvSpPr>
        <p:spPr>
          <a:xfrm>
            <a:off x="4426960" y="4476876"/>
            <a:ext cx="178785" cy="178785"/>
          </a:xfrm>
          <a:prstGeom prst="roundRect">
            <a:avLst>
              <a:gd name="adj" fmla="val 18000"/>
            </a:avLst>
          </a:prstGeom>
          <a:solidFill>
            <a:srgbClr val="2E7CF6"/>
          </a:solidFill>
          <a:ln/>
        </p:spPr>
      </p:sp>
      <p:sp>
        <p:nvSpPr>
          <p:cNvPr id="112" name="Shape 110"/>
          <p:cNvSpPr/>
          <p:nvPr/>
        </p:nvSpPr>
        <p:spPr>
          <a:xfrm>
            <a:off x="4644991" y="4476876"/>
            <a:ext cx="178785" cy="178785"/>
          </a:xfrm>
          <a:prstGeom prst="roundRect">
            <a:avLst>
              <a:gd name="adj" fmla="val 18000"/>
            </a:avLst>
          </a:prstGeom>
          <a:solidFill>
            <a:srgbClr val="2E7CF6"/>
          </a:solidFill>
          <a:ln/>
        </p:spPr>
      </p:sp>
      <p:sp>
        <p:nvSpPr>
          <p:cNvPr id="113" name="Shape 111"/>
          <p:cNvSpPr/>
          <p:nvPr/>
        </p:nvSpPr>
        <p:spPr>
          <a:xfrm>
            <a:off x="4863021" y="4476876"/>
            <a:ext cx="178785" cy="178785"/>
          </a:xfrm>
          <a:prstGeom prst="roundRect">
            <a:avLst>
              <a:gd name="adj" fmla="val 18000"/>
            </a:avLst>
          </a:prstGeom>
          <a:solidFill>
            <a:srgbClr val="2E7CF6"/>
          </a:solidFill>
          <a:ln/>
        </p:spPr>
      </p:sp>
      <p:sp>
        <p:nvSpPr>
          <p:cNvPr id="114" name="Shape 112"/>
          <p:cNvSpPr/>
          <p:nvPr/>
        </p:nvSpPr>
        <p:spPr>
          <a:xfrm>
            <a:off x="5081052" y="4476876"/>
            <a:ext cx="178785" cy="178785"/>
          </a:xfrm>
          <a:prstGeom prst="roundRect">
            <a:avLst>
              <a:gd name="adj" fmla="val 18000"/>
            </a:avLst>
          </a:prstGeom>
          <a:solidFill>
            <a:srgbClr val="2E7CF6"/>
          </a:solidFill>
          <a:ln/>
        </p:spPr>
      </p:sp>
      <p:sp>
        <p:nvSpPr>
          <p:cNvPr id="115" name="Shape 113"/>
          <p:cNvSpPr/>
          <p:nvPr/>
        </p:nvSpPr>
        <p:spPr>
          <a:xfrm>
            <a:off x="5299082" y="4476876"/>
            <a:ext cx="178785" cy="178785"/>
          </a:xfrm>
          <a:prstGeom prst="roundRect">
            <a:avLst>
              <a:gd name="adj" fmla="val 18000"/>
            </a:avLst>
          </a:prstGeom>
          <a:solidFill>
            <a:srgbClr val="2E7CF6"/>
          </a:solidFill>
          <a:ln/>
        </p:spPr>
      </p:sp>
      <p:sp>
        <p:nvSpPr>
          <p:cNvPr id="116" name="Shape 114"/>
          <p:cNvSpPr/>
          <p:nvPr/>
        </p:nvSpPr>
        <p:spPr>
          <a:xfrm>
            <a:off x="5517113" y="4476876"/>
            <a:ext cx="178785" cy="178785"/>
          </a:xfrm>
          <a:prstGeom prst="roundRect">
            <a:avLst>
              <a:gd name="adj" fmla="val 18000"/>
            </a:avLst>
          </a:prstGeom>
          <a:solidFill>
            <a:srgbClr val="2E7CF6"/>
          </a:solidFill>
          <a:ln/>
        </p:spPr>
      </p:sp>
      <p:sp>
        <p:nvSpPr>
          <p:cNvPr id="117" name="Shape 115"/>
          <p:cNvSpPr/>
          <p:nvPr/>
        </p:nvSpPr>
        <p:spPr>
          <a:xfrm>
            <a:off x="5735144" y="4476876"/>
            <a:ext cx="178785" cy="178785"/>
          </a:xfrm>
          <a:prstGeom prst="roundRect">
            <a:avLst>
              <a:gd name="adj" fmla="val 18000"/>
            </a:avLst>
          </a:prstGeom>
          <a:solidFill>
            <a:srgbClr val="2E7CF6"/>
          </a:solidFill>
          <a:ln/>
        </p:spPr>
      </p:sp>
      <p:sp>
        <p:nvSpPr>
          <p:cNvPr id="118" name="Shape 116"/>
          <p:cNvSpPr/>
          <p:nvPr/>
        </p:nvSpPr>
        <p:spPr>
          <a:xfrm>
            <a:off x="5953174" y="4476876"/>
            <a:ext cx="178785" cy="178785"/>
          </a:xfrm>
          <a:prstGeom prst="roundRect">
            <a:avLst>
              <a:gd name="adj" fmla="val 18000"/>
            </a:avLst>
          </a:prstGeom>
          <a:solidFill>
            <a:srgbClr val="2E7CF6"/>
          </a:solidFill>
          <a:ln/>
        </p:spPr>
      </p:sp>
      <p:sp>
        <p:nvSpPr>
          <p:cNvPr id="119" name="Shape 117"/>
          <p:cNvSpPr/>
          <p:nvPr/>
        </p:nvSpPr>
        <p:spPr>
          <a:xfrm>
            <a:off x="6171205" y="4476876"/>
            <a:ext cx="178785" cy="178785"/>
          </a:xfrm>
          <a:prstGeom prst="roundRect">
            <a:avLst>
              <a:gd name="adj" fmla="val 18000"/>
            </a:avLst>
          </a:prstGeom>
          <a:solidFill>
            <a:srgbClr val="2E7CF6"/>
          </a:solidFill>
          <a:ln/>
        </p:spPr>
      </p:sp>
      <p:sp>
        <p:nvSpPr>
          <p:cNvPr id="120" name="Text 118"/>
          <p:cNvSpPr/>
          <p:nvPr/>
        </p:nvSpPr>
        <p:spPr>
          <a:xfrm>
            <a:off x="6663556" y="2950661"/>
            <a:ext cx="1509567" cy="731520"/>
          </a:xfrm>
          <a:prstGeom prst="rect">
            <a:avLst/>
          </a:prstGeom>
          <a:noFill/>
          <a:ln/>
        </p:spPr>
        <p:txBody>
          <a:bodyPr wrap="square" lIns="0" tIns="0" rIns="0" bIns="0" rtlCol="0" anchor="ctr"/>
          <a:lstStyle/>
          <a:p>
            <a:pPr indent="0" marL="0">
              <a:buNone/>
            </a:pPr>
            <a:r>
              <a:rPr lang="en-US" sz="4000" b="1" dirty="0">
                <a:solidFill>
                  <a:srgbClr val="1A1A1A"/>
                </a:solidFill>
                <a:latin typeface="Arial" pitchFamily="34" charset="0"/>
                <a:ea typeface="Arial" pitchFamily="34" charset="-122"/>
                <a:cs typeface="Arial" pitchFamily="34" charset="-120"/>
              </a:rPr>
              <a:t>31%</a:t>
            </a:r>
            <a:endParaRPr lang="en-US" sz="4000" dirty="0"/>
          </a:p>
        </p:txBody>
      </p:sp>
      <p:sp>
        <p:nvSpPr>
          <p:cNvPr id="121" name="Text 119"/>
          <p:cNvSpPr/>
          <p:nvPr/>
        </p:nvSpPr>
        <p:spPr>
          <a:xfrm>
            <a:off x="6663556" y="3727901"/>
            <a:ext cx="1509567" cy="914400"/>
          </a:xfrm>
          <a:prstGeom prst="rect">
            <a:avLst/>
          </a:prstGeom>
          <a:noFill/>
          <a:ln/>
        </p:spPr>
        <p:txBody>
          <a:bodyPr wrap="square" lIns="0" tIns="0" rIns="0" bIns="0" rtlCol="0" anchor="t"/>
          <a:lstStyle/>
          <a:p>
            <a:pPr indent="0" marL="0">
              <a:lnSpc>
                <a:spcPct val="115000"/>
              </a:lnSpc>
              <a:buNone/>
            </a:pPr>
            <a:r>
              <a:rPr lang="en-US" sz="1200" dirty="0">
                <a:solidFill>
                  <a:srgbClr val="595959"/>
                </a:solidFill>
                <a:latin typeface="Arial" pitchFamily="34" charset="0"/>
                <a:ea typeface="Arial" pitchFamily="34" charset="-122"/>
                <a:cs typeface="Arial" pitchFamily="34" charset="-120"/>
              </a:rPr>
              <a:t>of installed-base parts spend captured today</a:t>
            </a:r>
            <a:endParaRPr lang="en-US" sz="1200" dirty="0"/>
          </a:p>
        </p:txBody>
      </p:sp>
      <p:sp>
        <p:nvSpPr>
          <p:cNvPr id="122" name="Text 120"/>
          <p:cNvSpPr/>
          <p:nvPr/>
        </p:nvSpPr>
        <p:spPr>
          <a:xfrm>
            <a:off x="8538882" y="1993392"/>
            <a:ext cx="311971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Premium sweet spot</a:t>
            </a:r>
            <a:endParaRPr lang="en-US" sz="1000" dirty="0"/>
          </a:p>
        </p:txBody>
      </p:sp>
      <p:sp>
        <p:nvSpPr>
          <p:cNvPr id="123" name="Shape 121"/>
          <p:cNvSpPr/>
          <p:nvPr/>
        </p:nvSpPr>
        <p:spPr>
          <a:xfrm>
            <a:off x="9142187" y="2135771"/>
            <a:ext cx="1913108" cy="1913108"/>
          </a:xfrm>
          <a:prstGeom prst="ellipse">
            <a:avLst/>
          </a:prstGeom>
          <a:solidFill>
            <a:srgbClr val="2E7CF6">
              <a:alpha val="38000"/>
            </a:srgbClr>
          </a:solidFill>
          <a:ln w="12700">
            <a:solidFill>
              <a:srgbClr val="2E7CF6"/>
            </a:solidFill>
            <a:prstDash val="solid"/>
          </a:ln>
        </p:spPr>
      </p:sp>
      <p:sp>
        <p:nvSpPr>
          <p:cNvPr id="124" name="Shape 122"/>
          <p:cNvSpPr/>
          <p:nvPr/>
        </p:nvSpPr>
        <p:spPr>
          <a:xfrm>
            <a:off x="8596569" y="3084673"/>
            <a:ext cx="1913108" cy="1913108"/>
          </a:xfrm>
          <a:prstGeom prst="ellipse">
            <a:avLst/>
          </a:prstGeom>
          <a:solidFill>
            <a:srgbClr val="76B900">
              <a:alpha val="38000"/>
            </a:srgbClr>
          </a:solidFill>
          <a:ln w="12700">
            <a:solidFill>
              <a:srgbClr val="76B900"/>
            </a:solidFill>
            <a:prstDash val="solid"/>
          </a:ln>
        </p:spPr>
      </p:sp>
      <p:sp>
        <p:nvSpPr>
          <p:cNvPr id="125" name="Shape 123"/>
          <p:cNvSpPr/>
          <p:nvPr/>
        </p:nvSpPr>
        <p:spPr>
          <a:xfrm>
            <a:off x="9687806" y="3084673"/>
            <a:ext cx="1913108" cy="1913108"/>
          </a:xfrm>
          <a:prstGeom prst="ellipse">
            <a:avLst/>
          </a:prstGeom>
          <a:solidFill>
            <a:srgbClr val="F2A900">
              <a:alpha val="38000"/>
            </a:srgbClr>
          </a:solidFill>
          <a:ln w="12700">
            <a:solidFill>
              <a:srgbClr val="F2A900"/>
            </a:solidFill>
            <a:prstDash val="solid"/>
          </a:ln>
        </p:spPr>
      </p:sp>
      <p:sp>
        <p:nvSpPr>
          <p:cNvPr id="126" name="Text 124"/>
          <p:cNvSpPr/>
          <p:nvPr/>
        </p:nvSpPr>
        <p:spPr>
          <a:xfrm>
            <a:off x="9367221" y="3700856"/>
            <a:ext cx="1463040" cy="274320"/>
          </a:xfrm>
          <a:prstGeom prst="rect">
            <a:avLst/>
          </a:prstGeom>
          <a:noFill/>
          <a:ln/>
        </p:spPr>
        <p:txBody>
          <a:bodyPr wrap="square" lIns="0" tIns="0" rIns="0" bIns="0" rtlCol="0" anchor="ctr"/>
          <a:lstStyle/>
          <a:p>
            <a:pPr algn="ctr" indent="0" marL="0">
              <a:buNone/>
            </a:pPr>
            <a:r>
              <a:rPr lang="en-US" sz="1200" b="1" dirty="0">
                <a:solidFill>
                  <a:srgbClr val="1A1A1A"/>
                </a:solidFill>
                <a:latin typeface="Arial" pitchFamily="34" charset="0"/>
                <a:ea typeface="Arial" pitchFamily="34" charset="-122"/>
                <a:cs typeface="Arial" pitchFamily="34" charset="-120"/>
              </a:rPr>
              <a:t>Premium</a:t>
            </a:r>
            <a:endParaRPr lang="en-US" sz="1200" dirty="0"/>
          </a:p>
        </p:txBody>
      </p:sp>
      <p:sp>
        <p:nvSpPr>
          <p:cNvPr id="127" name="Text 125"/>
          <p:cNvSpPr/>
          <p:nvPr/>
        </p:nvSpPr>
        <p:spPr>
          <a:xfrm>
            <a:off x="9184341" y="1861451"/>
            <a:ext cx="1828800" cy="256032"/>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Uptime need</a:t>
            </a:r>
            <a:endParaRPr lang="en-US" sz="1100" dirty="0"/>
          </a:p>
        </p:txBody>
      </p:sp>
      <p:sp>
        <p:nvSpPr>
          <p:cNvPr id="128" name="Text 126"/>
          <p:cNvSpPr/>
          <p:nvPr/>
        </p:nvSpPr>
        <p:spPr>
          <a:xfrm>
            <a:off x="8139369" y="5034356"/>
            <a:ext cx="1828800" cy="256032"/>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Field coverage</a:t>
            </a:r>
            <a:endParaRPr lang="en-US" sz="1100" dirty="0"/>
          </a:p>
        </p:txBody>
      </p:sp>
      <p:sp>
        <p:nvSpPr>
          <p:cNvPr id="129" name="Text 127"/>
          <p:cNvSpPr/>
          <p:nvPr/>
        </p:nvSpPr>
        <p:spPr>
          <a:xfrm>
            <a:off x="10229313" y="5034356"/>
            <a:ext cx="1828800" cy="256032"/>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Usage data</a:t>
            </a:r>
            <a:endParaRPr lang="en-US" sz="1100" dirty="0"/>
          </a:p>
        </p:txBody>
      </p:sp>
      <p:sp>
        <p:nvSpPr>
          <p:cNvPr id="130" name="Text 12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31" name="Text 12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CRAFT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EBITDA bridge to 2029 rests on four positive levers that absorb the planned cannibalization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Waterfall (value bridge) and 2x2 matrix (value vs effort), drawn as native shapes.</a:t>
            </a:r>
            <a:endParaRPr lang="en-US" sz="1350" dirty="0"/>
          </a:p>
        </p:txBody>
      </p:sp>
      <p:sp>
        <p:nvSpPr>
          <p:cNvPr id="6" name="Text 4"/>
          <p:cNvSpPr/>
          <p:nvPr/>
        </p:nvSpPr>
        <p:spPr>
          <a:xfrm>
            <a:off x="502920" y="2039112"/>
            <a:ext cx="625099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EBITDA bridge 2025 -&gt; 2029E, EUR M (base case)</a:t>
            </a:r>
            <a:endParaRPr lang="en-US" sz="1000" dirty="0"/>
          </a:p>
        </p:txBody>
      </p:sp>
      <p:sp>
        <p:nvSpPr>
          <p:cNvPr id="7" name="Shape 5"/>
          <p:cNvSpPr/>
          <p:nvPr/>
        </p:nvSpPr>
        <p:spPr>
          <a:xfrm>
            <a:off x="502920" y="3959393"/>
            <a:ext cx="712732" cy="996655"/>
          </a:xfrm>
          <a:prstGeom prst="rect">
            <a:avLst/>
          </a:prstGeom>
          <a:solidFill>
            <a:srgbClr val="2E7CF6"/>
          </a:solidFill>
          <a:ln/>
        </p:spPr>
      </p:sp>
      <p:sp>
        <p:nvSpPr>
          <p:cNvPr id="8" name="Text 6"/>
          <p:cNvSpPr/>
          <p:nvPr/>
        </p:nvSpPr>
        <p:spPr>
          <a:xfrm>
            <a:off x="365760" y="36850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76</a:t>
            </a:r>
            <a:endParaRPr lang="en-US" sz="1100" dirty="0"/>
          </a:p>
        </p:txBody>
      </p:sp>
      <p:sp>
        <p:nvSpPr>
          <p:cNvPr id="9" name="Text 7"/>
          <p:cNvSpPr/>
          <p:nvPr/>
        </p:nvSpPr>
        <p:spPr>
          <a:xfrm>
            <a:off x="320040"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2025</a:t>
            </a:r>
            <a:endParaRPr lang="en-US" sz="900" dirty="0"/>
          </a:p>
        </p:txBody>
      </p:sp>
      <p:sp>
        <p:nvSpPr>
          <p:cNvPr id="10" name="Shape 8"/>
          <p:cNvSpPr/>
          <p:nvPr/>
        </p:nvSpPr>
        <p:spPr>
          <a:xfrm>
            <a:off x="1215652" y="3959393"/>
            <a:ext cx="164592" cy="0"/>
          </a:xfrm>
          <a:prstGeom prst="line">
            <a:avLst/>
          </a:prstGeom>
          <a:noFill/>
          <a:ln w="9525">
            <a:solidFill>
              <a:srgbClr val="8C8C8C"/>
            </a:solidFill>
            <a:prstDash val="dash"/>
          </a:ln>
        </p:spPr>
      </p:sp>
      <p:sp>
        <p:nvSpPr>
          <p:cNvPr id="11" name="Shape 9"/>
          <p:cNvSpPr/>
          <p:nvPr/>
        </p:nvSpPr>
        <p:spPr>
          <a:xfrm>
            <a:off x="1380244" y="3697115"/>
            <a:ext cx="712732" cy="262278"/>
          </a:xfrm>
          <a:prstGeom prst="rect">
            <a:avLst/>
          </a:prstGeom>
          <a:solidFill>
            <a:srgbClr val="2E7CF6"/>
          </a:solidFill>
          <a:ln/>
        </p:spPr>
      </p:sp>
      <p:sp>
        <p:nvSpPr>
          <p:cNvPr id="12" name="Text 10"/>
          <p:cNvSpPr/>
          <p:nvPr/>
        </p:nvSpPr>
        <p:spPr>
          <a:xfrm>
            <a:off x="1243084" y="3422795"/>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+20</a:t>
            </a:r>
            <a:endParaRPr lang="en-US" sz="1100" dirty="0"/>
          </a:p>
        </p:txBody>
      </p:sp>
      <p:sp>
        <p:nvSpPr>
          <p:cNvPr id="13" name="Text 11"/>
          <p:cNvSpPr/>
          <p:nvPr/>
        </p:nvSpPr>
        <p:spPr>
          <a:xfrm>
            <a:off x="1197364"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Novaserv</a:t>
            </a:r>
            <a:endParaRPr lang="en-US" sz="900" dirty="0"/>
          </a:p>
        </p:txBody>
      </p:sp>
      <p:sp>
        <p:nvSpPr>
          <p:cNvPr id="14" name="Shape 12"/>
          <p:cNvSpPr/>
          <p:nvPr/>
        </p:nvSpPr>
        <p:spPr>
          <a:xfrm>
            <a:off x="2092975" y="3697115"/>
            <a:ext cx="164592" cy="0"/>
          </a:xfrm>
          <a:prstGeom prst="line">
            <a:avLst/>
          </a:prstGeom>
          <a:noFill/>
          <a:ln w="9525">
            <a:solidFill>
              <a:srgbClr val="8C8C8C"/>
            </a:solidFill>
            <a:prstDash val="dash"/>
          </a:ln>
        </p:spPr>
      </p:sp>
      <p:sp>
        <p:nvSpPr>
          <p:cNvPr id="15" name="Shape 13"/>
          <p:cNvSpPr/>
          <p:nvPr/>
        </p:nvSpPr>
        <p:spPr>
          <a:xfrm>
            <a:off x="2257567" y="3251243"/>
            <a:ext cx="712732" cy="445872"/>
          </a:xfrm>
          <a:prstGeom prst="rect">
            <a:avLst/>
          </a:prstGeom>
          <a:solidFill>
            <a:srgbClr val="2E7CF6"/>
          </a:solidFill>
          <a:ln/>
        </p:spPr>
      </p:sp>
      <p:sp>
        <p:nvSpPr>
          <p:cNvPr id="16" name="Text 14"/>
          <p:cNvSpPr/>
          <p:nvPr/>
        </p:nvSpPr>
        <p:spPr>
          <a:xfrm>
            <a:off x="2120407" y="297692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+34</a:t>
            </a:r>
            <a:endParaRPr lang="en-US" sz="1100" dirty="0"/>
          </a:p>
        </p:txBody>
      </p:sp>
      <p:sp>
        <p:nvSpPr>
          <p:cNvPr id="17" name="Text 15"/>
          <p:cNvSpPr/>
          <p:nvPr/>
        </p:nvSpPr>
        <p:spPr>
          <a:xfrm>
            <a:off x="2074687"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Service contracts</a:t>
            </a:r>
            <a:endParaRPr lang="en-US" sz="900" dirty="0"/>
          </a:p>
        </p:txBody>
      </p:sp>
      <p:sp>
        <p:nvSpPr>
          <p:cNvPr id="18" name="Shape 16"/>
          <p:cNvSpPr/>
          <p:nvPr/>
        </p:nvSpPr>
        <p:spPr>
          <a:xfrm>
            <a:off x="2970299" y="3251243"/>
            <a:ext cx="164592" cy="0"/>
          </a:xfrm>
          <a:prstGeom prst="line">
            <a:avLst/>
          </a:prstGeom>
          <a:noFill/>
          <a:ln w="9525">
            <a:solidFill>
              <a:srgbClr val="8C8C8C"/>
            </a:solidFill>
            <a:prstDash val="dash"/>
          </a:ln>
        </p:spPr>
      </p:sp>
      <p:sp>
        <p:nvSpPr>
          <p:cNvPr id="19" name="Shape 17"/>
          <p:cNvSpPr/>
          <p:nvPr/>
        </p:nvSpPr>
        <p:spPr>
          <a:xfrm>
            <a:off x="3134891" y="3015193"/>
            <a:ext cx="712732" cy="236050"/>
          </a:xfrm>
          <a:prstGeom prst="rect">
            <a:avLst/>
          </a:prstGeom>
          <a:solidFill>
            <a:srgbClr val="2E7CF6"/>
          </a:solidFill>
          <a:ln/>
        </p:spPr>
      </p:sp>
      <p:sp>
        <p:nvSpPr>
          <p:cNvPr id="20" name="Text 18"/>
          <p:cNvSpPr/>
          <p:nvPr/>
        </p:nvSpPr>
        <p:spPr>
          <a:xfrm>
            <a:off x="2997731" y="27408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+18</a:t>
            </a:r>
            <a:endParaRPr lang="en-US" sz="1100" dirty="0"/>
          </a:p>
        </p:txBody>
      </p:sp>
      <p:sp>
        <p:nvSpPr>
          <p:cNvPr id="21" name="Text 19"/>
          <p:cNvSpPr/>
          <p:nvPr/>
        </p:nvSpPr>
        <p:spPr>
          <a:xfrm>
            <a:off x="2952011"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Parts capture</a:t>
            </a:r>
            <a:endParaRPr lang="en-US" sz="900" dirty="0"/>
          </a:p>
        </p:txBody>
      </p:sp>
      <p:sp>
        <p:nvSpPr>
          <p:cNvPr id="22" name="Shape 20"/>
          <p:cNvSpPr/>
          <p:nvPr/>
        </p:nvSpPr>
        <p:spPr>
          <a:xfrm>
            <a:off x="3847623" y="3015193"/>
            <a:ext cx="164592" cy="0"/>
          </a:xfrm>
          <a:prstGeom prst="line">
            <a:avLst/>
          </a:prstGeom>
          <a:noFill/>
          <a:ln w="9525">
            <a:solidFill>
              <a:srgbClr val="8C8C8C"/>
            </a:solidFill>
            <a:prstDash val="dash"/>
          </a:ln>
        </p:spPr>
      </p:sp>
      <p:sp>
        <p:nvSpPr>
          <p:cNvPr id="23" name="Shape 21"/>
          <p:cNvSpPr/>
          <p:nvPr/>
        </p:nvSpPr>
        <p:spPr>
          <a:xfrm>
            <a:off x="4012215" y="2857827"/>
            <a:ext cx="712732" cy="157367"/>
          </a:xfrm>
          <a:prstGeom prst="rect">
            <a:avLst/>
          </a:prstGeom>
          <a:solidFill>
            <a:srgbClr val="2E7CF6"/>
          </a:solidFill>
          <a:ln/>
        </p:spPr>
      </p:sp>
      <p:sp>
        <p:nvSpPr>
          <p:cNvPr id="24" name="Text 22"/>
          <p:cNvSpPr/>
          <p:nvPr/>
        </p:nvSpPr>
        <p:spPr>
          <a:xfrm>
            <a:off x="3875055"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+12</a:t>
            </a:r>
            <a:endParaRPr lang="en-US" sz="1100" dirty="0"/>
          </a:p>
        </p:txBody>
      </p:sp>
      <p:sp>
        <p:nvSpPr>
          <p:cNvPr id="25" name="Text 23"/>
          <p:cNvSpPr/>
          <p:nvPr/>
        </p:nvSpPr>
        <p:spPr>
          <a:xfrm>
            <a:off x="3829335"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Predictive premium</a:t>
            </a:r>
            <a:endParaRPr lang="en-US" sz="900" dirty="0"/>
          </a:p>
        </p:txBody>
      </p:sp>
      <p:sp>
        <p:nvSpPr>
          <p:cNvPr id="26" name="Shape 24"/>
          <p:cNvSpPr/>
          <p:nvPr/>
        </p:nvSpPr>
        <p:spPr>
          <a:xfrm>
            <a:off x="4724947" y="2857827"/>
            <a:ext cx="164592" cy="0"/>
          </a:xfrm>
          <a:prstGeom prst="line">
            <a:avLst/>
          </a:prstGeom>
          <a:noFill/>
          <a:ln w="9525">
            <a:solidFill>
              <a:srgbClr val="8C8C8C"/>
            </a:solidFill>
            <a:prstDash val="dash"/>
          </a:ln>
        </p:spPr>
      </p:sp>
      <p:sp>
        <p:nvSpPr>
          <p:cNvPr id="27" name="Shape 25"/>
          <p:cNvSpPr/>
          <p:nvPr/>
        </p:nvSpPr>
        <p:spPr>
          <a:xfrm>
            <a:off x="4889539" y="2857827"/>
            <a:ext cx="712732" cy="104911"/>
          </a:xfrm>
          <a:prstGeom prst="rect">
            <a:avLst/>
          </a:prstGeom>
          <a:solidFill>
            <a:srgbClr val="ABAFB3"/>
          </a:solidFill>
          <a:ln/>
        </p:spPr>
      </p:sp>
      <p:sp>
        <p:nvSpPr>
          <p:cNvPr id="28" name="Text 26"/>
          <p:cNvSpPr/>
          <p:nvPr/>
        </p:nvSpPr>
        <p:spPr>
          <a:xfrm>
            <a:off x="4752379"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-8</a:t>
            </a:r>
            <a:endParaRPr lang="en-US" sz="1100" dirty="0"/>
          </a:p>
        </p:txBody>
      </p:sp>
      <p:sp>
        <p:nvSpPr>
          <p:cNvPr id="29" name="Text 27"/>
          <p:cNvSpPr/>
          <p:nvPr/>
        </p:nvSpPr>
        <p:spPr>
          <a:xfrm>
            <a:off x="4706659"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Cannibalization</a:t>
            </a:r>
            <a:endParaRPr lang="en-US" sz="900" dirty="0"/>
          </a:p>
        </p:txBody>
      </p:sp>
      <p:sp>
        <p:nvSpPr>
          <p:cNvPr id="30" name="Shape 28"/>
          <p:cNvSpPr/>
          <p:nvPr/>
        </p:nvSpPr>
        <p:spPr>
          <a:xfrm>
            <a:off x="5602270" y="2962738"/>
            <a:ext cx="164592" cy="0"/>
          </a:xfrm>
          <a:prstGeom prst="line">
            <a:avLst/>
          </a:prstGeom>
          <a:noFill/>
          <a:ln w="9525">
            <a:solidFill>
              <a:srgbClr val="8C8C8C"/>
            </a:solidFill>
            <a:prstDash val="dash"/>
          </a:ln>
        </p:spPr>
      </p:sp>
      <p:sp>
        <p:nvSpPr>
          <p:cNvPr id="31" name="Shape 29"/>
          <p:cNvSpPr/>
          <p:nvPr/>
        </p:nvSpPr>
        <p:spPr>
          <a:xfrm>
            <a:off x="5766862" y="2962738"/>
            <a:ext cx="712732" cy="1993310"/>
          </a:xfrm>
          <a:prstGeom prst="rect">
            <a:avLst/>
          </a:prstGeom>
          <a:solidFill>
            <a:srgbClr val="2E7CF6"/>
          </a:solidFill>
          <a:ln/>
        </p:spPr>
      </p:sp>
      <p:sp>
        <p:nvSpPr>
          <p:cNvPr id="32" name="Text 30"/>
          <p:cNvSpPr/>
          <p:nvPr/>
        </p:nvSpPr>
        <p:spPr>
          <a:xfrm>
            <a:off x="5629702" y="2688418"/>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152</a:t>
            </a:r>
            <a:endParaRPr lang="en-US" sz="1100" dirty="0"/>
          </a:p>
        </p:txBody>
      </p:sp>
      <p:sp>
        <p:nvSpPr>
          <p:cNvPr id="33" name="Text 31"/>
          <p:cNvSpPr/>
          <p:nvPr/>
        </p:nvSpPr>
        <p:spPr>
          <a:xfrm>
            <a:off x="5583982"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2029</a:t>
            </a:r>
            <a:endParaRPr lang="en-US" sz="900" dirty="0"/>
          </a:p>
        </p:txBody>
      </p:sp>
      <p:sp>
        <p:nvSpPr>
          <p:cNvPr id="34" name="Text 32"/>
          <p:cNvSpPr/>
          <p:nvPr/>
        </p:nvSpPr>
        <p:spPr>
          <a:xfrm>
            <a:off x="7028234" y="2039112"/>
            <a:ext cx="463036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Initiatives: value created vs delivery effort</a:t>
            </a:r>
            <a:endParaRPr lang="en-US" sz="1000" dirty="0"/>
          </a:p>
        </p:txBody>
      </p:sp>
      <p:sp>
        <p:nvSpPr>
          <p:cNvPr id="35" name="Shape 33"/>
          <p:cNvSpPr/>
          <p:nvPr/>
        </p:nvSpPr>
        <p:spPr>
          <a:xfrm>
            <a:off x="7714034" y="2514600"/>
            <a:ext cx="3624526" cy="2532888"/>
          </a:xfrm>
          <a:prstGeom prst="rect">
            <a:avLst/>
          </a:prstGeom>
          <a:solidFill>
            <a:srgbClr val="FFFFFF"/>
          </a:solidFill>
          <a:ln w="12700">
            <a:solidFill>
              <a:srgbClr val="CFCFCF"/>
            </a:solidFill>
            <a:prstDash val="solid"/>
          </a:ln>
        </p:spPr>
      </p:sp>
      <p:sp>
        <p:nvSpPr>
          <p:cNvPr id="36" name="Shape 34"/>
          <p:cNvSpPr/>
          <p:nvPr/>
        </p:nvSpPr>
        <p:spPr>
          <a:xfrm>
            <a:off x="9526297" y="2514600"/>
            <a:ext cx="0" cy="2532888"/>
          </a:xfrm>
          <a:prstGeom prst="line">
            <a:avLst/>
          </a:prstGeom>
          <a:noFill/>
          <a:ln w="9525">
            <a:solidFill>
              <a:srgbClr val="CFCFCF"/>
            </a:solidFill>
            <a:prstDash val="solid"/>
          </a:ln>
        </p:spPr>
      </p:sp>
      <p:sp>
        <p:nvSpPr>
          <p:cNvPr id="37" name="Shape 35"/>
          <p:cNvSpPr/>
          <p:nvPr/>
        </p:nvSpPr>
        <p:spPr>
          <a:xfrm>
            <a:off x="7714034" y="3781044"/>
            <a:ext cx="3624526" cy="0"/>
          </a:xfrm>
          <a:prstGeom prst="line">
            <a:avLst/>
          </a:prstGeom>
          <a:noFill/>
          <a:ln w="9525">
            <a:solidFill>
              <a:srgbClr val="CFCFCF"/>
            </a:solidFill>
            <a:prstDash val="solid"/>
          </a:ln>
        </p:spPr>
      </p:sp>
      <p:sp>
        <p:nvSpPr>
          <p:cNvPr id="38" name="Text 36"/>
          <p:cNvSpPr/>
          <p:nvPr/>
        </p:nvSpPr>
        <p:spPr>
          <a:xfrm rot="16200000">
            <a:off x="6154982" y="3643884"/>
            <a:ext cx="2532888" cy="27432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Value created</a:t>
            </a:r>
            <a:endParaRPr lang="en-US" sz="900" dirty="0"/>
          </a:p>
        </p:txBody>
      </p:sp>
      <p:sp>
        <p:nvSpPr>
          <p:cNvPr id="39" name="Text 37"/>
          <p:cNvSpPr/>
          <p:nvPr/>
        </p:nvSpPr>
        <p:spPr>
          <a:xfrm>
            <a:off x="7714034" y="5102352"/>
            <a:ext cx="3624526" cy="22860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Delivery effort</a:t>
            </a:r>
            <a:endParaRPr lang="en-US" sz="900" dirty="0"/>
          </a:p>
        </p:txBody>
      </p:sp>
      <p:sp>
        <p:nvSpPr>
          <p:cNvPr id="40" name="Shape 38"/>
          <p:cNvSpPr/>
          <p:nvPr/>
        </p:nvSpPr>
        <p:spPr>
          <a:xfrm>
            <a:off x="8392558" y="2851648"/>
            <a:ext cx="237744" cy="237744"/>
          </a:xfrm>
          <a:prstGeom prst="ellipse">
            <a:avLst/>
          </a:prstGeom>
          <a:solidFill>
            <a:srgbClr val="2E7CF6"/>
          </a:solidFill>
          <a:ln/>
        </p:spPr>
      </p:sp>
      <p:sp>
        <p:nvSpPr>
          <p:cNvPr id="41" name="Text 39"/>
          <p:cNvSpPr/>
          <p:nvPr/>
        </p:nvSpPr>
        <p:spPr>
          <a:xfrm>
            <a:off x="8685166" y="2824216"/>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Std contracts</a:t>
            </a:r>
            <a:endParaRPr lang="en-US" sz="1000" dirty="0"/>
          </a:p>
        </p:txBody>
      </p:sp>
      <p:sp>
        <p:nvSpPr>
          <p:cNvPr id="42" name="Shape 40"/>
          <p:cNvSpPr/>
          <p:nvPr/>
        </p:nvSpPr>
        <p:spPr>
          <a:xfrm>
            <a:off x="9588651" y="2649017"/>
            <a:ext cx="237744" cy="237744"/>
          </a:xfrm>
          <a:prstGeom prst="ellipse">
            <a:avLst/>
          </a:prstGeom>
          <a:solidFill>
            <a:srgbClr val="2E7CF6"/>
          </a:solidFill>
          <a:ln/>
        </p:spPr>
      </p:sp>
      <p:sp>
        <p:nvSpPr>
          <p:cNvPr id="43" name="Text 41"/>
          <p:cNvSpPr/>
          <p:nvPr/>
        </p:nvSpPr>
        <p:spPr>
          <a:xfrm>
            <a:off x="9881259" y="2621585"/>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Premium</a:t>
            </a:r>
            <a:endParaRPr lang="en-US" sz="1000" dirty="0"/>
          </a:p>
        </p:txBody>
      </p:sp>
      <p:sp>
        <p:nvSpPr>
          <p:cNvPr id="44" name="Shape 42"/>
          <p:cNvSpPr/>
          <p:nvPr/>
        </p:nvSpPr>
        <p:spPr>
          <a:xfrm>
            <a:off x="8682520" y="3788816"/>
            <a:ext cx="237744" cy="237744"/>
          </a:xfrm>
          <a:prstGeom prst="ellipse">
            <a:avLst/>
          </a:prstGeom>
          <a:solidFill>
            <a:srgbClr val="2E7CF6"/>
          </a:solidFill>
          <a:ln/>
        </p:spPr>
      </p:sp>
      <p:sp>
        <p:nvSpPr>
          <p:cNvPr id="45" name="Text 43"/>
          <p:cNvSpPr/>
          <p:nvPr/>
        </p:nvSpPr>
        <p:spPr>
          <a:xfrm>
            <a:off x="8975128" y="3761384"/>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Parts hubs</a:t>
            </a:r>
            <a:endParaRPr lang="en-US" sz="1000" dirty="0"/>
          </a:p>
        </p:txBody>
      </p:sp>
      <p:sp>
        <p:nvSpPr>
          <p:cNvPr id="46" name="Shape 44"/>
          <p:cNvSpPr/>
          <p:nvPr/>
        </p:nvSpPr>
        <p:spPr>
          <a:xfrm>
            <a:off x="10422292" y="3358225"/>
            <a:ext cx="237744" cy="237744"/>
          </a:xfrm>
          <a:prstGeom prst="ellipse">
            <a:avLst/>
          </a:prstGeom>
          <a:solidFill>
            <a:srgbClr val="2E7CF6"/>
          </a:solidFill>
          <a:ln/>
        </p:spPr>
      </p:sp>
      <p:sp>
        <p:nvSpPr>
          <p:cNvPr id="47" name="Text 45"/>
          <p:cNvSpPr/>
          <p:nvPr/>
        </p:nvSpPr>
        <p:spPr>
          <a:xfrm>
            <a:off x="10714900" y="3330793"/>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Novaserv</a:t>
            </a:r>
            <a:endParaRPr lang="en-US" sz="1000" dirty="0"/>
          </a:p>
        </p:txBody>
      </p:sp>
      <p:sp>
        <p:nvSpPr>
          <p:cNvPr id="48" name="Shape 46"/>
          <p:cNvSpPr/>
          <p:nvPr/>
        </p:nvSpPr>
        <p:spPr>
          <a:xfrm>
            <a:off x="10132330" y="4295394"/>
            <a:ext cx="237744" cy="237744"/>
          </a:xfrm>
          <a:prstGeom prst="ellipse">
            <a:avLst/>
          </a:prstGeom>
          <a:solidFill>
            <a:srgbClr val="2E7CF6"/>
          </a:solidFill>
          <a:ln/>
        </p:spPr>
      </p:sp>
      <p:sp>
        <p:nvSpPr>
          <p:cNvPr id="49" name="Text 47"/>
          <p:cNvSpPr/>
          <p:nvPr/>
        </p:nvSpPr>
        <p:spPr>
          <a:xfrm>
            <a:off x="10424938" y="426796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Benelux ext.</a:t>
            </a:r>
            <a:endParaRPr lang="en-US" sz="1000" dirty="0"/>
          </a:p>
        </p:txBody>
      </p:sp>
      <p:sp>
        <p:nvSpPr>
          <p:cNvPr id="50" name="Text 4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51" name="Text 4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THE PROGRAM IN FOUR NUMBERS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EBITDA doubles by 2029, on assets already paid for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SOGRAD~1D5FCC~14438F~90"/>
          <p:cNvSpPr/>
          <p:nvPr/>
        </p:nvSpPr>
        <p:spPr>
          <a:xfrm>
            <a:off x="50292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6" name="Text 4"/>
          <p:cNvSpPr/>
          <p:nvPr/>
        </p:nvSpPr>
        <p:spPr>
          <a:xfrm>
            <a:off x="64922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x2</a:t>
            </a:r>
            <a:endParaRPr lang="en-US" sz="3000" dirty="0"/>
          </a:p>
        </p:txBody>
      </p:sp>
      <p:sp>
        <p:nvSpPr>
          <p:cNvPr id="7" name="Text 5"/>
          <p:cNvSpPr/>
          <p:nvPr/>
        </p:nvSpPr>
        <p:spPr>
          <a:xfrm>
            <a:off x="64922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EBITDA by 2029 (76 -&gt; 152 EUR M, base case)</a:t>
            </a:r>
            <a:endParaRPr lang="en-US" sz="1050" dirty="0"/>
          </a:p>
        </p:txBody>
      </p:sp>
      <p:sp>
        <p:nvSpPr>
          <p:cNvPr id="8" name="SOGRAD~1D5FCC~14438F~90"/>
          <p:cNvSpPr/>
          <p:nvPr/>
        </p:nvSpPr>
        <p:spPr>
          <a:xfrm>
            <a:off x="333756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9" name="Text 7"/>
          <p:cNvSpPr/>
          <p:nvPr/>
        </p:nvSpPr>
        <p:spPr>
          <a:xfrm>
            <a:off x="348386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26%</a:t>
            </a:r>
            <a:endParaRPr lang="en-US" sz="3000" dirty="0"/>
          </a:p>
        </p:txBody>
      </p:sp>
      <p:sp>
        <p:nvSpPr>
          <p:cNvPr id="10" name="Text 8"/>
          <p:cNvSpPr/>
          <p:nvPr/>
        </p:nvSpPr>
        <p:spPr>
          <a:xfrm>
            <a:off x="348386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pilot attach rate (break-even: 14%)</a:t>
            </a:r>
            <a:endParaRPr lang="en-US" sz="1050" dirty="0"/>
          </a:p>
        </p:txBody>
      </p:sp>
      <p:sp>
        <p:nvSpPr>
          <p:cNvPr id="11" name="SOGRAD~1D5FCC~14438F~90"/>
          <p:cNvSpPr/>
          <p:nvPr/>
        </p:nvSpPr>
        <p:spPr>
          <a:xfrm>
            <a:off x="617220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2" name="Text 10"/>
          <p:cNvSpPr/>
          <p:nvPr/>
        </p:nvSpPr>
        <p:spPr>
          <a:xfrm>
            <a:off x="631850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EUR 100M</a:t>
            </a:r>
            <a:endParaRPr lang="en-US" sz="3000" dirty="0"/>
          </a:p>
        </p:txBody>
      </p:sp>
      <p:sp>
        <p:nvSpPr>
          <p:cNvPr id="13" name="Text 11"/>
          <p:cNvSpPr/>
          <p:nvPr/>
        </p:nvSpPr>
        <p:spPr>
          <a:xfrm>
            <a:off x="631850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capturable revenue on the existing base</a:t>
            </a:r>
            <a:endParaRPr lang="en-US" sz="1050" dirty="0"/>
          </a:p>
        </p:txBody>
      </p:sp>
      <p:sp>
        <p:nvSpPr>
          <p:cNvPr id="14" name="SOGRAD~1D5FCC~14438F~90"/>
          <p:cNvSpPr/>
          <p:nvPr/>
        </p:nvSpPr>
        <p:spPr>
          <a:xfrm>
            <a:off x="900684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5" name="Text 13"/>
          <p:cNvSpPr/>
          <p:nvPr/>
        </p:nvSpPr>
        <p:spPr>
          <a:xfrm>
            <a:off x="915314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94%</a:t>
            </a:r>
            <a:endParaRPr lang="en-US" sz="3000" dirty="0"/>
          </a:p>
        </p:txBody>
      </p:sp>
      <p:sp>
        <p:nvSpPr>
          <p:cNvPr id="16" name="Text 14"/>
          <p:cNvSpPr/>
          <p:nvPr/>
        </p:nvSpPr>
        <p:spPr>
          <a:xfrm>
            <a:off x="915314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field coverage within 2 hours</a:t>
            </a:r>
            <a:endParaRPr lang="en-US" sz="1050" dirty="0"/>
          </a:p>
        </p:txBody>
      </p:sp>
      <p:sp>
        <p:nvSpPr>
          <p:cNvPr id="17" name="Text 15"/>
          <p:cNvSpPr/>
          <p:nvPr/>
        </p:nvSpPr>
        <p:spPr>
          <a:xfrm>
            <a:off x="502920" y="4663440"/>
            <a:ext cx="11155680" cy="45720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Dark KPI strip: native gradient tiles (effects.py) + subtle glow on the figures — reserved for the numbers that carry the story.</a:t>
            </a:r>
            <a:endParaRPr lang="en-US" sz="1250" dirty="0"/>
          </a:p>
        </p:txBody>
      </p:sp>
      <p:sp>
        <p:nvSpPr>
          <p:cNvPr id="18" name="Text 1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9" name="Text 1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ICON COLUMNS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levers carry the program, each with one owner and one number to watch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Icon columns with the BUNDLED icon set (137 icons, tinted to the brand accent, zero extra dependency).</a:t>
            </a:r>
            <a:endParaRPr lang="en-US" sz="1350" dirty="0"/>
          </a:p>
        </p:txBody>
      </p:sp>
      <p:pic>
        <p:nvPicPr>
          <p:cNvPr id="6" name="Image 0" descr="/Users/othmane_benkirane/.claude/skills/sprintospptx-v3/examples/gd-assets/FaClipboardCheck-1D5FCC-256.png">    </p:cNvPr>
          <p:cNvPicPr>
            <a:picLocks noChangeAspect="1"/>
          </p:cNvPicPr>
          <p:nvPr/>
        </p:nvPicPr>
        <p:blipFill>
          <a:blip r:embed="rId1"/>
          <a:stretch>
            <a:fillRect/>
          </a:stretch>
        </p:blipFill>
        <p:spPr>
          <a:xfrm>
            <a:off x="1565910" y="2194560"/>
            <a:ext cx="457200" cy="457200"/>
          </a:xfrm>
          <a:prstGeom prst="rect">
            <a:avLst/>
          </a:prstGeom>
        </p:spPr>
      </p:pic>
      <p:sp>
        <p:nvSpPr>
          <p:cNvPr id="7" name="Text 4"/>
          <p:cNvSpPr/>
          <p:nvPr/>
        </p:nvSpPr>
        <p:spPr>
          <a:xfrm>
            <a:off x="5029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Contract attach</a:t>
            </a:r>
            <a:endParaRPr lang="en-US" sz="1300" dirty="0"/>
          </a:p>
        </p:txBody>
      </p:sp>
      <p:sp>
        <p:nvSpPr>
          <p:cNvPr id="8" name="Text 5"/>
          <p:cNvSpPr/>
          <p:nvPr/>
        </p:nvSpPr>
        <p:spPr>
          <a:xfrm>
            <a:off x="5029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Every equipment sale carries a 5-year service contract offer. The pilot converts 26% of the installed base approached, against a 14% break-even.</a:t>
            </a:r>
            <a:endParaRPr lang="en-US" sz="1100" dirty="0"/>
          </a:p>
        </p:txBody>
      </p:sp>
      <p:pic>
        <p:nvPicPr>
          <p:cNvPr id="9" name="Image 1" descr="/Users/othmane_benkirane/.claude/skills/sprintospptx-v3/examples/gd-assets/FaDatabase-1D5FCC-256.png">    </p:cNvPr>
          <p:cNvPicPr>
            <a:picLocks noChangeAspect="1"/>
          </p:cNvPicPr>
          <p:nvPr/>
        </p:nvPicPr>
        <p:blipFill>
          <a:blip r:embed="rId2"/>
          <a:stretch>
            <a:fillRect/>
          </a:stretch>
        </p:blipFill>
        <p:spPr>
          <a:xfrm>
            <a:off x="4423410" y="2194560"/>
            <a:ext cx="457200" cy="457200"/>
          </a:xfrm>
          <a:prstGeom prst="rect">
            <a:avLst/>
          </a:prstGeom>
        </p:spPr>
      </p:pic>
      <p:sp>
        <p:nvSpPr>
          <p:cNvPr id="10" name="Text 6"/>
          <p:cNvSpPr/>
          <p:nvPr/>
        </p:nvSpPr>
        <p:spPr>
          <a:xfrm>
            <a:off x="33604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Usage data</a:t>
            </a:r>
            <a:endParaRPr lang="en-US" sz="1300" dirty="0"/>
          </a:p>
        </p:txBody>
      </p:sp>
      <p:sp>
        <p:nvSpPr>
          <p:cNvPr id="11" name="Text 7"/>
          <p:cNvSpPr/>
          <p:nvPr/>
        </p:nvSpPr>
        <p:spPr>
          <a:xfrm>
            <a:off x="33604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6,800 connected sites feed the predictive models: 38% of failures are flagged 90 days ahead, cutting intervention costs by 22%.</a:t>
            </a:r>
            <a:endParaRPr lang="en-US" sz="1100" dirty="0"/>
          </a:p>
        </p:txBody>
      </p:sp>
      <p:pic>
        <p:nvPicPr>
          <p:cNvPr id="12" name="Image 2" descr="/Users/othmane_benkirane/.claude/skills/sprintospptx-v3/examples/gd-assets/FaUsers-1D5FCC-256.png">    </p:cNvPr>
          <p:cNvPicPr>
            <a:picLocks noChangeAspect="1"/>
          </p:cNvPicPr>
          <p:nvPr/>
        </p:nvPicPr>
        <p:blipFill>
          <a:blip r:embed="rId3"/>
          <a:stretch>
            <a:fillRect/>
          </a:stretch>
        </p:blipFill>
        <p:spPr>
          <a:xfrm>
            <a:off x="7280910" y="2194560"/>
            <a:ext cx="457200" cy="457200"/>
          </a:xfrm>
          <a:prstGeom prst="rect">
            <a:avLst/>
          </a:prstGeom>
        </p:spPr>
      </p:pic>
      <p:sp>
        <p:nvSpPr>
          <p:cNvPr id="13" name="Text 8"/>
          <p:cNvSpPr/>
          <p:nvPr/>
        </p:nvSpPr>
        <p:spPr>
          <a:xfrm>
            <a:off x="62179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People</a:t>
            </a:r>
            <a:endParaRPr lang="en-US" sz="1300" dirty="0"/>
          </a:p>
        </p:txBody>
      </p:sp>
      <p:sp>
        <p:nvSpPr>
          <p:cNvPr id="14" name="Text 9"/>
          <p:cNvSpPr/>
          <p:nvPr/>
        </p:nvSpPr>
        <p:spPr>
          <a:xfrm>
            <a:off x="62179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300 technicians move to predictive maintenance by 2028, with an expert track and a certification bonus to hold attrition under 6%.</a:t>
            </a:r>
            <a:endParaRPr lang="en-US" sz="1100" dirty="0"/>
          </a:p>
        </p:txBody>
      </p:sp>
      <p:pic>
        <p:nvPicPr>
          <p:cNvPr id="15" name="Image 3" descr="/Users/othmane_benkirane/.claude/skills/sprintospptx-v3/examples/gd-assets/FaTruck-1D5FCC-256.png">    </p:cNvPr>
          <p:cNvPicPr>
            <a:picLocks noChangeAspect="1"/>
          </p:cNvPicPr>
          <p:nvPr/>
        </p:nvPicPr>
        <p:blipFill>
          <a:blip r:embed="rId4"/>
          <a:stretch>
            <a:fillRect/>
          </a:stretch>
        </p:blipFill>
        <p:spPr>
          <a:xfrm>
            <a:off x="10138410" y="2194560"/>
            <a:ext cx="457200" cy="457200"/>
          </a:xfrm>
          <a:prstGeom prst="rect">
            <a:avLst/>
          </a:prstGeom>
        </p:spPr>
      </p:pic>
      <p:sp>
        <p:nvSpPr>
          <p:cNvPr id="16" name="Text 10"/>
          <p:cNvSpPr/>
          <p:nvPr/>
        </p:nvSpPr>
        <p:spPr>
          <a:xfrm>
            <a:off x="90754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Parts logistics</a:t>
            </a:r>
            <a:endParaRPr lang="en-US" sz="1300" dirty="0"/>
          </a:p>
        </p:txBody>
      </p:sp>
      <p:sp>
        <p:nvSpPr>
          <p:cNvPr id="17" name="Text 11"/>
          <p:cNvSpPr/>
          <p:nvPr/>
        </p:nvSpPr>
        <p:spPr>
          <a:xfrm>
            <a:off x="90754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Forward stock in 12 regional hubs brings next-day delivery to 94% of the base, the argument that beats independent maintainers.</a:t>
            </a:r>
            <a:endParaRPr lang="en-US" sz="1100" dirty="0"/>
          </a:p>
        </p:txBody>
      </p:sp>
      <p:sp>
        <p:nvSpPr>
          <p:cNvPr id="18" name="Shape 12"/>
          <p:cNvSpPr/>
          <p:nvPr/>
        </p:nvSpPr>
        <p:spPr>
          <a:xfrm>
            <a:off x="502920" y="5779008"/>
            <a:ext cx="11155680" cy="548640"/>
          </a:xfrm>
          <a:prstGeom prst="rect">
            <a:avLst/>
          </a:prstGeom>
          <a:solidFill>
            <a:srgbClr val="EFF4FE"/>
          </a:solidFill>
          <a:ln w="6350">
            <a:solidFill>
              <a:srgbClr val="CFCFCF"/>
            </a:solidFill>
            <a:prstDash val="solid"/>
          </a:ln>
        </p:spPr>
      </p:sp>
      <p:sp>
        <p:nvSpPr>
          <p:cNvPr id="19" name="Shape 13"/>
          <p:cNvSpPr/>
          <p:nvPr/>
        </p:nvSpPr>
        <p:spPr>
          <a:xfrm>
            <a:off x="502920" y="5779008"/>
            <a:ext cx="73152" cy="548640"/>
          </a:xfrm>
          <a:prstGeom prst="rect">
            <a:avLst/>
          </a:prstGeom>
          <a:solidFill>
            <a:srgbClr val="2E7CF6"/>
          </a:solidFill>
          <a:ln/>
        </p:spPr>
      </p:sp>
      <p:sp>
        <p:nvSpPr>
          <p:cNvPr id="20" name="Text 1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Key takeaway: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One owner per lever, one metric per owner: the program reviews four numbers, not forty.</a:t>
            </a:r>
            <a:endParaRPr lang="en-US" sz="1200" dirty="0"/>
          </a:p>
        </p:txBody>
      </p:sp>
      <p:sp>
        <p:nvSpPr>
          <p:cNvPr id="21" name="Text 1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2" name="Text 1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DELIVERY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integrated plan holds on wave 1; training is the only workstream behind the curve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Gantt (integrated plan), harvey balls (delivery confidence), progress bars and RAG dots.</a:t>
            </a:r>
            <a:endParaRPr lang="en-US" sz="1350" dirty="0"/>
          </a:p>
        </p:txBody>
      </p:sp>
      <p:sp>
        <p:nvSpPr>
          <p:cNvPr id="6" name="Text 4"/>
          <p:cNvSpPr/>
          <p:nvPr/>
        </p:nvSpPr>
        <p:spPr>
          <a:xfrm>
            <a:off x="502920" y="2039112"/>
            <a:ext cx="652881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Integrated plan 2027, by workstream</a:t>
            </a:r>
            <a:endParaRPr lang="en-US" sz="1000" dirty="0"/>
          </a:p>
        </p:txBody>
      </p:sp>
      <p:sp>
        <p:nvSpPr>
          <p:cNvPr id="7" name="Text 5"/>
          <p:cNvSpPr/>
          <p:nvPr/>
        </p:nvSpPr>
        <p:spPr>
          <a:xfrm>
            <a:off x="2514600"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2027</a:t>
            </a:r>
            <a:endParaRPr lang="en-US" sz="900" dirty="0"/>
          </a:p>
        </p:txBody>
      </p:sp>
      <p:sp>
        <p:nvSpPr>
          <p:cNvPr id="8" name="Text 6"/>
          <p:cNvSpPr/>
          <p:nvPr/>
        </p:nvSpPr>
        <p:spPr>
          <a:xfrm>
            <a:off x="3575304"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2027</a:t>
            </a:r>
            <a:endParaRPr lang="en-US" sz="900" dirty="0"/>
          </a:p>
        </p:txBody>
      </p:sp>
      <p:sp>
        <p:nvSpPr>
          <p:cNvPr id="9" name="Text 7"/>
          <p:cNvSpPr/>
          <p:nvPr/>
        </p:nvSpPr>
        <p:spPr>
          <a:xfrm>
            <a:off x="4636008"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2027</a:t>
            </a:r>
            <a:endParaRPr lang="en-US" sz="900" dirty="0"/>
          </a:p>
        </p:txBody>
      </p:sp>
      <p:sp>
        <p:nvSpPr>
          <p:cNvPr id="10" name="Text 8"/>
          <p:cNvSpPr/>
          <p:nvPr/>
        </p:nvSpPr>
        <p:spPr>
          <a:xfrm>
            <a:off x="5696712"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2027</a:t>
            </a:r>
            <a:endParaRPr lang="en-US" sz="900" dirty="0"/>
          </a:p>
        </p:txBody>
      </p:sp>
      <p:sp>
        <p:nvSpPr>
          <p:cNvPr id="11" name="Text 9"/>
          <p:cNvSpPr/>
          <p:nvPr/>
        </p:nvSpPr>
        <p:spPr>
          <a:xfrm>
            <a:off x="502920" y="2651760"/>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M&amp;A &amp; integration</a:t>
            </a:r>
            <a:endParaRPr lang="en-US" sz="1000" dirty="0"/>
          </a:p>
        </p:txBody>
      </p:sp>
      <p:sp>
        <p:nvSpPr>
          <p:cNvPr id="12" name="Shape 10"/>
          <p:cNvSpPr/>
          <p:nvPr/>
        </p:nvSpPr>
        <p:spPr>
          <a:xfrm>
            <a:off x="2514600" y="3094330"/>
            <a:ext cx="4242816" cy="0"/>
          </a:xfrm>
          <a:prstGeom prst="line">
            <a:avLst/>
          </a:prstGeom>
          <a:noFill/>
          <a:ln w="6350">
            <a:solidFill>
              <a:srgbClr val="EEEEEE"/>
            </a:solidFill>
            <a:prstDash val="solid"/>
          </a:ln>
        </p:spPr>
      </p:sp>
      <p:sp>
        <p:nvSpPr>
          <p:cNvPr id="13" name="Shape 11"/>
          <p:cNvSpPr/>
          <p:nvPr/>
        </p:nvSpPr>
        <p:spPr>
          <a:xfrm>
            <a:off x="2551176" y="2757977"/>
            <a:ext cx="2048256" cy="230136"/>
          </a:xfrm>
          <a:prstGeom prst="roundRect">
            <a:avLst>
              <a:gd name="adj" fmla="val 15893"/>
            </a:avLst>
          </a:prstGeom>
          <a:solidFill>
            <a:srgbClr val="2E7CF6"/>
          </a:solidFill>
          <a:ln/>
        </p:spPr>
      </p:sp>
      <p:sp>
        <p:nvSpPr>
          <p:cNvPr id="14" name="Text 12"/>
          <p:cNvSpPr/>
          <p:nvPr/>
        </p:nvSpPr>
        <p:spPr>
          <a:xfrm>
            <a:off x="502920" y="3094330"/>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North pilot</a:t>
            </a:r>
            <a:endParaRPr lang="en-US" sz="1000" dirty="0"/>
          </a:p>
        </p:txBody>
      </p:sp>
      <p:sp>
        <p:nvSpPr>
          <p:cNvPr id="15" name="Shape 13"/>
          <p:cNvSpPr/>
          <p:nvPr/>
        </p:nvSpPr>
        <p:spPr>
          <a:xfrm>
            <a:off x="2514600" y="3536899"/>
            <a:ext cx="4242816" cy="0"/>
          </a:xfrm>
          <a:prstGeom prst="line">
            <a:avLst/>
          </a:prstGeom>
          <a:noFill/>
          <a:ln w="6350">
            <a:solidFill>
              <a:srgbClr val="EEEEEE"/>
            </a:solidFill>
            <a:prstDash val="solid"/>
          </a:ln>
        </p:spPr>
      </p:sp>
      <p:sp>
        <p:nvSpPr>
          <p:cNvPr id="16" name="Shape 14"/>
          <p:cNvSpPr/>
          <p:nvPr/>
        </p:nvSpPr>
        <p:spPr>
          <a:xfrm>
            <a:off x="3081528" y="3200546"/>
            <a:ext cx="1517904" cy="230136"/>
          </a:xfrm>
          <a:prstGeom prst="roundRect">
            <a:avLst>
              <a:gd name="adj" fmla="val 15893"/>
            </a:avLst>
          </a:prstGeom>
          <a:solidFill>
            <a:srgbClr val="2E7CF6"/>
          </a:solidFill>
          <a:ln/>
        </p:spPr>
      </p:sp>
      <p:sp>
        <p:nvSpPr>
          <p:cNvPr id="17" name="Text 15"/>
          <p:cNvSpPr/>
          <p:nvPr/>
        </p:nvSpPr>
        <p:spPr>
          <a:xfrm>
            <a:off x="502920" y="3536899"/>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Platform migration</a:t>
            </a:r>
            <a:endParaRPr lang="en-US" sz="1000" dirty="0"/>
          </a:p>
        </p:txBody>
      </p:sp>
      <p:sp>
        <p:nvSpPr>
          <p:cNvPr id="18" name="Shape 16"/>
          <p:cNvSpPr/>
          <p:nvPr/>
        </p:nvSpPr>
        <p:spPr>
          <a:xfrm>
            <a:off x="2514600" y="3979469"/>
            <a:ext cx="4242816" cy="0"/>
          </a:xfrm>
          <a:prstGeom prst="line">
            <a:avLst/>
          </a:prstGeom>
          <a:noFill/>
          <a:ln w="6350">
            <a:solidFill>
              <a:srgbClr val="EEEEEE"/>
            </a:solidFill>
            <a:prstDash val="solid"/>
          </a:ln>
        </p:spPr>
      </p:sp>
      <p:sp>
        <p:nvSpPr>
          <p:cNvPr id="19" name="Shape 17"/>
          <p:cNvSpPr/>
          <p:nvPr/>
        </p:nvSpPr>
        <p:spPr>
          <a:xfrm>
            <a:off x="3611880" y="3643116"/>
            <a:ext cx="2578608" cy="230136"/>
          </a:xfrm>
          <a:prstGeom prst="roundRect">
            <a:avLst>
              <a:gd name="adj" fmla="val 15893"/>
            </a:avLst>
          </a:prstGeom>
          <a:solidFill>
            <a:srgbClr val="2E7CF6"/>
          </a:solidFill>
          <a:ln/>
        </p:spPr>
      </p:sp>
      <p:sp>
        <p:nvSpPr>
          <p:cNvPr id="20" name="Text 18"/>
          <p:cNvSpPr/>
          <p:nvPr/>
        </p:nvSpPr>
        <p:spPr>
          <a:xfrm>
            <a:off x="502920" y="3979469"/>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Training waves</a:t>
            </a:r>
            <a:endParaRPr lang="en-US" sz="1000" dirty="0"/>
          </a:p>
        </p:txBody>
      </p:sp>
      <p:sp>
        <p:nvSpPr>
          <p:cNvPr id="21" name="Shape 19"/>
          <p:cNvSpPr/>
          <p:nvPr/>
        </p:nvSpPr>
        <p:spPr>
          <a:xfrm>
            <a:off x="2514600" y="4422038"/>
            <a:ext cx="4242816" cy="0"/>
          </a:xfrm>
          <a:prstGeom prst="line">
            <a:avLst/>
          </a:prstGeom>
          <a:noFill/>
          <a:ln w="6350">
            <a:solidFill>
              <a:srgbClr val="EEEEEE"/>
            </a:solidFill>
            <a:prstDash val="solid"/>
          </a:ln>
        </p:spPr>
      </p:sp>
      <p:sp>
        <p:nvSpPr>
          <p:cNvPr id="22" name="Shape 20"/>
          <p:cNvSpPr/>
          <p:nvPr/>
        </p:nvSpPr>
        <p:spPr>
          <a:xfrm>
            <a:off x="4142232" y="4085686"/>
            <a:ext cx="2578608" cy="230136"/>
          </a:xfrm>
          <a:prstGeom prst="roundRect">
            <a:avLst>
              <a:gd name="adj" fmla="val 15893"/>
            </a:avLst>
          </a:prstGeom>
          <a:solidFill>
            <a:srgbClr val="2E7CF6"/>
          </a:solidFill>
          <a:ln/>
        </p:spPr>
      </p:sp>
      <p:sp>
        <p:nvSpPr>
          <p:cNvPr id="23" name="Text 21"/>
          <p:cNvSpPr/>
          <p:nvPr/>
        </p:nvSpPr>
        <p:spPr>
          <a:xfrm>
            <a:off x="502920" y="4422038"/>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Regional roll-out</a:t>
            </a:r>
            <a:endParaRPr lang="en-US" sz="1000" dirty="0"/>
          </a:p>
        </p:txBody>
      </p:sp>
      <p:sp>
        <p:nvSpPr>
          <p:cNvPr id="24" name="Shape 22"/>
          <p:cNvSpPr/>
          <p:nvPr/>
        </p:nvSpPr>
        <p:spPr>
          <a:xfrm>
            <a:off x="2514600" y="4864608"/>
            <a:ext cx="4242816" cy="0"/>
          </a:xfrm>
          <a:prstGeom prst="line">
            <a:avLst/>
          </a:prstGeom>
          <a:noFill/>
          <a:ln w="6350">
            <a:solidFill>
              <a:srgbClr val="EEEEEE"/>
            </a:solidFill>
            <a:prstDash val="solid"/>
          </a:ln>
        </p:spPr>
      </p:sp>
      <p:sp>
        <p:nvSpPr>
          <p:cNvPr id="25" name="Shape 23"/>
          <p:cNvSpPr/>
          <p:nvPr/>
        </p:nvSpPr>
        <p:spPr>
          <a:xfrm>
            <a:off x="5202936" y="4528255"/>
            <a:ext cx="1517904" cy="230136"/>
          </a:xfrm>
          <a:prstGeom prst="roundRect">
            <a:avLst>
              <a:gd name="adj" fmla="val 15893"/>
            </a:avLst>
          </a:prstGeom>
          <a:solidFill>
            <a:srgbClr val="2E7CF6"/>
          </a:solidFill>
          <a:ln/>
        </p:spPr>
      </p:sp>
      <p:sp>
        <p:nvSpPr>
          <p:cNvPr id="26" name="Shape 24"/>
          <p:cNvSpPr/>
          <p:nvPr/>
        </p:nvSpPr>
        <p:spPr>
          <a:xfrm>
            <a:off x="4562856" y="4919472"/>
            <a:ext cx="146304" cy="146304"/>
          </a:xfrm>
          <a:prstGeom prst="diamond">
            <a:avLst/>
          </a:prstGeom>
          <a:solidFill>
            <a:srgbClr val="1D5FCC"/>
          </a:solidFill>
          <a:ln/>
        </p:spPr>
      </p:sp>
      <p:sp>
        <p:nvSpPr>
          <p:cNvPr id="27" name="Text 25"/>
          <p:cNvSpPr/>
          <p:nvPr/>
        </p:nvSpPr>
        <p:spPr>
          <a:xfrm>
            <a:off x="4087368" y="508406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Go/no-go</a:t>
            </a:r>
            <a:endParaRPr lang="en-US" sz="800" dirty="0"/>
          </a:p>
        </p:txBody>
      </p:sp>
      <p:sp>
        <p:nvSpPr>
          <p:cNvPr id="28" name="Shape 26"/>
          <p:cNvSpPr/>
          <p:nvPr/>
        </p:nvSpPr>
        <p:spPr>
          <a:xfrm>
            <a:off x="6047842" y="4919472"/>
            <a:ext cx="146304" cy="146304"/>
          </a:xfrm>
          <a:prstGeom prst="diamond">
            <a:avLst/>
          </a:prstGeom>
          <a:solidFill>
            <a:srgbClr val="1D5FCC"/>
          </a:solidFill>
          <a:ln/>
        </p:spPr>
      </p:sp>
      <p:sp>
        <p:nvSpPr>
          <p:cNvPr id="29" name="Text 27"/>
          <p:cNvSpPr/>
          <p:nvPr/>
        </p:nvSpPr>
        <p:spPr>
          <a:xfrm>
            <a:off x="5572354" y="508406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Wave 2</a:t>
            </a:r>
            <a:endParaRPr lang="en-US" sz="800" dirty="0"/>
          </a:p>
        </p:txBody>
      </p:sp>
      <p:sp>
        <p:nvSpPr>
          <p:cNvPr id="30" name="Text 28"/>
          <p:cNvSpPr/>
          <p:nvPr/>
        </p:nvSpPr>
        <p:spPr>
          <a:xfrm>
            <a:off x="7306056" y="2039112"/>
            <a:ext cx="435254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Workstream health, W28</a:t>
            </a:r>
            <a:endParaRPr lang="en-US" sz="1000" dirty="0"/>
          </a:p>
        </p:txBody>
      </p:sp>
      <p:sp>
        <p:nvSpPr>
          <p:cNvPr id="31" name="Shape 29"/>
          <p:cNvSpPr/>
          <p:nvPr/>
        </p:nvSpPr>
        <p:spPr>
          <a:xfrm>
            <a:off x="7306056" y="2542032"/>
            <a:ext cx="164592" cy="164592"/>
          </a:xfrm>
          <a:prstGeom prst="ellipse">
            <a:avLst/>
          </a:prstGeom>
          <a:solidFill>
            <a:srgbClr val="2E7D32"/>
          </a:solidFill>
          <a:ln/>
        </p:spPr>
      </p:sp>
      <p:sp>
        <p:nvSpPr>
          <p:cNvPr id="32" name="Text 30"/>
          <p:cNvSpPr/>
          <p:nvPr/>
        </p:nvSpPr>
        <p:spPr>
          <a:xfrm>
            <a:off x="7580376" y="2478024"/>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M&amp;A &amp; integration</a:t>
            </a:r>
            <a:endParaRPr lang="en-US" sz="1150" dirty="0"/>
          </a:p>
        </p:txBody>
      </p:sp>
      <p:sp>
        <p:nvSpPr>
          <p:cNvPr id="33" name="Shape 31"/>
          <p:cNvSpPr/>
          <p:nvPr/>
        </p:nvSpPr>
        <p:spPr>
          <a:xfrm>
            <a:off x="11365992" y="2514600"/>
            <a:ext cx="201168" cy="201168"/>
          </a:xfrm>
          <a:prstGeom prst="pie">
            <a:avLst>
              <a:gd name="adj1" fmla="val 16200000"/>
              <a:gd name="adj2" fmla="val 10800000"/>
            </a:avLst>
          </a:prstGeom>
          <a:solidFill>
            <a:srgbClr val="1D5FCC"/>
          </a:solidFill>
          <a:ln w="6350">
            <a:solidFill>
              <a:srgbClr val="1D5FCC"/>
            </a:solidFill>
            <a:prstDash val="solid"/>
          </a:ln>
        </p:spPr>
      </p:sp>
      <p:sp>
        <p:nvSpPr>
          <p:cNvPr id="34" name="Shape 32"/>
          <p:cNvSpPr/>
          <p:nvPr/>
        </p:nvSpPr>
        <p:spPr>
          <a:xfrm>
            <a:off x="11365992" y="2514600"/>
            <a:ext cx="201168" cy="201168"/>
          </a:xfrm>
          <a:prstGeom prst="ellipse">
            <a:avLst/>
          </a:prstGeom>
          <a:ln w="12700">
            <a:solidFill>
              <a:srgbClr val="1D5FCC"/>
            </a:solidFill>
            <a:prstDash val="solid"/>
          </a:ln>
        </p:spPr>
      </p:sp>
      <p:sp>
        <p:nvSpPr>
          <p:cNvPr id="35" name="Shape 33"/>
          <p:cNvSpPr/>
          <p:nvPr/>
        </p:nvSpPr>
        <p:spPr>
          <a:xfrm>
            <a:off x="7580376" y="2807208"/>
            <a:ext cx="3026664" cy="128016"/>
          </a:xfrm>
          <a:prstGeom prst="rect">
            <a:avLst/>
          </a:prstGeom>
          <a:solidFill>
            <a:srgbClr val="E8E8E8"/>
          </a:solidFill>
          <a:ln/>
        </p:spPr>
      </p:sp>
      <p:sp>
        <p:nvSpPr>
          <p:cNvPr id="36" name="Shape 34"/>
          <p:cNvSpPr/>
          <p:nvPr/>
        </p:nvSpPr>
        <p:spPr>
          <a:xfrm>
            <a:off x="7580376" y="2807208"/>
            <a:ext cx="2179198" cy="128016"/>
          </a:xfrm>
          <a:prstGeom prst="rect">
            <a:avLst/>
          </a:prstGeom>
          <a:solidFill>
            <a:srgbClr val="2E7CF6"/>
          </a:solidFill>
          <a:ln/>
        </p:spPr>
      </p:sp>
      <p:sp>
        <p:nvSpPr>
          <p:cNvPr id="37" name="Text 35"/>
          <p:cNvSpPr/>
          <p:nvPr/>
        </p:nvSpPr>
        <p:spPr>
          <a:xfrm>
            <a:off x="10680192" y="2743200"/>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72%</a:t>
            </a:r>
            <a:endParaRPr lang="en-US" sz="900" dirty="0"/>
          </a:p>
        </p:txBody>
      </p:sp>
      <p:sp>
        <p:nvSpPr>
          <p:cNvPr id="38" name="Shape 36"/>
          <p:cNvSpPr/>
          <p:nvPr/>
        </p:nvSpPr>
        <p:spPr>
          <a:xfrm>
            <a:off x="7306056" y="3255264"/>
            <a:ext cx="164592" cy="164592"/>
          </a:xfrm>
          <a:prstGeom prst="ellipse">
            <a:avLst/>
          </a:prstGeom>
          <a:solidFill>
            <a:srgbClr val="2E7D32"/>
          </a:solidFill>
          <a:ln/>
        </p:spPr>
      </p:sp>
      <p:sp>
        <p:nvSpPr>
          <p:cNvPr id="39" name="Text 37"/>
          <p:cNvSpPr/>
          <p:nvPr/>
        </p:nvSpPr>
        <p:spPr>
          <a:xfrm>
            <a:off x="7580376" y="3191256"/>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North pilot</a:t>
            </a:r>
            <a:endParaRPr lang="en-US" sz="1150" dirty="0"/>
          </a:p>
        </p:txBody>
      </p:sp>
      <p:sp>
        <p:nvSpPr>
          <p:cNvPr id="40" name="Shape 38"/>
          <p:cNvSpPr/>
          <p:nvPr/>
        </p:nvSpPr>
        <p:spPr>
          <a:xfrm>
            <a:off x="11365992" y="3227832"/>
            <a:ext cx="201168" cy="201168"/>
          </a:xfrm>
          <a:prstGeom prst="ellipse">
            <a:avLst/>
          </a:prstGeom>
          <a:solidFill>
            <a:srgbClr val="1D5FCC"/>
          </a:solidFill>
          <a:ln w="12700">
            <a:solidFill>
              <a:srgbClr val="1D5FCC"/>
            </a:solidFill>
            <a:prstDash val="solid"/>
          </a:ln>
        </p:spPr>
      </p:sp>
      <p:sp>
        <p:nvSpPr>
          <p:cNvPr id="41" name="Shape 39"/>
          <p:cNvSpPr/>
          <p:nvPr/>
        </p:nvSpPr>
        <p:spPr>
          <a:xfrm>
            <a:off x="7580376" y="3520440"/>
            <a:ext cx="3026664" cy="128016"/>
          </a:xfrm>
          <a:prstGeom prst="rect">
            <a:avLst/>
          </a:prstGeom>
          <a:solidFill>
            <a:srgbClr val="E8E8E8"/>
          </a:solidFill>
          <a:ln/>
        </p:spPr>
      </p:sp>
      <p:sp>
        <p:nvSpPr>
          <p:cNvPr id="42" name="Shape 40"/>
          <p:cNvSpPr/>
          <p:nvPr/>
        </p:nvSpPr>
        <p:spPr>
          <a:xfrm>
            <a:off x="7580376" y="3520440"/>
            <a:ext cx="2663464" cy="128016"/>
          </a:xfrm>
          <a:prstGeom prst="rect">
            <a:avLst/>
          </a:prstGeom>
          <a:solidFill>
            <a:srgbClr val="2E7CF6"/>
          </a:solidFill>
          <a:ln/>
        </p:spPr>
      </p:sp>
      <p:sp>
        <p:nvSpPr>
          <p:cNvPr id="43" name="Text 41"/>
          <p:cNvSpPr/>
          <p:nvPr/>
        </p:nvSpPr>
        <p:spPr>
          <a:xfrm>
            <a:off x="10680192" y="3456432"/>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88%</a:t>
            </a:r>
            <a:endParaRPr lang="en-US" sz="900" dirty="0"/>
          </a:p>
        </p:txBody>
      </p:sp>
      <p:sp>
        <p:nvSpPr>
          <p:cNvPr id="44" name="Shape 42"/>
          <p:cNvSpPr/>
          <p:nvPr/>
        </p:nvSpPr>
        <p:spPr>
          <a:xfrm>
            <a:off x="7306056" y="3968496"/>
            <a:ext cx="164592" cy="164592"/>
          </a:xfrm>
          <a:prstGeom prst="ellipse">
            <a:avLst/>
          </a:prstGeom>
          <a:solidFill>
            <a:srgbClr val="2E7D32"/>
          </a:solidFill>
          <a:ln/>
        </p:spPr>
      </p:sp>
      <p:sp>
        <p:nvSpPr>
          <p:cNvPr id="45" name="Text 43"/>
          <p:cNvSpPr/>
          <p:nvPr/>
        </p:nvSpPr>
        <p:spPr>
          <a:xfrm>
            <a:off x="7580376" y="3904488"/>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Platform migration</a:t>
            </a:r>
            <a:endParaRPr lang="en-US" sz="1150" dirty="0"/>
          </a:p>
        </p:txBody>
      </p:sp>
      <p:sp>
        <p:nvSpPr>
          <p:cNvPr id="46" name="Shape 44"/>
          <p:cNvSpPr/>
          <p:nvPr/>
        </p:nvSpPr>
        <p:spPr>
          <a:xfrm>
            <a:off x="11365992" y="3941064"/>
            <a:ext cx="201168" cy="201168"/>
          </a:xfrm>
          <a:prstGeom prst="pie">
            <a:avLst>
              <a:gd name="adj1" fmla="val 16200000"/>
              <a:gd name="adj2" fmla="val 10800000"/>
            </a:avLst>
          </a:prstGeom>
          <a:solidFill>
            <a:srgbClr val="1D5FCC"/>
          </a:solidFill>
          <a:ln w="6350">
            <a:solidFill>
              <a:srgbClr val="1D5FCC"/>
            </a:solidFill>
            <a:prstDash val="solid"/>
          </a:ln>
        </p:spPr>
      </p:sp>
      <p:sp>
        <p:nvSpPr>
          <p:cNvPr id="47" name="Shape 45"/>
          <p:cNvSpPr/>
          <p:nvPr/>
        </p:nvSpPr>
        <p:spPr>
          <a:xfrm>
            <a:off x="11365992" y="3941064"/>
            <a:ext cx="201168" cy="201168"/>
          </a:xfrm>
          <a:prstGeom prst="ellipse">
            <a:avLst/>
          </a:prstGeom>
          <a:ln w="12700">
            <a:solidFill>
              <a:srgbClr val="1D5FCC"/>
            </a:solidFill>
            <a:prstDash val="solid"/>
          </a:ln>
        </p:spPr>
      </p:sp>
      <p:sp>
        <p:nvSpPr>
          <p:cNvPr id="48" name="Shape 46"/>
          <p:cNvSpPr/>
          <p:nvPr/>
        </p:nvSpPr>
        <p:spPr>
          <a:xfrm>
            <a:off x="7580376" y="4233672"/>
            <a:ext cx="3026664" cy="128016"/>
          </a:xfrm>
          <a:prstGeom prst="rect">
            <a:avLst/>
          </a:prstGeom>
          <a:solidFill>
            <a:srgbClr val="E8E8E8"/>
          </a:solidFill>
          <a:ln/>
        </p:spPr>
      </p:sp>
      <p:sp>
        <p:nvSpPr>
          <p:cNvPr id="49" name="Shape 47"/>
          <p:cNvSpPr/>
          <p:nvPr/>
        </p:nvSpPr>
        <p:spPr>
          <a:xfrm>
            <a:off x="7580376" y="4233672"/>
            <a:ext cx="1664665" cy="128016"/>
          </a:xfrm>
          <a:prstGeom prst="rect">
            <a:avLst/>
          </a:prstGeom>
          <a:solidFill>
            <a:srgbClr val="2E7CF6"/>
          </a:solidFill>
          <a:ln/>
        </p:spPr>
      </p:sp>
      <p:sp>
        <p:nvSpPr>
          <p:cNvPr id="50" name="Text 48"/>
          <p:cNvSpPr/>
          <p:nvPr/>
        </p:nvSpPr>
        <p:spPr>
          <a:xfrm>
            <a:off x="10680192" y="4169664"/>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55%</a:t>
            </a:r>
            <a:endParaRPr lang="en-US" sz="900" dirty="0"/>
          </a:p>
        </p:txBody>
      </p:sp>
      <p:sp>
        <p:nvSpPr>
          <p:cNvPr id="51" name="Shape 49"/>
          <p:cNvSpPr/>
          <p:nvPr/>
        </p:nvSpPr>
        <p:spPr>
          <a:xfrm>
            <a:off x="7306056" y="4681728"/>
            <a:ext cx="164592" cy="164592"/>
          </a:xfrm>
          <a:prstGeom prst="ellipse">
            <a:avLst/>
          </a:prstGeom>
          <a:solidFill>
            <a:srgbClr val="E68A00"/>
          </a:solidFill>
          <a:ln/>
        </p:spPr>
      </p:sp>
      <p:sp>
        <p:nvSpPr>
          <p:cNvPr id="52" name="Text 50"/>
          <p:cNvSpPr/>
          <p:nvPr/>
        </p:nvSpPr>
        <p:spPr>
          <a:xfrm>
            <a:off x="7580376" y="4617720"/>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Training waves</a:t>
            </a:r>
            <a:endParaRPr lang="en-US" sz="1150" dirty="0"/>
          </a:p>
        </p:txBody>
      </p:sp>
      <p:sp>
        <p:nvSpPr>
          <p:cNvPr id="53" name="Shape 51"/>
          <p:cNvSpPr/>
          <p:nvPr/>
        </p:nvSpPr>
        <p:spPr>
          <a:xfrm>
            <a:off x="11365992" y="4654296"/>
            <a:ext cx="201168" cy="201168"/>
          </a:xfrm>
          <a:prstGeom prst="pie">
            <a:avLst>
              <a:gd name="adj1" fmla="val 16200000"/>
              <a:gd name="adj2" fmla="val 5400000"/>
            </a:avLst>
          </a:prstGeom>
          <a:solidFill>
            <a:srgbClr val="1D5FCC"/>
          </a:solidFill>
          <a:ln w="6350">
            <a:solidFill>
              <a:srgbClr val="1D5FCC"/>
            </a:solidFill>
            <a:prstDash val="solid"/>
          </a:ln>
        </p:spPr>
      </p:sp>
      <p:sp>
        <p:nvSpPr>
          <p:cNvPr id="54" name="Shape 52"/>
          <p:cNvSpPr/>
          <p:nvPr/>
        </p:nvSpPr>
        <p:spPr>
          <a:xfrm>
            <a:off x="11365992" y="4654296"/>
            <a:ext cx="201168" cy="201168"/>
          </a:xfrm>
          <a:prstGeom prst="ellipse">
            <a:avLst/>
          </a:prstGeom>
          <a:ln w="12700">
            <a:solidFill>
              <a:srgbClr val="1D5FCC"/>
            </a:solidFill>
            <a:prstDash val="solid"/>
          </a:ln>
        </p:spPr>
      </p:sp>
      <p:sp>
        <p:nvSpPr>
          <p:cNvPr id="55" name="Shape 53"/>
          <p:cNvSpPr/>
          <p:nvPr/>
        </p:nvSpPr>
        <p:spPr>
          <a:xfrm>
            <a:off x="7580376" y="4946904"/>
            <a:ext cx="3026664" cy="128016"/>
          </a:xfrm>
          <a:prstGeom prst="rect">
            <a:avLst/>
          </a:prstGeom>
          <a:solidFill>
            <a:srgbClr val="E8E8E8"/>
          </a:solidFill>
          <a:ln/>
        </p:spPr>
      </p:sp>
      <p:sp>
        <p:nvSpPr>
          <p:cNvPr id="56" name="Shape 54"/>
          <p:cNvSpPr/>
          <p:nvPr/>
        </p:nvSpPr>
        <p:spPr>
          <a:xfrm>
            <a:off x="7580376" y="4946904"/>
            <a:ext cx="1150132" cy="128016"/>
          </a:xfrm>
          <a:prstGeom prst="rect">
            <a:avLst/>
          </a:prstGeom>
          <a:solidFill>
            <a:srgbClr val="2E7CF6"/>
          </a:solidFill>
          <a:ln/>
        </p:spPr>
      </p:sp>
      <p:sp>
        <p:nvSpPr>
          <p:cNvPr id="57" name="Text 55"/>
          <p:cNvSpPr/>
          <p:nvPr/>
        </p:nvSpPr>
        <p:spPr>
          <a:xfrm>
            <a:off x="10680192" y="4882896"/>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38%</a:t>
            </a:r>
            <a:endParaRPr lang="en-US" sz="900" dirty="0"/>
          </a:p>
        </p:txBody>
      </p:sp>
      <p:sp>
        <p:nvSpPr>
          <p:cNvPr id="58" name="Shape 56"/>
          <p:cNvSpPr/>
          <p:nvPr/>
        </p:nvSpPr>
        <p:spPr>
          <a:xfrm>
            <a:off x="7306056" y="5394960"/>
            <a:ext cx="164592" cy="164592"/>
          </a:xfrm>
          <a:prstGeom prst="ellipse">
            <a:avLst/>
          </a:prstGeom>
          <a:solidFill>
            <a:srgbClr val="2E7D32"/>
          </a:solidFill>
          <a:ln/>
        </p:spPr>
      </p:sp>
      <p:sp>
        <p:nvSpPr>
          <p:cNvPr id="59" name="Text 57"/>
          <p:cNvSpPr/>
          <p:nvPr/>
        </p:nvSpPr>
        <p:spPr>
          <a:xfrm>
            <a:off x="7580376" y="5330952"/>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Regional roll-out</a:t>
            </a:r>
            <a:endParaRPr lang="en-US" sz="1150" dirty="0"/>
          </a:p>
        </p:txBody>
      </p:sp>
      <p:sp>
        <p:nvSpPr>
          <p:cNvPr id="60" name="Shape 58"/>
          <p:cNvSpPr/>
          <p:nvPr/>
        </p:nvSpPr>
        <p:spPr>
          <a:xfrm>
            <a:off x="11365992" y="5367528"/>
            <a:ext cx="201168" cy="201168"/>
          </a:xfrm>
          <a:prstGeom prst="pie">
            <a:avLst>
              <a:gd name="adj1" fmla="val 16200000"/>
              <a:gd name="adj2" fmla="val 21600000"/>
            </a:avLst>
          </a:prstGeom>
          <a:solidFill>
            <a:srgbClr val="1D5FCC"/>
          </a:solidFill>
          <a:ln w="6350">
            <a:solidFill>
              <a:srgbClr val="1D5FCC"/>
            </a:solidFill>
            <a:prstDash val="solid"/>
          </a:ln>
        </p:spPr>
      </p:sp>
      <p:sp>
        <p:nvSpPr>
          <p:cNvPr id="61" name="Shape 59"/>
          <p:cNvSpPr/>
          <p:nvPr/>
        </p:nvSpPr>
        <p:spPr>
          <a:xfrm>
            <a:off x="11365992" y="5367528"/>
            <a:ext cx="201168" cy="201168"/>
          </a:xfrm>
          <a:prstGeom prst="ellipse">
            <a:avLst/>
          </a:prstGeom>
          <a:ln w="12700">
            <a:solidFill>
              <a:srgbClr val="1D5FCC"/>
            </a:solidFill>
            <a:prstDash val="solid"/>
          </a:ln>
        </p:spPr>
      </p:sp>
      <p:sp>
        <p:nvSpPr>
          <p:cNvPr id="62" name="Shape 60"/>
          <p:cNvSpPr/>
          <p:nvPr/>
        </p:nvSpPr>
        <p:spPr>
          <a:xfrm>
            <a:off x="7580376" y="5660136"/>
            <a:ext cx="3026664" cy="128016"/>
          </a:xfrm>
          <a:prstGeom prst="rect">
            <a:avLst/>
          </a:prstGeom>
          <a:solidFill>
            <a:srgbClr val="E8E8E8"/>
          </a:solidFill>
          <a:ln/>
        </p:spPr>
      </p:sp>
      <p:sp>
        <p:nvSpPr>
          <p:cNvPr id="63" name="Shape 61"/>
          <p:cNvSpPr/>
          <p:nvPr/>
        </p:nvSpPr>
        <p:spPr>
          <a:xfrm>
            <a:off x="7580376" y="5660136"/>
            <a:ext cx="302666" cy="128016"/>
          </a:xfrm>
          <a:prstGeom prst="rect">
            <a:avLst/>
          </a:prstGeom>
          <a:solidFill>
            <a:srgbClr val="2E7CF6"/>
          </a:solidFill>
          <a:ln/>
        </p:spPr>
      </p:sp>
      <p:sp>
        <p:nvSpPr>
          <p:cNvPr id="64" name="Text 62"/>
          <p:cNvSpPr/>
          <p:nvPr/>
        </p:nvSpPr>
        <p:spPr>
          <a:xfrm>
            <a:off x="10680192" y="5596128"/>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10%</a:t>
            </a:r>
            <a:endParaRPr lang="en-US" sz="900" dirty="0"/>
          </a:p>
        </p:txBody>
      </p:sp>
      <p:sp>
        <p:nvSpPr>
          <p:cNvPr id="65" name="Text 6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66" name="Text 6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QUOTE &amp; FUNNEL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Customers say it themselves: uptime sells the contract, and the funnel proves they sign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Pull quote (verbatim evidence) and conversion funnel (stage-by-stage narrowing).</a:t>
            </a:r>
            <a:endParaRPr lang="en-US" sz="1350" dirty="0"/>
          </a:p>
        </p:txBody>
      </p:sp>
      <p:sp>
        <p:nvSpPr>
          <p:cNvPr id="6" name="Shape 4"/>
          <p:cNvSpPr/>
          <p:nvPr/>
        </p:nvSpPr>
        <p:spPr>
          <a:xfrm>
            <a:off x="502920" y="2194560"/>
            <a:ext cx="5770880" cy="2011680"/>
          </a:xfrm>
          <a:prstGeom prst="roundRect">
            <a:avLst>
              <a:gd name="adj" fmla="val 2727"/>
            </a:avLst>
          </a:prstGeom>
          <a:solidFill>
            <a:srgbClr val="FFFFFF"/>
          </a:solidFill>
          <a:ln w="15875">
            <a:solidFill>
              <a:srgbClr val="2E7CF6"/>
            </a:solidFill>
            <a:prstDash val="solid"/>
          </a:ln>
          <a:effectLst>
            <a:outerShdw sx="100000" sy="100000" kx="0" ky="0" algn="bl" rotWithShape="0" blurRad="88900" dist="25400" dir="2700000">
              <a:srgbClr val="1A1A1A">
                <a:alpha val="12000"/>
              </a:srgbClr>
            </a:outerShdw>
          </a:effectLst>
        </p:spPr>
      </p:sp>
      <p:sp>
        <p:nvSpPr>
          <p:cNvPr id="7" name="Shape 5"/>
          <p:cNvSpPr/>
          <p:nvPr/>
        </p:nvSpPr>
        <p:spPr>
          <a:xfrm>
            <a:off x="502920" y="2194560"/>
            <a:ext cx="73152" cy="2011680"/>
          </a:xfrm>
          <a:prstGeom prst="rect">
            <a:avLst/>
          </a:prstGeom>
          <a:solidFill>
            <a:srgbClr val="2E7CF6"/>
          </a:solidFill>
          <a:ln/>
        </p:spPr>
      </p:sp>
      <p:sp>
        <p:nvSpPr>
          <p:cNvPr id="8" name="Text 6"/>
          <p:cNvSpPr/>
          <p:nvPr/>
        </p:nvSpPr>
        <p:spPr>
          <a:xfrm>
            <a:off x="758952" y="2304288"/>
            <a:ext cx="5313680" cy="1792224"/>
          </a:xfrm>
          <a:prstGeom prst="rect">
            <a:avLst/>
          </a:prstGeom>
          <a:noFill/>
          <a:ln/>
        </p:spPr>
        <p:txBody>
          <a:bodyPr wrap="square" lIns="0" tIns="0" rIns="0" bIns="0" rtlCol="0" anchor="ctr"/>
          <a:lstStyle/>
          <a:p>
            <a:pPr indent="0" marL="0">
              <a:lnSpc>
                <a:spcPct val="120000"/>
              </a:lnSpc>
              <a:buNone/>
            </a:pPr>
            <a:r>
              <a:rPr lang="en-US" sz="1700" b="1" dirty="0">
                <a:solidFill>
                  <a:srgbClr val="1D5FCC"/>
                </a:solidFill>
                <a:latin typeface="Arial" pitchFamily="34" charset="0"/>
                <a:ea typeface="Arial" pitchFamily="34" charset="-122"/>
                <a:cs typeface="Arial" pitchFamily="34" charset="-120"/>
              </a:rPr>
              <a:t>“An hour of unplanned downtime costs me more than a year of your contract. If your sensors see the failure coming, I am not negotiating the price.”</a:t>
            </a:r>
            <a:endParaRPr lang="en-US" sz="1700" dirty="0"/>
          </a:p>
        </p:txBody>
      </p:sp>
      <p:sp>
        <p:nvSpPr>
          <p:cNvPr id="9" name="Text 7"/>
          <p:cNvSpPr/>
          <p:nvPr/>
        </p:nvSpPr>
        <p:spPr>
          <a:xfrm>
            <a:off x="548640" y="4343400"/>
            <a:ext cx="5679440" cy="320040"/>
          </a:xfrm>
          <a:prstGeom prst="rect">
            <a:avLst/>
          </a:prstGeom>
          <a:noFill/>
          <a:ln/>
        </p:spPr>
        <p:txBody>
          <a:bodyPr wrap="square" lIns="0" tIns="0" rIns="0" bIns="0" rtlCol="0" anchor="ctr"/>
          <a:lstStyle/>
          <a:p>
            <a:pPr indent="0" marL="0">
              <a:buNone/>
            </a:pPr>
            <a:r>
              <a:rPr lang="en-US" sz="1100" i="1" dirty="0">
                <a:solidFill>
                  <a:srgbClr val="595959"/>
                </a:solidFill>
                <a:latin typeface="Arial" pitchFamily="34" charset="0"/>
                <a:ea typeface="Arial" pitchFamily="34" charset="-122"/>
                <a:cs typeface="Arial" pitchFamily="34" charset="-120"/>
              </a:rPr>
              <a:t>Operations director, agrifood plant (interview #17 of 42) - the pattern behind 81% of interviews.</a:t>
            </a:r>
            <a:endParaRPr lang="en-US" sz="1100" dirty="0"/>
          </a:p>
        </p:txBody>
      </p:sp>
      <p:sp>
        <p:nvSpPr>
          <p:cNvPr id="10" name="Text 8"/>
          <p:cNvSpPr/>
          <p:nvPr/>
        </p:nvSpPr>
        <p:spPr>
          <a:xfrm>
            <a:off x="548640" y="4892040"/>
            <a:ext cx="5679440" cy="731520"/>
          </a:xfrm>
          <a:prstGeom prst="rect">
            <a:avLst/>
          </a:prstGeom>
          <a:noFill/>
          <a:ln/>
        </p:spPr>
        <p:txBody>
          <a:bodyPr wrap="square" lIns="0" tIns="0" rIns="0" bIns="0" rtlCol="0" anchor="t"/>
          <a:lstStyle/>
          <a:p>
            <a:pPr indent="0" marL="0">
              <a:lnSpc>
                <a:spcPct val="120000"/>
              </a:lnSpc>
              <a:buNone/>
            </a:pPr>
            <a:r>
              <a:rPr lang="en-US" sz="1200" b="1" dirty="0">
                <a:solidFill>
                  <a:srgbClr val="1D5FCC"/>
                </a:solidFill>
                <a:latin typeface="Arial" pitchFamily="34" charset="0"/>
                <a:ea typeface="Arial" pitchFamily="34" charset="-122"/>
                <a:cs typeface="Arial" pitchFamily="34" charset="-120"/>
              </a:rPr>
              <a:t>What it changes: </a:t>
            </a:r>
            <a:pPr indent="0" marL="0">
              <a:lnSpc>
                <a:spcPct val="120000"/>
              </a:lnSpc>
              <a:buNone/>
            </a:pPr>
            <a:r>
              <a:rPr lang="en-US" sz="1200" dirty="0">
                <a:solidFill>
                  <a:srgbClr val="1A1A1A"/>
                </a:solidFill>
                <a:latin typeface="Arial" pitchFamily="34" charset="0"/>
                <a:ea typeface="Arial" pitchFamily="34" charset="-122"/>
                <a:cs typeface="Arial" pitchFamily="34" charset="-120"/>
              </a:rPr>
              <a:t>the pitch leads with measured uptime, not with a maintenance price list; the premium tier is priced against the cost of downtime.</a:t>
            </a:r>
            <a:endParaRPr lang="en-US" sz="1200" dirty="0"/>
          </a:p>
        </p:txBody>
      </p:sp>
      <p:sp>
        <p:nvSpPr>
          <p:cNvPr id="11" name="Text 9"/>
          <p:cNvSpPr/>
          <p:nvPr/>
        </p:nvSpPr>
        <p:spPr>
          <a:xfrm>
            <a:off x="6822440" y="2039112"/>
            <a:ext cx="48361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Pilot conversion funnel, North region</a:t>
            </a:r>
            <a:endParaRPr lang="en-US" sz="1000" dirty="0"/>
          </a:p>
        </p:txBody>
      </p:sp>
      <p:sp>
        <p:nvSpPr>
          <p:cNvPr id="12" name="Shape 10"/>
          <p:cNvSpPr/>
          <p:nvPr/>
        </p:nvSpPr>
        <p:spPr>
          <a:xfrm>
            <a:off x="7005320" y="2514600"/>
            <a:ext cx="4287520" cy="589788"/>
          </a:xfrm>
          <a:prstGeom prst="rect">
            <a:avLst/>
          </a:prstGeom>
          <a:solidFill>
            <a:srgbClr val="2E7CF6"/>
          </a:solidFill>
          <a:ln/>
        </p:spPr>
      </p:sp>
      <p:sp>
        <p:nvSpPr>
          <p:cNvPr id="13" name="Text 11"/>
          <p:cNvSpPr/>
          <p:nvPr/>
        </p:nvSpPr>
        <p:spPr>
          <a:xfrm>
            <a:off x="7005320" y="2514600"/>
            <a:ext cx="4287520"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Sites approached   1580</a:t>
            </a:r>
            <a:endParaRPr lang="en-US" sz="1100" dirty="0"/>
          </a:p>
        </p:txBody>
      </p:sp>
      <p:sp>
        <p:nvSpPr>
          <p:cNvPr id="14" name="Shape 12"/>
          <p:cNvSpPr/>
          <p:nvPr/>
        </p:nvSpPr>
        <p:spPr>
          <a:xfrm>
            <a:off x="7380478" y="3177540"/>
            <a:ext cx="3537204" cy="589788"/>
          </a:xfrm>
          <a:prstGeom prst="rect">
            <a:avLst/>
          </a:prstGeom>
          <a:solidFill>
            <a:srgbClr val="2E7CF6"/>
          </a:solidFill>
          <a:ln/>
        </p:spPr>
      </p:sp>
      <p:sp>
        <p:nvSpPr>
          <p:cNvPr id="15" name="Text 13"/>
          <p:cNvSpPr/>
          <p:nvPr/>
        </p:nvSpPr>
        <p:spPr>
          <a:xfrm>
            <a:off x="7380478" y="3177540"/>
            <a:ext cx="3537204"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Offers presented   940</a:t>
            </a:r>
            <a:endParaRPr lang="en-US" sz="1100" dirty="0"/>
          </a:p>
        </p:txBody>
      </p:sp>
      <p:sp>
        <p:nvSpPr>
          <p:cNvPr id="16" name="Shape 14"/>
          <p:cNvSpPr/>
          <p:nvPr/>
        </p:nvSpPr>
        <p:spPr>
          <a:xfrm>
            <a:off x="7755636" y="3840480"/>
            <a:ext cx="2786888" cy="589788"/>
          </a:xfrm>
          <a:prstGeom prst="rect">
            <a:avLst/>
          </a:prstGeom>
          <a:solidFill>
            <a:srgbClr val="2E7CF6"/>
          </a:solidFill>
          <a:ln/>
        </p:spPr>
      </p:sp>
      <p:sp>
        <p:nvSpPr>
          <p:cNvPr id="17" name="Text 15"/>
          <p:cNvSpPr/>
          <p:nvPr/>
        </p:nvSpPr>
        <p:spPr>
          <a:xfrm>
            <a:off x="7755636" y="3840480"/>
            <a:ext cx="2786888"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Pilots accepted   412</a:t>
            </a:r>
            <a:endParaRPr lang="en-US" sz="1100" dirty="0"/>
          </a:p>
        </p:txBody>
      </p:sp>
      <p:sp>
        <p:nvSpPr>
          <p:cNvPr id="18" name="Shape 16"/>
          <p:cNvSpPr/>
          <p:nvPr/>
        </p:nvSpPr>
        <p:spPr>
          <a:xfrm>
            <a:off x="8130794" y="4503420"/>
            <a:ext cx="2036572" cy="589788"/>
          </a:xfrm>
          <a:prstGeom prst="rect">
            <a:avLst/>
          </a:prstGeom>
          <a:solidFill>
            <a:srgbClr val="2E7CF6"/>
          </a:solidFill>
          <a:ln/>
        </p:spPr>
      </p:sp>
      <p:sp>
        <p:nvSpPr>
          <p:cNvPr id="19" name="Text 17"/>
          <p:cNvSpPr/>
          <p:nvPr/>
        </p:nvSpPr>
        <p:spPr>
          <a:xfrm>
            <a:off x="8130794" y="4503420"/>
            <a:ext cx="2036572"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Contracts signed   108</a:t>
            </a:r>
            <a:endParaRPr lang="en-US" sz="1100" dirty="0"/>
          </a:p>
        </p:txBody>
      </p:sp>
      <p:sp>
        <p:nvSpPr>
          <p:cNvPr id="20" name="Text 1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pilot CRM extract, W28</a:t>
            </a:r>
            <a:endParaRPr lang="en-US" sz="800" dirty="0"/>
          </a:p>
        </p:txBody>
      </p:sp>
      <p:sp>
        <p:nvSpPr>
          <p:cNvPr id="21" name="Text 1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PORTFOLIO MATRIX</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Standard contracts and predictive premium sit in the invest quadrant; the Benelux move can wait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Full-page 2x2 (attractiveness vs ability to win), dot size proportional to the revenue pocket.</a:t>
            </a:r>
            <a:endParaRPr lang="en-US" sz="1350" dirty="0"/>
          </a:p>
        </p:txBody>
      </p:sp>
      <p:sp>
        <p:nvSpPr>
          <p:cNvPr id="6" name="Shape 4"/>
          <p:cNvSpPr/>
          <p:nvPr/>
        </p:nvSpPr>
        <p:spPr>
          <a:xfrm>
            <a:off x="1325880" y="2331720"/>
            <a:ext cx="5940447" cy="2670048"/>
          </a:xfrm>
          <a:prstGeom prst="rect">
            <a:avLst/>
          </a:prstGeom>
          <a:solidFill>
            <a:srgbClr val="FFFFFF"/>
          </a:solidFill>
          <a:ln w="12700">
            <a:solidFill>
              <a:srgbClr val="CFCFCF"/>
            </a:solidFill>
            <a:prstDash val="solid"/>
          </a:ln>
        </p:spPr>
      </p:sp>
      <p:sp>
        <p:nvSpPr>
          <p:cNvPr id="7" name="Shape 5"/>
          <p:cNvSpPr/>
          <p:nvPr/>
        </p:nvSpPr>
        <p:spPr>
          <a:xfrm>
            <a:off x="4296103" y="2331720"/>
            <a:ext cx="0" cy="2670048"/>
          </a:xfrm>
          <a:prstGeom prst="line">
            <a:avLst/>
          </a:prstGeom>
          <a:noFill/>
          <a:ln w="9525">
            <a:solidFill>
              <a:srgbClr val="CFCFCF"/>
            </a:solidFill>
            <a:prstDash val="solid"/>
          </a:ln>
        </p:spPr>
      </p:sp>
      <p:sp>
        <p:nvSpPr>
          <p:cNvPr id="8" name="Shape 6"/>
          <p:cNvSpPr/>
          <p:nvPr/>
        </p:nvSpPr>
        <p:spPr>
          <a:xfrm>
            <a:off x="1325880" y="3666744"/>
            <a:ext cx="5940447" cy="0"/>
          </a:xfrm>
          <a:prstGeom prst="line">
            <a:avLst/>
          </a:prstGeom>
          <a:noFill/>
          <a:ln w="9525">
            <a:solidFill>
              <a:srgbClr val="CFCFCF"/>
            </a:solidFill>
            <a:prstDash val="solid"/>
          </a:ln>
        </p:spPr>
      </p:sp>
      <p:sp>
        <p:nvSpPr>
          <p:cNvPr id="9" name="Text 7"/>
          <p:cNvSpPr/>
          <p:nvPr/>
        </p:nvSpPr>
        <p:spPr>
          <a:xfrm rot="16200000">
            <a:off x="-301752" y="3529584"/>
            <a:ext cx="2670048" cy="27432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Pocket attractiveness (size x growth)</a:t>
            </a:r>
            <a:endParaRPr lang="en-US" sz="900" dirty="0"/>
          </a:p>
        </p:txBody>
      </p:sp>
      <p:sp>
        <p:nvSpPr>
          <p:cNvPr id="10" name="Text 8"/>
          <p:cNvSpPr/>
          <p:nvPr/>
        </p:nvSpPr>
        <p:spPr>
          <a:xfrm>
            <a:off x="1325880" y="5056632"/>
            <a:ext cx="5940447" cy="22860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Ability to win (coverage, data, brand)</a:t>
            </a:r>
            <a:endParaRPr lang="en-US" sz="900" dirty="0"/>
          </a:p>
        </p:txBody>
      </p:sp>
      <p:sp>
        <p:nvSpPr>
          <p:cNvPr id="11" name="Shape 9"/>
          <p:cNvSpPr/>
          <p:nvPr/>
        </p:nvSpPr>
        <p:spPr>
          <a:xfrm>
            <a:off x="5767405" y="2540203"/>
            <a:ext cx="384048" cy="384048"/>
          </a:xfrm>
          <a:prstGeom prst="ellipse">
            <a:avLst/>
          </a:prstGeom>
          <a:solidFill>
            <a:srgbClr val="2E7CF6"/>
          </a:solidFill>
          <a:ln/>
        </p:spPr>
      </p:sp>
      <p:sp>
        <p:nvSpPr>
          <p:cNvPr id="12" name="Text 10"/>
          <p:cNvSpPr/>
          <p:nvPr/>
        </p:nvSpPr>
        <p:spPr>
          <a:xfrm>
            <a:off x="6206317" y="2585923"/>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Std contracts</a:t>
            </a:r>
            <a:endParaRPr lang="en-US" sz="1000" dirty="0"/>
          </a:p>
        </p:txBody>
      </p:sp>
      <p:sp>
        <p:nvSpPr>
          <p:cNvPr id="13" name="Shape 11"/>
          <p:cNvSpPr/>
          <p:nvPr/>
        </p:nvSpPr>
        <p:spPr>
          <a:xfrm>
            <a:off x="6270072" y="3181746"/>
            <a:ext cx="329184" cy="329184"/>
          </a:xfrm>
          <a:prstGeom prst="ellipse">
            <a:avLst/>
          </a:prstGeom>
          <a:solidFill>
            <a:srgbClr val="2E7CF6"/>
          </a:solidFill>
          <a:ln/>
        </p:spPr>
      </p:sp>
      <p:sp>
        <p:nvSpPr>
          <p:cNvPr id="14" name="Text 12"/>
          <p:cNvSpPr/>
          <p:nvPr/>
        </p:nvSpPr>
        <p:spPr>
          <a:xfrm>
            <a:off x="6654120" y="3200034"/>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Predictive premium</a:t>
            </a:r>
            <a:endParaRPr lang="en-US" sz="1000" dirty="0"/>
          </a:p>
        </p:txBody>
      </p:sp>
      <p:sp>
        <p:nvSpPr>
          <p:cNvPr id="15" name="Shape 13"/>
          <p:cNvSpPr/>
          <p:nvPr/>
        </p:nvSpPr>
        <p:spPr>
          <a:xfrm>
            <a:off x="4871797" y="3396082"/>
            <a:ext cx="274320" cy="274320"/>
          </a:xfrm>
          <a:prstGeom prst="ellipse">
            <a:avLst/>
          </a:prstGeom>
          <a:solidFill>
            <a:srgbClr val="2E7CF6"/>
          </a:solidFill>
          <a:ln/>
        </p:spPr>
      </p:sp>
      <p:sp>
        <p:nvSpPr>
          <p:cNvPr id="16" name="Text 14"/>
          <p:cNvSpPr/>
          <p:nvPr/>
        </p:nvSpPr>
        <p:spPr>
          <a:xfrm>
            <a:off x="5200981" y="3386938"/>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Spare parts</a:t>
            </a:r>
            <a:endParaRPr lang="en-US" sz="1000" dirty="0"/>
          </a:p>
        </p:txBody>
      </p:sp>
      <p:sp>
        <p:nvSpPr>
          <p:cNvPr id="17" name="Shape 15"/>
          <p:cNvSpPr/>
          <p:nvPr/>
        </p:nvSpPr>
        <p:spPr>
          <a:xfrm>
            <a:off x="4492542" y="4153571"/>
            <a:ext cx="201168" cy="201168"/>
          </a:xfrm>
          <a:prstGeom prst="ellipse">
            <a:avLst/>
          </a:prstGeom>
          <a:solidFill>
            <a:srgbClr val="2E7CF6"/>
          </a:solidFill>
          <a:ln/>
        </p:spPr>
      </p:sp>
      <p:sp>
        <p:nvSpPr>
          <p:cNvPr id="18" name="Text 16"/>
          <p:cNvSpPr/>
          <p:nvPr/>
        </p:nvSpPr>
        <p:spPr>
          <a:xfrm>
            <a:off x="4748574" y="4107851"/>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Training &amp; audit</a:t>
            </a:r>
            <a:endParaRPr lang="en-US" sz="1000" dirty="0"/>
          </a:p>
        </p:txBody>
      </p:sp>
      <p:sp>
        <p:nvSpPr>
          <p:cNvPr id="19" name="Shape 17"/>
          <p:cNvSpPr/>
          <p:nvPr/>
        </p:nvSpPr>
        <p:spPr>
          <a:xfrm>
            <a:off x="2870333" y="3120664"/>
            <a:ext cx="237744" cy="237744"/>
          </a:xfrm>
          <a:prstGeom prst="ellipse">
            <a:avLst/>
          </a:prstGeom>
          <a:solidFill>
            <a:srgbClr val="2E7CF6"/>
          </a:solidFill>
          <a:ln/>
        </p:spPr>
      </p:sp>
      <p:sp>
        <p:nvSpPr>
          <p:cNvPr id="20" name="Text 18"/>
          <p:cNvSpPr/>
          <p:nvPr/>
        </p:nvSpPr>
        <p:spPr>
          <a:xfrm>
            <a:off x="3162941" y="309323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Benelux extension</a:t>
            </a:r>
            <a:endParaRPr lang="en-US" sz="1000" dirty="0"/>
          </a:p>
        </p:txBody>
      </p:sp>
      <p:sp>
        <p:nvSpPr>
          <p:cNvPr id="21" name="Shape 19"/>
          <p:cNvSpPr/>
          <p:nvPr/>
        </p:nvSpPr>
        <p:spPr>
          <a:xfrm>
            <a:off x="2184912" y="4269516"/>
            <a:ext cx="182880" cy="182880"/>
          </a:xfrm>
          <a:prstGeom prst="ellipse">
            <a:avLst/>
          </a:prstGeom>
          <a:solidFill>
            <a:srgbClr val="2E7CF6"/>
          </a:solidFill>
          <a:ln/>
        </p:spPr>
      </p:sp>
      <p:sp>
        <p:nvSpPr>
          <p:cNvPr id="22" name="Text 20"/>
          <p:cNvSpPr/>
          <p:nvPr/>
        </p:nvSpPr>
        <p:spPr>
          <a:xfrm>
            <a:off x="2422656" y="421465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IoT hardware resale</a:t>
            </a:r>
            <a:endParaRPr lang="en-US" sz="1000" dirty="0"/>
          </a:p>
        </p:txBody>
      </p:sp>
      <p:sp>
        <p:nvSpPr>
          <p:cNvPr id="23" name="Text 21"/>
          <p:cNvSpPr/>
          <p:nvPr/>
        </p:nvSpPr>
        <p:spPr>
          <a:xfrm>
            <a:off x="1435608" y="2423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Build the case</a:t>
            </a:r>
            <a:endParaRPr lang="en-US" sz="900" dirty="0"/>
          </a:p>
        </p:txBody>
      </p:sp>
      <p:sp>
        <p:nvSpPr>
          <p:cNvPr id="24" name="Text 22"/>
          <p:cNvSpPr/>
          <p:nvPr/>
        </p:nvSpPr>
        <p:spPr>
          <a:xfrm>
            <a:off x="6077607" y="2423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INVEST</a:t>
            </a:r>
            <a:endParaRPr lang="en-US" sz="900" dirty="0"/>
          </a:p>
        </p:txBody>
      </p:sp>
      <p:sp>
        <p:nvSpPr>
          <p:cNvPr id="25" name="Text 23"/>
          <p:cNvSpPr/>
          <p:nvPr/>
        </p:nvSpPr>
        <p:spPr>
          <a:xfrm>
            <a:off x="1435608" y="4709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Deprioritize</a:t>
            </a:r>
            <a:endParaRPr lang="en-US" sz="900" dirty="0"/>
          </a:p>
        </p:txBody>
      </p:sp>
      <p:sp>
        <p:nvSpPr>
          <p:cNvPr id="26" name="Text 24"/>
          <p:cNvSpPr/>
          <p:nvPr/>
        </p:nvSpPr>
        <p:spPr>
          <a:xfrm>
            <a:off x="5666127" y="4709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Harvest selectively</a:t>
            </a:r>
            <a:endParaRPr lang="en-US" sz="900" dirty="0"/>
          </a:p>
        </p:txBody>
      </p:sp>
      <p:sp>
        <p:nvSpPr>
          <p:cNvPr id="27" name="Text 25"/>
          <p:cNvSpPr/>
          <p:nvPr/>
        </p:nvSpPr>
        <p:spPr>
          <a:xfrm>
            <a:off x="7906407" y="2103120"/>
            <a:ext cx="3752193"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28" name="Text 26"/>
          <p:cNvSpPr/>
          <p:nvPr/>
        </p:nvSpPr>
        <p:spPr>
          <a:xfrm>
            <a:off x="7906407" y="2468880"/>
            <a:ext cx="3752193" cy="2258568"/>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two invest pockets carry EUR 73M of the EUR 100M capturable: focus beats breadth.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Benelux is attractive but premature: ability to win stays low until the French platform is proven.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IoT hardware resale fails both tests: exit the line by 2027 and free 6 sales FTEs. [A]</a:t>
            </a:r>
            <a:endParaRPr lang="en-US" sz="1200" dirty="0"/>
          </a:p>
        </p:txBody>
      </p:sp>
      <p:sp>
        <p:nvSpPr>
          <p:cNvPr id="29" name="Shape 27"/>
          <p:cNvSpPr/>
          <p:nvPr/>
        </p:nvSpPr>
        <p:spPr>
          <a:xfrm>
            <a:off x="502920" y="5779008"/>
            <a:ext cx="11155680" cy="548640"/>
          </a:xfrm>
          <a:prstGeom prst="rect">
            <a:avLst/>
          </a:prstGeom>
          <a:solidFill>
            <a:srgbClr val="EFF4FE"/>
          </a:solidFill>
          <a:ln w="6350">
            <a:solidFill>
              <a:srgbClr val="CFCFCF"/>
            </a:solidFill>
            <a:prstDash val="solid"/>
          </a:ln>
        </p:spPr>
      </p:sp>
      <p:sp>
        <p:nvSpPr>
          <p:cNvPr id="30" name="Shape 28"/>
          <p:cNvSpPr/>
          <p:nvPr/>
        </p:nvSpPr>
        <p:spPr>
          <a:xfrm>
            <a:off x="502920" y="5779008"/>
            <a:ext cx="73152" cy="548640"/>
          </a:xfrm>
          <a:prstGeom prst="rect">
            <a:avLst/>
          </a:prstGeom>
          <a:solidFill>
            <a:srgbClr val="2E7CF6"/>
          </a:solidFill>
          <a:ln/>
        </p:spPr>
      </p:sp>
      <p:sp>
        <p:nvSpPr>
          <p:cNvPr id="31" name="Text 29"/>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Rule: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One quadrant, one behavior: invest, build, harvest or deprioritize - never all four at once.</a:t>
            </a:r>
            <a:endParaRPr lang="en-US" sz="1200" dirty="0"/>
          </a:p>
        </p:txBody>
      </p:sp>
      <p:sp>
        <p:nvSpPr>
          <p:cNvPr id="32" name="Text 30"/>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33" name="Text 31"/>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30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HEATMAP</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Technician capacity is the binding constraint of 2027: two quarters run hot on three roles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Heatmap (RAG scale, functional colors), the standard exhibit for capacity, dependencies and adoption.</a:t>
            </a:r>
            <a:endParaRPr lang="en-US" sz="1350" dirty="0"/>
          </a:p>
        </p:txBody>
      </p:sp>
      <p:sp>
        <p:nvSpPr>
          <p:cNvPr id="6" name="Text 4"/>
          <p:cNvSpPr/>
          <p:nvPr/>
        </p:nvSpPr>
        <p:spPr>
          <a:xfrm>
            <a:off x="2788920"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Q1 27</a:t>
            </a:r>
            <a:endParaRPr lang="en-US" sz="950" dirty="0"/>
          </a:p>
        </p:txBody>
      </p:sp>
      <p:sp>
        <p:nvSpPr>
          <p:cNvPr id="7" name="Text 5"/>
          <p:cNvSpPr/>
          <p:nvPr/>
        </p:nvSpPr>
        <p:spPr>
          <a:xfrm>
            <a:off x="3893058"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Q2 27</a:t>
            </a:r>
            <a:endParaRPr lang="en-US" sz="950" dirty="0"/>
          </a:p>
        </p:txBody>
      </p:sp>
      <p:sp>
        <p:nvSpPr>
          <p:cNvPr id="8" name="Text 6"/>
          <p:cNvSpPr/>
          <p:nvPr/>
        </p:nvSpPr>
        <p:spPr>
          <a:xfrm>
            <a:off x="4997196"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Q3 27</a:t>
            </a:r>
            <a:endParaRPr lang="en-US" sz="950" dirty="0"/>
          </a:p>
        </p:txBody>
      </p:sp>
      <p:sp>
        <p:nvSpPr>
          <p:cNvPr id="9" name="Text 7"/>
          <p:cNvSpPr/>
          <p:nvPr/>
        </p:nvSpPr>
        <p:spPr>
          <a:xfrm>
            <a:off x="6101334"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Q4 27</a:t>
            </a:r>
            <a:endParaRPr lang="en-US" sz="950" dirty="0"/>
          </a:p>
        </p:txBody>
      </p:sp>
      <p:sp>
        <p:nvSpPr>
          <p:cNvPr id="10" name="Text 8"/>
          <p:cNvSpPr/>
          <p:nvPr/>
        </p:nvSpPr>
        <p:spPr>
          <a:xfrm>
            <a:off x="7205472"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Q1 28</a:t>
            </a:r>
            <a:endParaRPr lang="en-US" sz="950" dirty="0"/>
          </a:p>
        </p:txBody>
      </p:sp>
      <p:sp>
        <p:nvSpPr>
          <p:cNvPr id="11" name="Text 9"/>
          <p:cNvSpPr/>
          <p:nvPr/>
        </p:nvSpPr>
        <p:spPr>
          <a:xfrm>
            <a:off x="8309610"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Q2 28</a:t>
            </a:r>
            <a:endParaRPr lang="en-US" sz="950" dirty="0"/>
          </a:p>
        </p:txBody>
      </p:sp>
      <p:sp>
        <p:nvSpPr>
          <p:cNvPr id="12" name="Text 10"/>
          <p:cNvSpPr/>
          <p:nvPr/>
        </p:nvSpPr>
        <p:spPr>
          <a:xfrm>
            <a:off x="9413748"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Q3 28</a:t>
            </a:r>
            <a:endParaRPr lang="en-US" sz="950" dirty="0"/>
          </a:p>
        </p:txBody>
      </p:sp>
      <p:sp>
        <p:nvSpPr>
          <p:cNvPr id="13" name="Text 11"/>
          <p:cNvSpPr/>
          <p:nvPr/>
        </p:nvSpPr>
        <p:spPr>
          <a:xfrm>
            <a:off x="10517886"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Q4 28</a:t>
            </a:r>
            <a:endParaRPr lang="en-US" sz="950" dirty="0"/>
          </a:p>
        </p:txBody>
      </p:sp>
      <p:sp>
        <p:nvSpPr>
          <p:cNvPr id="14" name="Text 12"/>
          <p:cNvSpPr/>
          <p:nvPr/>
        </p:nvSpPr>
        <p:spPr>
          <a:xfrm>
            <a:off x="502920" y="2414016"/>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Field technicians</a:t>
            </a:r>
            <a:endParaRPr lang="en-US" sz="1100" dirty="0"/>
          </a:p>
        </p:txBody>
      </p:sp>
      <p:sp>
        <p:nvSpPr>
          <p:cNvPr id="15" name="Text 13"/>
          <p:cNvSpPr/>
          <p:nvPr/>
        </p:nvSpPr>
        <p:spPr>
          <a:xfrm>
            <a:off x="502920" y="2889504"/>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Predictive experts</a:t>
            </a:r>
            <a:endParaRPr lang="en-US" sz="1100" dirty="0"/>
          </a:p>
        </p:txBody>
      </p:sp>
      <p:sp>
        <p:nvSpPr>
          <p:cNvPr id="16" name="Text 14"/>
          <p:cNvSpPr/>
          <p:nvPr/>
        </p:nvSpPr>
        <p:spPr>
          <a:xfrm>
            <a:off x="502920" y="3364992"/>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Installed-base sales</a:t>
            </a:r>
            <a:endParaRPr lang="en-US" sz="1100" dirty="0"/>
          </a:p>
        </p:txBody>
      </p:sp>
      <p:sp>
        <p:nvSpPr>
          <p:cNvPr id="17" name="Text 15"/>
          <p:cNvSpPr/>
          <p:nvPr/>
        </p:nvSpPr>
        <p:spPr>
          <a:xfrm>
            <a:off x="502920" y="3840480"/>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Platform engineers</a:t>
            </a:r>
            <a:endParaRPr lang="en-US" sz="1100" dirty="0"/>
          </a:p>
        </p:txBody>
      </p:sp>
      <p:sp>
        <p:nvSpPr>
          <p:cNvPr id="18" name="Text 16"/>
          <p:cNvSpPr/>
          <p:nvPr/>
        </p:nvSpPr>
        <p:spPr>
          <a:xfrm>
            <a:off x="502920" y="4315968"/>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Trainers</a:t>
            </a:r>
            <a:endParaRPr lang="en-US" sz="1100" dirty="0"/>
          </a:p>
        </p:txBody>
      </p:sp>
      <p:sp>
        <p:nvSpPr>
          <p:cNvPr id="19" name="Text 17"/>
          <p:cNvSpPr/>
          <p:nvPr/>
        </p:nvSpPr>
        <p:spPr>
          <a:xfrm>
            <a:off x="502920" y="4791456"/>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PMO &amp; governance</a:t>
            </a:r>
            <a:endParaRPr lang="en-US" sz="1100" dirty="0"/>
          </a:p>
        </p:txBody>
      </p:sp>
      <p:sp>
        <p:nvSpPr>
          <p:cNvPr id="20" name="Shape 18"/>
          <p:cNvSpPr/>
          <p:nvPr/>
        </p:nvSpPr>
        <p:spPr>
          <a:xfrm>
            <a:off x="2788920" y="2414016"/>
            <a:ext cx="1049274" cy="420624"/>
          </a:xfrm>
          <a:prstGeom prst="rect">
            <a:avLst/>
          </a:prstGeom>
          <a:solidFill>
            <a:srgbClr val="AF860F"/>
          </a:solidFill>
          <a:ln w="15240">
            <a:solidFill>
              <a:srgbClr val="FFFFFF"/>
            </a:solidFill>
            <a:prstDash val="solid"/>
          </a:ln>
        </p:spPr>
      </p:sp>
      <p:sp>
        <p:nvSpPr>
          <p:cNvPr id="21" name="Shape 19"/>
          <p:cNvSpPr/>
          <p:nvPr/>
        </p:nvSpPr>
        <p:spPr>
          <a:xfrm>
            <a:off x="3893058" y="2414016"/>
            <a:ext cx="1049274" cy="420624"/>
          </a:xfrm>
          <a:prstGeom prst="rect">
            <a:avLst/>
          </a:prstGeom>
          <a:solidFill>
            <a:srgbClr val="E68A00"/>
          </a:solidFill>
          <a:ln w="15240">
            <a:solidFill>
              <a:srgbClr val="FFFFFF"/>
            </a:solidFill>
            <a:prstDash val="solid"/>
          </a:ln>
        </p:spPr>
      </p:sp>
      <p:sp>
        <p:nvSpPr>
          <p:cNvPr id="22" name="Shape 20"/>
          <p:cNvSpPr/>
          <p:nvPr/>
        </p:nvSpPr>
        <p:spPr>
          <a:xfrm>
            <a:off x="4997196" y="2414016"/>
            <a:ext cx="1049274" cy="420624"/>
          </a:xfrm>
          <a:prstGeom prst="rect">
            <a:avLst/>
          </a:prstGeom>
          <a:solidFill>
            <a:srgbClr val="D96310"/>
          </a:solidFill>
          <a:ln w="15240">
            <a:solidFill>
              <a:srgbClr val="FFFFFF"/>
            </a:solidFill>
            <a:prstDash val="solid"/>
          </a:ln>
        </p:spPr>
      </p:sp>
      <p:sp>
        <p:nvSpPr>
          <p:cNvPr id="23" name="Shape 21"/>
          <p:cNvSpPr/>
          <p:nvPr/>
        </p:nvSpPr>
        <p:spPr>
          <a:xfrm>
            <a:off x="6101334" y="2414016"/>
            <a:ext cx="1049274" cy="420624"/>
          </a:xfrm>
          <a:prstGeom prst="rect">
            <a:avLst/>
          </a:prstGeom>
          <a:solidFill>
            <a:srgbClr val="CC3C20"/>
          </a:solidFill>
          <a:ln w="15240">
            <a:solidFill>
              <a:srgbClr val="FFFFFF"/>
            </a:solidFill>
            <a:prstDash val="solid"/>
          </a:ln>
        </p:spPr>
      </p:sp>
      <p:sp>
        <p:nvSpPr>
          <p:cNvPr id="24" name="Shape 22"/>
          <p:cNvSpPr/>
          <p:nvPr/>
        </p:nvSpPr>
        <p:spPr>
          <a:xfrm>
            <a:off x="7205472" y="2414016"/>
            <a:ext cx="1049274" cy="420624"/>
          </a:xfrm>
          <a:prstGeom prst="rect">
            <a:avLst/>
          </a:prstGeom>
          <a:solidFill>
            <a:srgbClr val="C93224"/>
          </a:solidFill>
          <a:ln w="15240">
            <a:solidFill>
              <a:srgbClr val="FFFFFF"/>
            </a:solidFill>
            <a:prstDash val="solid"/>
          </a:ln>
        </p:spPr>
      </p:sp>
      <p:sp>
        <p:nvSpPr>
          <p:cNvPr id="25" name="Shape 23"/>
          <p:cNvSpPr/>
          <p:nvPr/>
        </p:nvSpPr>
        <p:spPr>
          <a:xfrm>
            <a:off x="8309610" y="2414016"/>
            <a:ext cx="1049274" cy="420624"/>
          </a:xfrm>
          <a:prstGeom prst="rect">
            <a:avLst/>
          </a:prstGeom>
          <a:solidFill>
            <a:srgbClr val="D34F18"/>
          </a:solidFill>
          <a:ln w="15240">
            <a:solidFill>
              <a:srgbClr val="FFFFFF"/>
            </a:solidFill>
            <a:prstDash val="solid"/>
          </a:ln>
        </p:spPr>
      </p:sp>
      <p:sp>
        <p:nvSpPr>
          <p:cNvPr id="26" name="Shape 24"/>
          <p:cNvSpPr/>
          <p:nvPr/>
        </p:nvSpPr>
        <p:spPr>
          <a:xfrm>
            <a:off x="9413748" y="2414016"/>
            <a:ext cx="1049274" cy="420624"/>
          </a:xfrm>
          <a:prstGeom prst="rect">
            <a:avLst/>
          </a:prstGeom>
          <a:solidFill>
            <a:srgbClr val="E07608"/>
          </a:solidFill>
          <a:ln w="15240">
            <a:solidFill>
              <a:srgbClr val="FFFFFF"/>
            </a:solidFill>
            <a:prstDash val="solid"/>
          </a:ln>
        </p:spPr>
      </p:sp>
      <p:sp>
        <p:nvSpPr>
          <p:cNvPr id="27" name="Shape 25"/>
          <p:cNvSpPr/>
          <p:nvPr/>
        </p:nvSpPr>
        <p:spPr>
          <a:xfrm>
            <a:off x="10517886" y="2414016"/>
            <a:ext cx="1049274" cy="420624"/>
          </a:xfrm>
          <a:prstGeom prst="rect">
            <a:avLst/>
          </a:prstGeom>
          <a:solidFill>
            <a:srgbClr val="E68A00"/>
          </a:solidFill>
          <a:ln w="15240">
            <a:solidFill>
              <a:srgbClr val="FFFFFF"/>
            </a:solidFill>
            <a:prstDash val="solid"/>
          </a:ln>
        </p:spPr>
      </p:sp>
      <p:sp>
        <p:nvSpPr>
          <p:cNvPr id="28" name="Shape 26"/>
          <p:cNvSpPr/>
          <p:nvPr/>
        </p:nvSpPr>
        <p:spPr>
          <a:xfrm>
            <a:off x="2788920" y="2889504"/>
            <a:ext cx="1049274" cy="420624"/>
          </a:xfrm>
          <a:prstGeom prst="rect">
            <a:avLst/>
          </a:prstGeom>
          <a:solidFill>
            <a:srgbClr val="9C8514"/>
          </a:solidFill>
          <a:ln w="15240">
            <a:solidFill>
              <a:srgbClr val="FFFFFF"/>
            </a:solidFill>
            <a:prstDash val="solid"/>
          </a:ln>
        </p:spPr>
      </p:sp>
      <p:sp>
        <p:nvSpPr>
          <p:cNvPr id="29" name="Shape 27"/>
          <p:cNvSpPr/>
          <p:nvPr/>
        </p:nvSpPr>
        <p:spPr>
          <a:xfrm>
            <a:off x="3893058" y="2889504"/>
            <a:ext cx="1049274" cy="420624"/>
          </a:xfrm>
          <a:prstGeom prst="rect">
            <a:avLst/>
          </a:prstGeom>
          <a:solidFill>
            <a:srgbClr val="D48905"/>
          </a:solidFill>
          <a:ln w="15240">
            <a:solidFill>
              <a:srgbClr val="FFFFFF"/>
            </a:solidFill>
            <a:prstDash val="solid"/>
          </a:ln>
        </p:spPr>
      </p:sp>
      <p:sp>
        <p:nvSpPr>
          <p:cNvPr id="30" name="Shape 28"/>
          <p:cNvSpPr/>
          <p:nvPr/>
        </p:nvSpPr>
        <p:spPr>
          <a:xfrm>
            <a:off x="4997196" y="2889504"/>
            <a:ext cx="1049274" cy="420624"/>
          </a:xfrm>
          <a:prstGeom prst="rect">
            <a:avLst/>
          </a:prstGeom>
          <a:solidFill>
            <a:srgbClr val="D34F18"/>
          </a:solidFill>
          <a:ln w="15240">
            <a:solidFill>
              <a:srgbClr val="FFFFFF"/>
            </a:solidFill>
            <a:prstDash val="solid"/>
          </a:ln>
        </p:spPr>
      </p:sp>
      <p:sp>
        <p:nvSpPr>
          <p:cNvPr id="31" name="Shape 29"/>
          <p:cNvSpPr/>
          <p:nvPr/>
        </p:nvSpPr>
        <p:spPr>
          <a:xfrm>
            <a:off x="6101334" y="2889504"/>
            <a:ext cx="1049274" cy="420624"/>
          </a:xfrm>
          <a:prstGeom prst="rect">
            <a:avLst/>
          </a:prstGeom>
          <a:solidFill>
            <a:srgbClr val="C93224"/>
          </a:solidFill>
          <a:ln w="15240">
            <a:solidFill>
              <a:srgbClr val="FFFFFF"/>
            </a:solidFill>
            <a:prstDash val="solid"/>
          </a:ln>
        </p:spPr>
      </p:sp>
      <p:sp>
        <p:nvSpPr>
          <p:cNvPr id="32" name="Shape 30"/>
          <p:cNvSpPr/>
          <p:nvPr/>
        </p:nvSpPr>
        <p:spPr>
          <a:xfrm>
            <a:off x="7205472" y="2889504"/>
            <a:ext cx="1049274" cy="420624"/>
          </a:xfrm>
          <a:prstGeom prst="rect">
            <a:avLst/>
          </a:prstGeom>
          <a:solidFill>
            <a:srgbClr val="CC3C20"/>
          </a:solidFill>
          <a:ln w="15240">
            <a:solidFill>
              <a:srgbClr val="FFFFFF"/>
            </a:solidFill>
            <a:prstDash val="solid"/>
          </a:ln>
        </p:spPr>
      </p:sp>
      <p:sp>
        <p:nvSpPr>
          <p:cNvPr id="33" name="Shape 31"/>
          <p:cNvSpPr/>
          <p:nvPr/>
        </p:nvSpPr>
        <p:spPr>
          <a:xfrm>
            <a:off x="8309610" y="2889504"/>
            <a:ext cx="1049274" cy="420624"/>
          </a:xfrm>
          <a:prstGeom prst="rect">
            <a:avLst/>
          </a:prstGeom>
          <a:solidFill>
            <a:srgbClr val="D96310"/>
          </a:solidFill>
          <a:ln w="15240">
            <a:solidFill>
              <a:srgbClr val="FFFFFF"/>
            </a:solidFill>
            <a:prstDash val="solid"/>
          </a:ln>
        </p:spPr>
      </p:sp>
      <p:sp>
        <p:nvSpPr>
          <p:cNvPr id="34" name="Shape 32"/>
          <p:cNvSpPr/>
          <p:nvPr/>
        </p:nvSpPr>
        <p:spPr>
          <a:xfrm>
            <a:off x="9413748" y="2889504"/>
            <a:ext cx="1049274" cy="420624"/>
          </a:xfrm>
          <a:prstGeom prst="rect">
            <a:avLst/>
          </a:prstGeom>
          <a:solidFill>
            <a:srgbClr val="E38004"/>
          </a:solidFill>
          <a:ln w="15240">
            <a:solidFill>
              <a:srgbClr val="FFFFFF"/>
            </a:solidFill>
            <a:prstDash val="solid"/>
          </a:ln>
        </p:spPr>
      </p:sp>
      <p:sp>
        <p:nvSpPr>
          <p:cNvPr id="35" name="Shape 33"/>
          <p:cNvSpPr/>
          <p:nvPr/>
        </p:nvSpPr>
        <p:spPr>
          <a:xfrm>
            <a:off x="10517886" y="2889504"/>
            <a:ext cx="1049274" cy="420624"/>
          </a:xfrm>
          <a:prstGeom prst="rect">
            <a:avLst/>
          </a:prstGeom>
          <a:solidFill>
            <a:srgbClr val="D48905"/>
          </a:solidFill>
          <a:ln w="15240">
            <a:solidFill>
              <a:srgbClr val="FFFFFF"/>
            </a:solidFill>
            <a:prstDash val="solid"/>
          </a:ln>
        </p:spPr>
      </p:sp>
      <p:sp>
        <p:nvSpPr>
          <p:cNvPr id="36" name="Shape 34"/>
          <p:cNvSpPr/>
          <p:nvPr/>
        </p:nvSpPr>
        <p:spPr>
          <a:xfrm>
            <a:off x="2788920" y="3364992"/>
            <a:ext cx="1049274" cy="420624"/>
          </a:xfrm>
          <a:prstGeom prst="rect">
            <a:avLst/>
          </a:prstGeom>
          <a:solidFill>
            <a:srgbClr val="E68A00"/>
          </a:solidFill>
          <a:ln w="15240">
            <a:solidFill>
              <a:srgbClr val="FFFFFF"/>
            </a:solidFill>
            <a:prstDash val="solid"/>
          </a:ln>
        </p:spPr>
      </p:sp>
      <p:sp>
        <p:nvSpPr>
          <p:cNvPr id="37" name="Shape 35"/>
          <p:cNvSpPr/>
          <p:nvPr/>
        </p:nvSpPr>
        <p:spPr>
          <a:xfrm>
            <a:off x="3893058" y="3364992"/>
            <a:ext cx="1049274" cy="420624"/>
          </a:xfrm>
          <a:prstGeom prst="rect">
            <a:avLst/>
          </a:prstGeom>
          <a:solidFill>
            <a:srgbClr val="E07608"/>
          </a:solidFill>
          <a:ln w="15240">
            <a:solidFill>
              <a:srgbClr val="FFFFFF"/>
            </a:solidFill>
            <a:prstDash val="solid"/>
          </a:ln>
        </p:spPr>
      </p:sp>
      <p:sp>
        <p:nvSpPr>
          <p:cNvPr id="38" name="Shape 36"/>
          <p:cNvSpPr/>
          <p:nvPr/>
        </p:nvSpPr>
        <p:spPr>
          <a:xfrm>
            <a:off x="4997196" y="3364992"/>
            <a:ext cx="1049274" cy="420624"/>
          </a:xfrm>
          <a:prstGeom prst="rect">
            <a:avLst/>
          </a:prstGeom>
          <a:solidFill>
            <a:srgbClr val="D96310"/>
          </a:solidFill>
          <a:ln w="15240">
            <a:solidFill>
              <a:srgbClr val="FFFFFF"/>
            </a:solidFill>
            <a:prstDash val="solid"/>
          </a:ln>
        </p:spPr>
      </p:sp>
      <p:sp>
        <p:nvSpPr>
          <p:cNvPr id="39" name="Shape 37"/>
          <p:cNvSpPr/>
          <p:nvPr/>
        </p:nvSpPr>
        <p:spPr>
          <a:xfrm>
            <a:off x="6101334" y="3364992"/>
            <a:ext cx="1049274" cy="420624"/>
          </a:xfrm>
          <a:prstGeom prst="rect">
            <a:avLst/>
          </a:prstGeom>
          <a:solidFill>
            <a:srgbClr val="D65914"/>
          </a:solidFill>
          <a:ln w="15240">
            <a:solidFill>
              <a:srgbClr val="FFFFFF"/>
            </a:solidFill>
            <a:prstDash val="solid"/>
          </a:ln>
        </p:spPr>
      </p:sp>
      <p:sp>
        <p:nvSpPr>
          <p:cNvPr id="40" name="Shape 38"/>
          <p:cNvSpPr/>
          <p:nvPr/>
        </p:nvSpPr>
        <p:spPr>
          <a:xfrm>
            <a:off x="7205472" y="3364992"/>
            <a:ext cx="1049274" cy="420624"/>
          </a:xfrm>
          <a:prstGeom prst="rect">
            <a:avLst/>
          </a:prstGeom>
          <a:solidFill>
            <a:srgbClr val="D96310"/>
          </a:solidFill>
          <a:ln w="15240">
            <a:solidFill>
              <a:srgbClr val="FFFFFF"/>
            </a:solidFill>
            <a:prstDash val="solid"/>
          </a:ln>
        </p:spPr>
      </p:sp>
      <p:sp>
        <p:nvSpPr>
          <p:cNvPr id="41" name="Shape 39"/>
          <p:cNvSpPr/>
          <p:nvPr/>
        </p:nvSpPr>
        <p:spPr>
          <a:xfrm>
            <a:off x="8309610" y="3364992"/>
            <a:ext cx="1049274" cy="420624"/>
          </a:xfrm>
          <a:prstGeom prst="rect">
            <a:avLst/>
          </a:prstGeom>
          <a:solidFill>
            <a:srgbClr val="E07608"/>
          </a:solidFill>
          <a:ln w="15240">
            <a:solidFill>
              <a:srgbClr val="FFFFFF"/>
            </a:solidFill>
            <a:prstDash val="solid"/>
          </a:ln>
        </p:spPr>
      </p:sp>
      <p:sp>
        <p:nvSpPr>
          <p:cNvPr id="42" name="Shape 40"/>
          <p:cNvSpPr/>
          <p:nvPr/>
        </p:nvSpPr>
        <p:spPr>
          <a:xfrm>
            <a:off x="9413748" y="3364992"/>
            <a:ext cx="1049274" cy="420624"/>
          </a:xfrm>
          <a:prstGeom prst="rect">
            <a:avLst/>
          </a:prstGeom>
          <a:solidFill>
            <a:srgbClr val="E68A00"/>
          </a:solidFill>
          <a:ln w="15240">
            <a:solidFill>
              <a:srgbClr val="FFFFFF"/>
            </a:solidFill>
            <a:prstDash val="solid"/>
          </a:ln>
        </p:spPr>
      </p:sp>
      <p:sp>
        <p:nvSpPr>
          <p:cNvPr id="43" name="Shape 41"/>
          <p:cNvSpPr/>
          <p:nvPr/>
        </p:nvSpPr>
        <p:spPr>
          <a:xfrm>
            <a:off x="10517886" y="3364992"/>
            <a:ext cx="1049274" cy="420624"/>
          </a:xfrm>
          <a:prstGeom prst="rect">
            <a:avLst/>
          </a:prstGeom>
          <a:solidFill>
            <a:srgbClr val="D48905"/>
          </a:solidFill>
          <a:ln w="15240">
            <a:solidFill>
              <a:srgbClr val="FFFFFF"/>
            </a:solidFill>
            <a:prstDash val="solid"/>
          </a:ln>
        </p:spPr>
      </p:sp>
      <p:sp>
        <p:nvSpPr>
          <p:cNvPr id="44" name="Shape 42"/>
          <p:cNvSpPr/>
          <p:nvPr/>
        </p:nvSpPr>
        <p:spPr>
          <a:xfrm>
            <a:off x="2788920" y="3840480"/>
            <a:ext cx="1049274" cy="420624"/>
          </a:xfrm>
          <a:prstGeom prst="rect">
            <a:avLst/>
          </a:prstGeom>
          <a:solidFill>
            <a:srgbClr val="E07608"/>
          </a:solidFill>
          <a:ln w="15240">
            <a:solidFill>
              <a:srgbClr val="FFFFFF"/>
            </a:solidFill>
            <a:prstDash val="solid"/>
          </a:ln>
        </p:spPr>
      </p:sp>
      <p:sp>
        <p:nvSpPr>
          <p:cNvPr id="45" name="Shape 43"/>
          <p:cNvSpPr/>
          <p:nvPr/>
        </p:nvSpPr>
        <p:spPr>
          <a:xfrm>
            <a:off x="3893058" y="3840480"/>
            <a:ext cx="1049274" cy="420624"/>
          </a:xfrm>
          <a:prstGeom prst="rect">
            <a:avLst/>
          </a:prstGeom>
          <a:solidFill>
            <a:srgbClr val="D0451C"/>
          </a:solidFill>
          <a:ln w="15240">
            <a:solidFill>
              <a:srgbClr val="FFFFFF"/>
            </a:solidFill>
            <a:prstDash val="solid"/>
          </a:ln>
        </p:spPr>
      </p:sp>
      <p:sp>
        <p:nvSpPr>
          <p:cNvPr id="46" name="Shape 44"/>
          <p:cNvSpPr/>
          <p:nvPr/>
        </p:nvSpPr>
        <p:spPr>
          <a:xfrm>
            <a:off x="4997196" y="3840480"/>
            <a:ext cx="1049274" cy="420624"/>
          </a:xfrm>
          <a:prstGeom prst="rect">
            <a:avLst/>
          </a:prstGeom>
          <a:solidFill>
            <a:srgbClr val="CC3C20"/>
          </a:solidFill>
          <a:ln w="15240">
            <a:solidFill>
              <a:srgbClr val="FFFFFF"/>
            </a:solidFill>
            <a:prstDash val="solid"/>
          </a:ln>
        </p:spPr>
      </p:sp>
      <p:sp>
        <p:nvSpPr>
          <p:cNvPr id="47" name="Shape 45"/>
          <p:cNvSpPr/>
          <p:nvPr/>
        </p:nvSpPr>
        <p:spPr>
          <a:xfrm>
            <a:off x="6101334" y="3840480"/>
            <a:ext cx="1049274" cy="420624"/>
          </a:xfrm>
          <a:prstGeom prst="rect">
            <a:avLst/>
          </a:prstGeom>
          <a:solidFill>
            <a:srgbClr val="D96310"/>
          </a:solidFill>
          <a:ln w="15240">
            <a:solidFill>
              <a:srgbClr val="FFFFFF"/>
            </a:solidFill>
            <a:prstDash val="solid"/>
          </a:ln>
        </p:spPr>
      </p:sp>
      <p:sp>
        <p:nvSpPr>
          <p:cNvPr id="48" name="Shape 46"/>
          <p:cNvSpPr/>
          <p:nvPr/>
        </p:nvSpPr>
        <p:spPr>
          <a:xfrm>
            <a:off x="7205472" y="3840480"/>
            <a:ext cx="1049274" cy="420624"/>
          </a:xfrm>
          <a:prstGeom prst="rect">
            <a:avLst/>
          </a:prstGeom>
          <a:solidFill>
            <a:srgbClr val="E68A00"/>
          </a:solidFill>
          <a:ln w="15240">
            <a:solidFill>
              <a:srgbClr val="FFFFFF"/>
            </a:solidFill>
            <a:prstDash val="solid"/>
          </a:ln>
        </p:spPr>
      </p:sp>
      <p:sp>
        <p:nvSpPr>
          <p:cNvPr id="49" name="Shape 47"/>
          <p:cNvSpPr/>
          <p:nvPr/>
        </p:nvSpPr>
        <p:spPr>
          <a:xfrm>
            <a:off x="8309610" y="3840480"/>
            <a:ext cx="1049274" cy="420624"/>
          </a:xfrm>
          <a:prstGeom prst="rect">
            <a:avLst/>
          </a:prstGeom>
          <a:solidFill>
            <a:srgbClr val="C1870A"/>
          </a:solidFill>
          <a:ln w="15240">
            <a:solidFill>
              <a:srgbClr val="FFFFFF"/>
            </a:solidFill>
            <a:prstDash val="solid"/>
          </a:ln>
        </p:spPr>
      </p:sp>
      <p:sp>
        <p:nvSpPr>
          <p:cNvPr id="50" name="Shape 48"/>
          <p:cNvSpPr/>
          <p:nvPr/>
        </p:nvSpPr>
        <p:spPr>
          <a:xfrm>
            <a:off x="9413748" y="3840480"/>
            <a:ext cx="1049274" cy="420624"/>
          </a:xfrm>
          <a:prstGeom prst="rect">
            <a:avLst/>
          </a:prstGeom>
          <a:solidFill>
            <a:srgbClr val="AF860F"/>
          </a:solidFill>
          <a:ln w="15240">
            <a:solidFill>
              <a:srgbClr val="FFFFFF"/>
            </a:solidFill>
            <a:prstDash val="solid"/>
          </a:ln>
        </p:spPr>
      </p:sp>
      <p:sp>
        <p:nvSpPr>
          <p:cNvPr id="51" name="Shape 49"/>
          <p:cNvSpPr/>
          <p:nvPr/>
        </p:nvSpPr>
        <p:spPr>
          <a:xfrm>
            <a:off x="10517886" y="3840480"/>
            <a:ext cx="1049274" cy="420624"/>
          </a:xfrm>
          <a:prstGeom prst="rect">
            <a:avLst/>
          </a:prstGeom>
          <a:solidFill>
            <a:srgbClr val="9C8514"/>
          </a:solidFill>
          <a:ln w="15240">
            <a:solidFill>
              <a:srgbClr val="FFFFFF"/>
            </a:solidFill>
            <a:prstDash val="solid"/>
          </a:ln>
        </p:spPr>
      </p:sp>
      <p:sp>
        <p:nvSpPr>
          <p:cNvPr id="52" name="Shape 50"/>
          <p:cNvSpPr/>
          <p:nvPr/>
        </p:nvSpPr>
        <p:spPr>
          <a:xfrm>
            <a:off x="2788920" y="4315968"/>
            <a:ext cx="1049274" cy="420624"/>
          </a:xfrm>
          <a:prstGeom prst="rect">
            <a:avLst/>
          </a:prstGeom>
          <a:solidFill>
            <a:srgbClr val="8A8419"/>
          </a:solidFill>
          <a:ln w="15240">
            <a:solidFill>
              <a:srgbClr val="FFFFFF"/>
            </a:solidFill>
            <a:prstDash val="solid"/>
          </a:ln>
        </p:spPr>
      </p:sp>
      <p:sp>
        <p:nvSpPr>
          <p:cNvPr id="53" name="Shape 51"/>
          <p:cNvSpPr/>
          <p:nvPr/>
        </p:nvSpPr>
        <p:spPr>
          <a:xfrm>
            <a:off x="3893058" y="4315968"/>
            <a:ext cx="1049274" cy="420624"/>
          </a:xfrm>
          <a:prstGeom prst="rect">
            <a:avLst/>
          </a:prstGeom>
          <a:solidFill>
            <a:srgbClr val="E38004"/>
          </a:solidFill>
          <a:ln w="15240">
            <a:solidFill>
              <a:srgbClr val="FFFFFF"/>
            </a:solidFill>
            <a:prstDash val="solid"/>
          </a:ln>
        </p:spPr>
      </p:sp>
      <p:sp>
        <p:nvSpPr>
          <p:cNvPr id="54" name="Shape 52"/>
          <p:cNvSpPr/>
          <p:nvPr/>
        </p:nvSpPr>
        <p:spPr>
          <a:xfrm>
            <a:off x="4997196" y="4315968"/>
            <a:ext cx="1049274" cy="420624"/>
          </a:xfrm>
          <a:prstGeom prst="rect">
            <a:avLst/>
          </a:prstGeom>
          <a:solidFill>
            <a:srgbClr val="CC3C20"/>
          </a:solidFill>
          <a:ln w="15240">
            <a:solidFill>
              <a:srgbClr val="FFFFFF"/>
            </a:solidFill>
            <a:prstDash val="solid"/>
          </a:ln>
        </p:spPr>
      </p:sp>
      <p:sp>
        <p:nvSpPr>
          <p:cNvPr id="55" name="Shape 53"/>
          <p:cNvSpPr/>
          <p:nvPr/>
        </p:nvSpPr>
        <p:spPr>
          <a:xfrm>
            <a:off x="6101334" y="4315968"/>
            <a:ext cx="1049274" cy="420624"/>
          </a:xfrm>
          <a:prstGeom prst="rect">
            <a:avLst/>
          </a:prstGeom>
          <a:solidFill>
            <a:srgbClr val="C93224"/>
          </a:solidFill>
          <a:ln w="15240">
            <a:solidFill>
              <a:srgbClr val="FFFFFF"/>
            </a:solidFill>
            <a:prstDash val="solid"/>
          </a:ln>
        </p:spPr>
      </p:sp>
      <p:sp>
        <p:nvSpPr>
          <p:cNvPr id="56" name="Shape 54"/>
          <p:cNvSpPr/>
          <p:nvPr/>
        </p:nvSpPr>
        <p:spPr>
          <a:xfrm>
            <a:off x="7205472" y="4315968"/>
            <a:ext cx="1049274" cy="420624"/>
          </a:xfrm>
          <a:prstGeom prst="rect">
            <a:avLst/>
          </a:prstGeom>
          <a:solidFill>
            <a:srgbClr val="D0451C"/>
          </a:solidFill>
          <a:ln w="15240">
            <a:solidFill>
              <a:srgbClr val="FFFFFF"/>
            </a:solidFill>
            <a:prstDash val="solid"/>
          </a:ln>
        </p:spPr>
      </p:sp>
      <p:sp>
        <p:nvSpPr>
          <p:cNvPr id="57" name="Shape 55"/>
          <p:cNvSpPr/>
          <p:nvPr/>
        </p:nvSpPr>
        <p:spPr>
          <a:xfrm>
            <a:off x="8309610" y="4315968"/>
            <a:ext cx="1049274" cy="420624"/>
          </a:xfrm>
          <a:prstGeom prst="rect">
            <a:avLst/>
          </a:prstGeom>
          <a:solidFill>
            <a:srgbClr val="E07608"/>
          </a:solidFill>
          <a:ln w="15240">
            <a:solidFill>
              <a:srgbClr val="FFFFFF"/>
            </a:solidFill>
            <a:prstDash val="solid"/>
          </a:ln>
        </p:spPr>
      </p:sp>
      <p:sp>
        <p:nvSpPr>
          <p:cNvPr id="58" name="Shape 56"/>
          <p:cNvSpPr/>
          <p:nvPr/>
        </p:nvSpPr>
        <p:spPr>
          <a:xfrm>
            <a:off x="9413748" y="4315968"/>
            <a:ext cx="1049274" cy="420624"/>
          </a:xfrm>
          <a:prstGeom prst="rect">
            <a:avLst/>
          </a:prstGeom>
          <a:solidFill>
            <a:srgbClr val="C1870A"/>
          </a:solidFill>
          <a:ln w="15240">
            <a:solidFill>
              <a:srgbClr val="FFFFFF"/>
            </a:solidFill>
            <a:prstDash val="solid"/>
          </a:ln>
        </p:spPr>
      </p:sp>
      <p:sp>
        <p:nvSpPr>
          <p:cNvPr id="59" name="Shape 57"/>
          <p:cNvSpPr/>
          <p:nvPr/>
        </p:nvSpPr>
        <p:spPr>
          <a:xfrm>
            <a:off x="10517886" y="4315968"/>
            <a:ext cx="1049274" cy="420624"/>
          </a:xfrm>
          <a:prstGeom prst="rect">
            <a:avLst/>
          </a:prstGeom>
          <a:solidFill>
            <a:srgbClr val="9C8514"/>
          </a:solidFill>
          <a:ln w="15240">
            <a:solidFill>
              <a:srgbClr val="FFFFFF"/>
            </a:solidFill>
            <a:prstDash val="solid"/>
          </a:ln>
        </p:spPr>
      </p:sp>
      <p:sp>
        <p:nvSpPr>
          <p:cNvPr id="60" name="Shape 58"/>
          <p:cNvSpPr/>
          <p:nvPr/>
        </p:nvSpPr>
        <p:spPr>
          <a:xfrm>
            <a:off x="2788920" y="4791456"/>
            <a:ext cx="1049274" cy="420624"/>
          </a:xfrm>
          <a:prstGeom prst="rect">
            <a:avLst/>
          </a:prstGeom>
          <a:solidFill>
            <a:srgbClr val="C1870A"/>
          </a:solidFill>
          <a:ln w="15240">
            <a:solidFill>
              <a:srgbClr val="FFFFFF"/>
            </a:solidFill>
            <a:prstDash val="solid"/>
          </a:ln>
        </p:spPr>
      </p:sp>
      <p:sp>
        <p:nvSpPr>
          <p:cNvPr id="61" name="Shape 59"/>
          <p:cNvSpPr/>
          <p:nvPr/>
        </p:nvSpPr>
        <p:spPr>
          <a:xfrm>
            <a:off x="3893058" y="4791456"/>
            <a:ext cx="1049274" cy="420624"/>
          </a:xfrm>
          <a:prstGeom prst="rect">
            <a:avLst/>
          </a:prstGeom>
          <a:solidFill>
            <a:srgbClr val="E68A00"/>
          </a:solidFill>
          <a:ln w="15240">
            <a:solidFill>
              <a:srgbClr val="FFFFFF"/>
            </a:solidFill>
            <a:prstDash val="solid"/>
          </a:ln>
        </p:spPr>
      </p:sp>
      <p:sp>
        <p:nvSpPr>
          <p:cNvPr id="62" name="Shape 60"/>
          <p:cNvSpPr/>
          <p:nvPr/>
        </p:nvSpPr>
        <p:spPr>
          <a:xfrm>
            <a:off x="4997196" y="4791456"/>
            <a:ext cx="1049274" cy="420624"/>
          </a:xfrm>
          <a:prstGeom prst="rect">
            <a:avLst/>
          </a:prstGeom>
          <a:solidFill>
            <a:srgbClr val="E38004"/>
          </a:solidFill>
          <a:ln w="15240">
            <a:solidFill>
              <a:srgbClr val="FFFFFF"/>
            </a:solidFill>
            <a:prstDash val="solid"/>
          </a:ln>
        </p:spPr>
      </p:sp>
      <p:sp>
        <p:nvSpPr>
          <p:cNvPr id="63" name="Shape 61"/>
          <p:cNvSpPr/>
          <p:nvPr/>
        </p:nvSpPr>
        <p:spPr>
          <a:xfrm>
            <a:off x="6101334" y="4791456"/>
            <a:ext cx="1049274" cy="420624"/>
          </a:xfrm>
          <a:prstGeom prst="rect">
            <a:avLst/>
          </a:prstGeom>
          <a:solidFill>
            <a:srgbClr val="E07608"/>
          </a:solidFill>
          <a:ln w="15240">
            <a:solidFill>
              <a:srgbClr val="FFFFFF"/>
            </a:solidFill>
            <a:prstDash val="solid"/>
          </a:ln>
        </p:spPr>
      </p:sp>
      <p:sp>
        <p:nvSpPr>
          <p:cNvPr id="64" name="Shape 62"/>
          <p:cNvSpPr/>
          <p:nvPr/>
        </p:nvSpPr>
        <p:spPr>
          <a:xfrm>
            <a:off x="7205472" y="4791456"/>
            <a:ext cx="1049274" cy="420624"/>
          </a:xfrm>
          <a:prstGeom prst="rect">
            <a:avLst/>
          </a:prstGeom>
          <a:solidFill>
            <a:srgbClr val="E38004"/>
          </a:solidFill>
          <a:ln w="15240">
            <a:solidFill>
              <a:srgbClr val="FFFFFF"/>
            </a:solidFill>
            <a:prstDash val="solid"/>
          </a:ln>
        </p:spPr>
      </p:sp>
      <p:sp>
        <p:nvSpPr>
          <p:cNvPr id="65" name="Shape 63"/>
          <p:cNvSpPr/>
          <p:nvPr/>
        </p:nvSpPr>
        <p:spPr>
          <a:xfrm>
            <a:off x="8309610" y="4791456"/>
            <a:ext cx="1049274" cy="420624"/>
          </a:xfrm>
          <a:prstGeom prst="rect">
            <a:avLst/>
          </a:prstGeom>
          <a:solidFill>
            <a:srgbClr val="E68A00"/>
          </a:solidFill>
          <a:ln w="15240">
            <a:solidFill>
              <a:srgbClr val="FFFFFF"/>
            </a:solidFill>
            <a:prstDash val="solid"/>
          </a:ln>
        </p:spPr>
      </p:sp>
      <p:sp>
        <p:nvSpPr>
          <p:cNvPr id="66" name="Shape 64"/>
          <p:cNvSpPr/>
          <p:nvPr/>
        </p:nvSpPr>
        <p:spPr>
          <a:xfrm>
            <a:off x="9413748" y="4791456"/>
            <a:ext cx="1049274" cy="420624"/>
          </a:xfrm>
          <a:prstGeom prst="rect">
            <a:avLst/>
          </a:prstGeom>
          <a:solidFill>
            <a:srgbClr val="D48905"/>
          </a:solidFill>
          <a:ln w="15240">
            <a:solidFill>
              <a:srgbClr val="FFFFFF"/>
            </a:solidFill>
            <a:prstDash val="solid"/>
          </a:ln>
        </p:spPr>
      </p:sp>
      <p:sp>
        <p:nvSpPr>
          <p:cNvPr id="67" name="Shape 65"/>
          <p:cNvSpPr/>
          <p:nvPr/>
        </p:nvSpPr>
        <p:spPr>
          <a:xfrm>
            <a:off x="10517886" y="4791456"/>
            <a:ext cx="1049274" cy="420624"/>
          </a:xfrm>
          <a:prstGeom prst="rect">
            <a:avLst/>
          </a:prstGeom>
          <a:solidFill>
            <a:srgbClr val="C1870A"/>
          </a:solidFill>
          <a:ln w="15240">
            <a:solidFill>
              <a:srgbClr val="FFFFFF"/>
            </a:solidFill>
            <a:prstDash val="solid"/>
          </a:ln>
        </p:spPr>
      </p:sp>
      <p:sp>
        <p:nvSpPr>
          <p:cNvPr id="68" name="Shape 66"/>
          <p:cNvSpPr/>
          <p:nvPr/>
        </p:nvSpPr>
        <p:spPr>
          <a:xfrm>
            <a:off x="2788920" y="5349240"/>
            <a:ext cx="201168" cy="146304"/>
          </a:xfrm>
          <a:prstGeom prst="rect">
            <a:avLst/>
          </a:prstGeom>
          <a:solidFill>
            <a:srgbClr val="2E7D32"/>
          </a:solidFill>
          <a:ln/>
        </p:spPr>
      </p:sp>
      <p:sp>
        <p:nvSpPr>
          <p:cNvPr id="69" name="Text 67"/>
          <p:cNvSpPr/>
          <p:nvPr/>
        </p:nvSpPr>
        <p:spPr>
          <a:xfrm>
            <a:off x="3063240" y="5276088"/>
            <a:ext cx="1280160" cy="27432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Comfortable</a:t>
            </a:r>
            <a:endParaRPr lang="en-US" sz="1000" dirty="0"/>
          </a:p>
        </p:txBody>
      </p:sp>
      <p:sp>
        <p:nvSpPr>
          <p:cNvPr id="70" name="Shape 68"/>
          <p:cNvSpPr/>
          <p:nvPr/>
        </p:nvSpPr>
        <p:spPr>
          <a:xfrm>
            <a:off x="4389120" y="5349240"/>
            <a:ext cx="201168" cy="146304"/>
          </a:xfrm>
          <a:prstGeom prst="rect">
            <a:avLst/>
          </a:prstGeom>
          <a:solidFill>
            <a:srgbClr val="E68A00"/>
          </a:solidFill>
          <a:ln/>
        </p:spPr>
      </p:sp>
      <p:sp>
        <p:nvSpPr>
          <p:cNvPr id="71" name="Text 69"/>
          <p:cNvSpPr/>
          <p:nvPr/>
        </p:nvSpPr>
        <p:spPr>
          <a:xfrm>
            <a:off x="4663440" y="5276088"/>
            <a:ext cx="1280160" cy="27432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Tight</a:t>
            </a:r>
            <a:endParaRPr lang="en-US" sz="1000" dirty="0"/>
          </a:p>
        </p:txBody>
      </p:sp>
      <p:sp>
        <p:nvSpPr>
          <p:cNvPr id="72" name="Shape 70"/>
          <p:cNvSpPr/>
          <p:nvPr/>
        </p:nvSpPr>
        <p:spPr>
          <a:xfrm>
            <a:off x="5989320" y="5349240"/>
            <a:ext cx="201168" cy="146304"/>
          </a:xfrm>
          <a:prstGeom prst="rect">
            <a:avLst/>
          </a:prstGeom>
          <a:solidFill>
            <a:srgbClr val="C62828"/>
          </a:solidFill>
          <a:ln/>
        </p:spPr>
      </p:sp>
      <p:sp>
        <p:nvSpPr>
          <p:cNvPr id="73" name="Text 71"/>
          <p:cNvSpPr/>
          <p:nvPr/>
        </p:nvSpPr>
        <p:spPr>
          <a:xfrm>
            <a:off x="6263640" y="5276088"/>
            <a:ext cx="1280160" cy="27432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Overloaded</a:t>
            </a:r>
            <a:endParaRPr lang="en-US" sz="1000" dirty="0"/>
          </a:p>
        </p:txBody>
      </p:sp>
      <p:sp>
        <p:nvSpPr>
          <p:cNvPr id="74" name="Shape 72"/>
          <p:cNvSpPr/>
          <p:nvPr/>
        </p:nvSpPr>
        <p:spPr>
          <a:xfrm>
            <a:off x="502920" y="5779008"/>
            <a:ext cx="11155680" cy="548640"/>
          </a:xfrm>
          <a:prstGeom prst="rect">
            <a:avLst/>
          </a:prstGeom>
          <a:solidFill>
            <a:srgbClr val="EFF4FE"/>
          </a:solidFill>
          <a:ln w="6350">
            <a:solidFill>
              <a:srgbClr val="CFCFCF"/>
            </a:solidFill>
            <a:prstDash val="solid"/>
          </a:ln>
        </p:spPr>
      </p:sp>
      <p:sp>
        <p:nvSpPr>
          <p:cNvPr id="75" name="Shape 73"/>
          <p:cNvSpPr/>
          <p:nvPr/>
        </p:nvSpPr>
        <p:spPr>
          <a:xfrm>
            <a:off x="502920" y="5779008"/>
            <a:ext cx="73152" cy="548640"/>
          </a:xfrm>
          <a:prstGeom prst="rect">
            <a:avLst/>
          </a:prstGeom>
          <a:solidFill>
            <a:srgbClr val="2E7CF6"/>
          </a:solidFill>
          <a:ln/>
        </p:spPr>
      </p:sp>
      <p:sp>
        <p:nvSpPr>
          <p:cNvPr id="76" name="Text 7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Action: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Q3-Q4 2027 run hot on technicians, experts and trainers: contract 12 external trainers now or slip wave 2 by a quarter.</a:t>
            </a:r>
            <a:endParaRPr lang="en-US" sz="1200" dirty="0"/>
          </a:p>
        </p:txBody>
      </p:sp>
      <p:sp>
        <p:nvSpPr>
          <p:cNvPr id="77" name="Text 7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capacity model v3, program PMO</a:t>
            </a:r>
            <a:endParaRPr lang="en-US" sz="800" dirty="0"/>
          </a:p>
        </p:txBody>
      </p:sp>
      <p:sp>
        <p:nvSpPr>
          <p:cNvPr id="78" name="Text 7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31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PROJECT PLAN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Eight workstreams over 24 months; the go/no-go after the pilot is the plan's single hinge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Full-page Gantt: accent = critical path, gray = supporting streams, diamonds = program milestones.</a:t>
            </a:r>
            <a:endParaRPr lang="en-US" sz="1350" dirty="0"/>
          </a:p>
        </p:txBody>
      </p:sp>
      <p:sp>
        <p:nvSpPr>
          <p:cNvPr id="6" name="Text 4"/>
          <p:cNvSpPr/>
          <p:nvPr/>
        </p:nvSpPr>
        <p:spPr>
          <a:xfrm>
            <a:off x="315468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27</a:t>
            </a:r>
            <a:endParaRPr lang="en-US" sz="900" dirty="0"/>
          </a:p>
        </p:txBody>
      </p:sp>
      <p:sp>
        <p:nvSpPr>
          <p:cNvPr id="7" name="Text 5"/>
          <p:cNvSpPr/>
          <p:nvPr/>
        </p:nvSpPr>
        <p:spPr>
          <a:xfrm>
            <a:off x="421767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27</a:t>
            </a:r>
            <a:endParaRPr lang="en-US" sz="900" dirty="0"/>
          </a:p>
        </p:txBody>
      </p:sp>
      <p:sp>
        <p:nvSpPr>
          <p:cNvPr id="8" name="Text 6"/>
          <p:cNvSpPr/>
          <p:nvPr/>
        </p:nvSpPr>
        <p:spPr>
          <a:xfrm>
            <a:off x="528066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27</a:t>
            </a:r>
            <a:endParaRPr lang="en-US" sz="900" dirty="0"/>
          </a:p>
        </p:txBody>
      </p:sp>
      <p:sp>
        <p:nvSpPr>
          <p:cNvPr id="9" name="Text 7"/>
          <p:cNvSpPr/>
          <p:nvPr/>
        </p:nvSpPr>
        <p:spPr>
          <a:xfrm>
            <a:off x="634365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27</a:t>
            </a:r>
            <a:endParaRPr lang="en-US" sz="900" dirty="0"/>
          </a:p>
        </p:txBody>
      </p:sp>
      <p:sp>
        <p:nvSpPr>
          <p:cNvPr id="10" name="Text 8"/>
          <p:cNvSpPr/>
          <p:nvPr/>
        </p:nvSpPr>
        <p:spPr>
          <a:xfrm>
            <a:off x="740664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28</a:t>
            </a:r>
            <a:endParaRPr lang="en-US" sz="900" dirty="0"/>
          </a:p>
        </p:txBody>
      </p:sp>
      <p:sp>
        <p:nvSpPr>
          <p:cNvPr id="11" name="Text 9"/>
          <p:cNvSpPr/>
          <p:nvPr/>
        </p:nvSpPr>
        <p:spPr>
          <a:xfrm>
            <a:off x="846963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28</a:t>
            </a:r>
            <a:endParaRPr lang="en-US" sz="900" dirty="0"/>
          </a:p>
        </p:txBody>
      </p:sp>
      <p:sp>
        <p:nvSpPr>
          <p:cNvPr id="12" name="Text 10"/>
          <p:cNvSpPr/>
          <p:nvPr/>
        </p:nvSpPr>
        <p:spPr>
          <a:xfrm>
            <a:off x="953262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28</a:t>
            </a:r>
            <a:endParaRPr lang="en-US" sz="900" dirty="0"/>
          </a:p>
        </p:txBody>
      </p:sp>
      <p:sp>
        <p:nvSpPr>
          <p:cNvPr id="13" name="Text 11"/>
          <p:cNvSpPr/>
          <p:nvPr/>
        </p:nvSpPr>
        <p:spPr>
          <a:xfrm>
            <a:off x="1059561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28</a:t>
            </a:r>
            <a:endParaRPr lang="en-US" sz="900" dirty="0"/>
          </a:p>
        </p:txBody>
      </p:sp>
      <p:sp>
        <p:nvSpPr>
          <p:cNvPr id="14" name="Text 12"/>
          <p:cNvSpPr/>
          <p:nvPr/>
        </p:nvSpPr>
        <p:spPr>
          <a:xfrm>
            <a:off x="502920" y="2560320"/>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M&amp;A &amp; Novaserv integration</a:t>
            </a:r>
            <a:endParaRPr lang="en-US" sz="1000" dirty="0"/>
          </a:p>
        </p:txBody>
      </p:sp>
      <p:sp>
        <p:nvSpPr>
          <p:cNvPr id="15" name="Shape 13"/>
          <p:cNvSpPr/>
          <p:nvPr/>
        </p:nvSpPr>
        <p:spPr>
          <a:xfrm>
            <a:off x="3154680" y="2842641"/>
            <a:ext cx="8503920" cy="0"/>
          </a:xfrm>
          <a:prstGeom prst="line">
            <a:avLst/>
          </a:prstGeom>
          <a:noFill/>
          <a:ln w="6350">
            <a:solidFill>
              <a:srgbClr val="EEEEEE"/>
            </a:solidFill>
            <a:prstDash val="solid"/>
          </a:ln>
        </p:spPr>
      </p:sp>
      <p:sp>
        <p:nvSpPr>
          <p:cNvPr id="16" name="Shape 14"/>
          <p:cNvSpPr/>
          <p:nvPr/>
        </p:nvSpPr>
        <p:spPr>
          <a:xfrm>
            <a:off x="3191256" y="2628077"/>
            <a:ext cx="3115818" cy="146807"/>
          </a:xfrm>
          <a:prstGeom prst="roundRect">
            <a:avLst>
              <a:gd name="adj" fmla="val 24914"/>
            </a:avLst>
          </a:prstGeom>
          <a:solidFill>
            <a:srgbClr val="2E7CF6"/>
          </a:solidFill>
          <a:ln/>
        </p:spPr>
      </p:sp>
      <p:sp>
        <p:nvSpPr>
          <p:cNvPr id="17" name="Text 15"/>
          <p:cNvSpPr/>
          <p:nvPr/>
        </p:nvSpPr>
        <p:spPr>
          <a:xfrm>
            <a:off x="502920" y="2842641"/>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North pilot (400 sites)</a:t>
            </a:r>
            <a:endParaRPr lang="en-US" sz="1000" dirty="0"/>
          </a:p>
        </p:txBody>
      </p:sp>
      <p:sp>
        <p:nvSpPr>
          <p:cNvPr id="18" name="Shape 16"/>
          <p:cNvSpPr/>
          <p:nvPr/>
        </p:nvSpPr>
        <p:spPr>
          <a:xfrm>
            <a:off x="3154680" y="3124962"/>
            <a:ext cx="8503920" cy="0"/>
          </a:xfrm>
          <a:prstGeom prst="line">
            <a:avLst/>
          </a:prstGeom>
          <a:noFill/>
          <a:ln w="6350">
            <a:solidFill>
              <a:srgbClr val="EEEEEE"/>
            </a:solidFill>
            <a:prstDash val="solid"/>
          </a:ln>
        </p:spPr>
      </p:sp>
      <p:sp>
        <p:nvSpPr>
          <p:cNvPr id="19" name="Shape 17"/>
          <p:cNvSpPr/>
          <p:nvPr/>
        </p:nvSpPr>
        <p:spPr>
          <a:xfrm>
            <a:off x="4254246" y="2910398"/>
            <a:ext cx="2052828" cy="146807"/>
          </a:xfrm>
          <a:prstGeom prst="roundRect">
            <a:avLst>
              <a:gd name="adj" fmla="val 24914"/>
            </a:avLst>
          </a:prstGeom>
          <a:solidFill>
            <a:srgbClr val="2E7CF6"/>
          </a:solidFill>
          <a:ln/>
        </p:spPr>
      </p:sp>
      <p:sp>
        <p:nvSpPr>
          <p:cNvPr id="20" name="Text 18"/>
          <p:cNvSpPr/>
          <p:nvPr/>
        </p:nvSpPr>
        <p:spPr>
          <a:xfrm>
            <a:off x="502920" y="3124962"/>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Premium offer &amp; pricing</a:t>
            </a:r>
            <a:endParaRPr lang="en-US" sz="1000" dirty="0"/>
          </a:p>
        </p:txBody>
      </p:sp>
      <p:sp>
        <p:nvSpPr>
          <p:cNvPr id="21" name="Shape 19"/>
          <p:cNvSpPr/>
          <p:nvPr/>
        </p:nvSpPr>
        <p:spPr>
          <a:xfrm>
            <a:off x="3154680" y="3407283"/>
            <a:ext cx="8503920" cy="0"/>
          </a:xfrm>
          <a:prstGeom prst="line">
            <a:avLst/>
          </a:prstGeom>
          <a:noFill/>
          <a:ln w="6350">
            <a:solidFill>
              <a:srgbClr val="EEEEEE"/>
            </a:solidFill>
            <a:prstDash val="solid"/>
          </a:ln>
        </p:spPr>
      </p:sp>
      <p:sp>
        <p:nvSpPr>
          <p:cNvPr id="22" name="Shape 20"/>
          <p:cNvSpPr/>
          <p:nvPr/>
        </p:nvSpPr>
        <p:spPr>
          <a:xfrm>
            <a:off x="3722751" y="3192719"/>
            <a:ext cx="2052828" cy="146807"/>
          </a:xfrm>
          <a:prstGeom prst="roundRect">
            <a:avLst>
              <a:gd name="adj" fmla="val 24914"/>
            </a:avLst>
          </a:prstGeom>
          <a:solidFill>
            <a:srgbClr val="ABAFB3"/>
          </a:solidFill>
          <a:ln/>
        </p:spPr>
      </p:sp>
      <p:sp>
        <p:nvSpPr>
          <p:cNvPr id="23" name="Text 21"/>
          <p:cNvSpPr/>
          <p:nvPr/>
        </p:nvSpPr>
        <p:spPr>
          <a:xfrm>
            <a:off x="502920" y="3407283"/>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Platform migration</a:t>
            </a:r>
            <a:endParaRPr lang="en-US" sz="1000" dirty="0"/>
          </a:p>
        </p:txBody>
      </p:sp>
      <p:sp>
        <p:nvSpPr>
          <p:cNvPr id="24" name="Shape 22"/>
          <p:cNvSpPr/>
          <p:nvPr/>
        </p:nvSpPr>
        <p:spPr>
          <a:xfrm>
            <a:off x="3154680" y="3689604"/>
            <a:ext cx="8503920" cy="0"/>
          </a:xfrm>
          <a:prstGeom prst="line">
            <a:avLst/>
          </a:prstGeom>
          <a:noFill/>
          <a:ln w="6350">
            <a:solidFill>
              <a:srgbClr val="EEEEEE"/>
            </a:solidFill>
            <a:prstDash val="solid"/>
          </a:ln>
        </p:spPr>
      </p:sp>
      <p:sp>
        <p:nvSpPr>
          <p:cNvPr id="25" name="Shape 23"/>
          <p:cNvSpPr/>
          <p:nvPr/>
        </p:nvSpPr>
        <p:spPr>
          <a:xfrm>
            <a:off x="5317236" y="3475040"/>
            <a:ext cx="4178808" cy="146807"/>
          </a:xfrm>
          <a:prstGeom prst="roundRect">
            <a:avLst>
              <a:gd name="adj" fmla="val 24914"/>
            </a:avLst>
          </a:prstGeom>
          <a:solidFill>
            <a:srgbClr val="2E7CF6"/>
          </a:solidFill>
          <a:ln/>
        </p:spPr>
      </p:sp>
      <p:sp>
        <p:nvSpPr>
          <p:cNvPr id="26" name="Text 24"/>
          <p:cNvSpPr/>
          <p:nvPr/>
        </p:nvSpPr>
        <p:spPr>
          <a:xfrm>
            <a:off x="502920" y="3689604"/>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Training waves (300 techs)</a:t>
            </a:r>
            <a:endParaRPr lang="en-US" sz="1000" dirty="0"/>
          </a:p>
        </p:txBody>
      </p:sp>
      <p:sp>
        <p:nvSpPr>
          <p:cNvPr id="27" name="Shape 25"/>
          <p:cNvSpPr/>
          <p:nvPr/>
        </p:nvSpPr>
        <p:spPr>
          <a:xfrm>
            <a:off x="3154680" y="3971925"/>
            <a:ext cx="8503920" cy="0"/>
          </a:xfrm>
          <a:prstGeom prst="line">
            <a:avLst/>
          </a:prstGeom>
          <a:noFill/>
          <a:ln w="6350">
            <a:solidFill>
              <a:srgbClr val="EEEEEE"/>
            </a:solidFill>
            <a:prstDash val="solid"/>
          </a:ln>
        </p:spPr>
      </p:sp>
      <p:sp>
        <p:nvSpPr>
          <p:cNvPr id="28" name="Shape 26"/>
          <p:cNvSpPr/>
          <p:nvPr/>
        </p:nvSpPr>
        <p:spPr>
          <a:xfrm>
            <a:off x="5848731" y="3757361"/>
            <a:ext cx="4710303" cy="146807"/>
          </a:xfrm>
          <a:prstGeom prst="roundRect">
            <a:avLst>
              <a:gd name="adj" fmla="val 24914"/>
            </a:avLst>
          </a:prstGeom>
          <a:solidFill>
            <a:srgbClr val="2E7CF6"/>
          </a:solidFill>
          <a:ln/>
        </p:spPr>
      </p:sp>
      <p:sp>
        <p:nvSpPr>
          <p:cNvPr id="29" name="Text 27"/>
          <p:cNvSpPr/>
          <p:nvPr/>
        </p:nvSpPr>
        <p:spPr>
          <a:xfrm>
            <a:off x="502920" y="3971925"/>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Regional roll-out (5 waves)</a:t>
            </a:r>
            <a:endParaRPr lang="en-US" sz="1000" dirty="0"/>
          </a:p>
        </p:txBody>
      </p:sp>
      <p:sp>
        <p:nvSpPr>
          <p:cNvPr id="30" name="Shape 28"/>
          <p:cNvSpPr/>
          <p:nvPr/>
        </p:nvSpPr>
        <p:spPr>
          <a:xfrm>
            <a:off x="3154680" y="4254246"/>
            <a:ext cx="8503920" cy="0"/>
          </a:xfrm>
          <a:prstGeom prst="line">
            <a:avLst/>
          </a:prstGeom>
          <a:noFill/>
          <a:ln w="6350">
            <a:solidFill>
              <a:srgbClr val="EEEEEE"/>
            </a:solidFill>
            <a:prstDash val="solid"/>
          </a:ln>
        </p:spPr>
      </p:sp>
      <p:sp>
        <p:nvSpPr>
          <p:cNvPr id="31" name="Shape 29"/>
          <p:cNvSpPr/>
          <p:nvPr/>
        </p:nvSpPr>
        <p:spPr>
          <a:xfrm>
            <a:off x="7443216" y="4039682"/>
            <a:ext cx="4178808" cy="146807"/>
          </a:xfrm>
          <a:prstGeom prst="roundRect">
            <a:avLst>
              <a:gd name="adj" fmla="val 24914"/>
            </a:avLst>
          </a:prstGeom>
          <a:solidFill>
            <a:srgbClr val="2E7CF6"/>
          </a:solidFill>
          <a:ln/>
        </p:spPr>
      </p:sp>
      <p:sp>
        <p:nvSpPr>
          <p:cNvPr id="32" name="Text 30"/>
          <p:cNvSpPr/>
          <p:nvPr/>
        </p:nvSpPr>
        <p:spPr>
          <a:xfrm>
            <a:off x="502920" y="4254246"/>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Parts hubs build-out</a:t>
            </a:r>
            <a:endParaRPr lang="en-US" sz="1000" dirty="0"/>
          </a:p>
        </p:txBody>
      </p:sp>
      <p:sp>
        <p:nvSpPr>
          <p:cNvPr id="33" name="Shape 31"/>
          <p:cNvSpPr/>
          <p:nvPr/>
        </p:nvSpPr>
        <p:spPr>
          <a:xfrm>
            <a:off x="3154680" y="4536567"/>
            <a:ext cx="8503920" cy="0"/>
          </a:xfrm>
          <a:prstGeom prst="line">
            <a:avLst/>
          </a:prstGeom>
          <a:noFill/>
          <a:ln w="6350">
            <a:solidFill>
              <a:srgbClr val="EEEEEE"/>
            </a:solidFill>
            <a:prstDash val="solid"/>
          </a:ln>
        </p:spPr>
      </p:sp>
      <p:sp>
        <p:nvSpPr>
          <p:cNvPr id="34" name="Shape 32"/>
          <p:cNvSpPr/>
          <p:nvPr/>
        </p:nvSpPr>
        <p:spPr>
          <a:xfrm>
            <a:off x="6380226" y="4322003"/>
            <a:ext cx="3115818" cy="146807"/>
          </a:xfrm>
          <a:prstGeom prst="roundRect">
            <a:avLst>
              <a:gd name="adj" fmla="val 24914"/>
            </a:avLst>
          </a:prstGeom>
          <a:solidFill>
            <a:srgbClr val="ABAFB3"/>
          </a:solidFill>
          <a:ln/>
        </p:spPr>
      </p:sp>
      <p:sp>
        <p:nvSpPr>
          <p:cNvPr id="35" name="Text 33"/>
          <p:cNvSpPr/>
          <p:nvPr/>
        </p:nvSpPr>
        <p:spPr>
          <a:xfrm>
            <a:off x="502920" y="4536567"/>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Benelux feasibility</a:t>
            </a:r>
            <a:endParaRPr lang="en-US" sz="1000" dirty="0"/>
          </a:p>
        </p:txBody>
      </p:sp>
      <p:sp>
        <p:nvSpPr>
          <p:cNvPr id="36" name="Shape 34"/>
          <p:cNvSpPr/>
          <p:nvPr/>
        </p:nvSpPr>
        <p:spPr>
          <a:xfrm>
            <a:off x="3154680" y="4818888"/>
            <a:ext cx="8503920" cy="0"/>
          </a:xfrm>
          <a:prstGeom prst="line">
            <a:avLst/>
          </a:prstGeom>
          <a:noFill/>
          <a:ln w="6350">
            <a:solidFill>
              <a:srgbClr val="EEEEEE"/>
            </a:solidFill>
            <a:prstDash val="solid"/>
          </a:ln>
        </p:spPr>
      </p:sp>
      <p:sp>
        <p:nvSpPr>
          <p:cNvPr id="37" name="Shape 35"/>
          <p:cNvSpPr/>
          <p:nvPr/>
        </p:nvSpPr>
        <p:spPr>
          <a:xfrm>
            <a:off x="9569196" y="4604324"/>
            <a:ext cx="2052828" cy="146807"/>
          </a:xfrm>
          <a:prstGeom prst="roundRect">
            <a:avLst>
              <a:gd name="adj" fmla="val 24914"/>
            </a:avLst>
          </a:prstGeom>
          <a:solidFill>
            <a:srgbClr val="ABAFB3"/>
          </a:solidFill>
          <a:ln/>
        </p:spPr>
      </p:sp>
      <p:sp>
        <p:nvSpPr>
          <p:cNvPr id="38" name="Shape 36"/>
          <p:cNvSpPr/>
          <p:nvPr/>
        </p:nvSpPr>
        <p:spPr>
          <a:xfrm>
            <a:off x="6270498" y="4873752"/>
            <a:ext cx="146304" cy="146304"/>
          </a:xfrm>
          <a:prstGeom prst="diamond">
            <a:avLst/>
          </a:prstGeom>
          <a:solidFill>
            <a:srgbClr val="1D5FCC"/>
          </a:solidFill>
          <a:ln/>
        </p:spPr>
      </p:sp>
      <p:sp>
        <p:nvSpPr>
          <p:cNvPr id="39" name="Text 37"/>
          <p:cNvSpPr/>
          <p:nvPr/>
        </p:nvSpPr>
        <p:spPr>
          <a:xfrm>
            <a:off x="5795010" y="503834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Go/no-go</a:t>
            </a:r>
            <a:endParaRPr lang="en-US" sz="800" dirty="0"/>
          </a:p>
        </p:txBody>
      </p:sp>
      <p:sp>
        <p:nvSpPr>
          <p:cNvPr id="40" name="Shape 38"/>
          <p:cNvSpPr/>
          <p:nvPr/>
        </p:nvSpPr>
        <p:spPr>
          <a:xfrm>
            <a:off x="8396478" y="4873752"/>
            <a:ext cx="146304" cy="146304"/>
          </a:xfrm>
          <a:prstGeom prst="diamond">
            <a:avLst/>
          </a:prstGeom>
          <a:solidFill>
            <a:srgbClr val="1D5FCC"/>
          </a:solidFill>
          <a:ln/>
        </p:spPr>
      </p:sp>
      <p:sp>
        <p:nvSpPr>
          <p:cNvPr id="41" name="Text 39"/>
          <p:cNvSpPr/>
          <p:nvPr/>
        </p:nvSpPr>
        <p:spPr>
          <a:xfrm>
            <a:off x="7920990" y="503834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Wave 3</a:t>
            </a:r>
            <a:endParaRPr lang="en-US" sz="800" dirty="0"/>
          </a:p>
        </p:txBody>
      </p:sp>
      <p:sp>
        <p:nvSpPr>
          <p:cNvPr id="42" name="Shape 40"/>
          <p:cNvSpPr/>
          <p:nvPr/>
        </p:nvSpPr>
        <p:spPr>
          <a:xfrm>
            <a:off x="11585448" y="4873752"/>
            <a:ext cx="146304" cy="146304"/>
          </a:xfrm>
          <a:prstGeom prst="diamond">
            <a:avLst/>
          </a:prstGeom>
          <a:solidFill>
            <a:srgbClr val="1D5FCC"/>
          </a:solidFill>
          <a:ln/>
        </p:spPr>
      </p:sp>
      <p:sp>
        <p:nvSpPr>
          <p:cNvPr id="43" name="Text 41"/>
          <p:cNvSpPr/>
          <p:nvPr/>
        </p:nvSpPr>
        <p:spPr>
          <a:xfrm>
            <a:off x="11109960" y="503834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35% mix</a:t>
            </a:r>
            <a:endParaRPr lang="en-US" sz="800" dirty="0"/>
          </a:p>
        </p:txBody>
      </p:sp>
      <p:sp>
        <p:nvSpPr>
          <p:cNvPr id="44" name="Shape 42"/>
          <p:cNvSpPr/>
          <p:nvPr/>
        </p:nvSpPr>
        <p:spPr>
          <a:xfrm>
            <a:off x="502920" y="5779008"/>
            <a:ext cx="11155680" cy="548640"/>
          </a:xfrm>
          <a:prstGeom prst="rect">
            <a:avLst/>
          </a:prstGeom>
          <a:solidFill>
            <a:srgbClr val="EFF4FE"/>
          </a:solidFill>
          <a:ln w="6350">
            <a:solidFill>
              <a:srgbClr val="CFCFCF"/>
            </a:solidFill>
            <a:prstDash val="solid"/>
          </a:ln>
        </p:spPr>
      </p:sp>
      <p:sp>
        <p:nvSpPr>
          <p:cNvPr id="45" name="Shape 43"/>
          <p:cNvSpPr/>
          <p:nvPr/>
        </p:nvSpPr>
        <p:spPr>
          <a:xfrm>
            <a:off x="502920" y="5779008"/>
            <a:ext cx="73152" cy="548640"/>
          </a:xfrm>
          <a:prstGeom prst="rect">
            <a:avLst/>
          </a:prstGeom>
          <a:solidFill>
            <a:srgbClr val="2E7CF6"/>
          </a:solidFill>
          <a:ln/>
        </p:spPr>
      </p:sp>
      <p:sp>
        <p:nvSpPr>
          <p:cNvPr id="46" name="Text 4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Critical path: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M&amp;A -&gt; pilot -&gt; platform -&gt; roll-out: a one-quarter slip on any accent bar moves the 35% mix target by a quarter.</a:t>
            </a:r>
            <a:endParaRPr lang="en-US" sz="1200" dirty="0"/>
          </a:p>
        </p:txBody>
      </p:sp>
      <p:sp>
        <p:nvSpPr>
          <p:cNvPr id="47" name="Text 4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integrated program plan v2, July 2026</a:t>
            </a:r>
            <a:endParaRPr lang="en-US" sz="800" dirty="0"/>
          </a:p>
        </p:txBody>
      </p:sp>
      <p:sp>
        <p:nvSpPr>
          <p:cNvPr id="48" name="Text 4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32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NEXT STEPS</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Decide in September</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Three decisions at the September 18 committee: M&amp;A mandate, pilot budget, executive sponsor. The decision's break-even is a 14% attach rate; the pilot measured 26%.</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Contact: Strategy team</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strategy@meridio.example</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Golden deck — demo</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2026-07-15T19:10:33Z</dcterms:created>
  <dcterms:modified xsi:type="dcterms:W3CDTF">2026-07-15T19:10:33Z</dcterms:modified>
</cp:coreProperties>
</file>